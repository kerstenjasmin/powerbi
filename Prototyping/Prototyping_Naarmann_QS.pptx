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1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2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3.xml" ContentType="application/vnd.openxmlformats-officedocument.themeOverr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4.xml" ContentType="application/vnd.openxmlformats-officedocument.themeOverr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5.xml" ContentType="application/vnd.openxmlformats-officedocument.themeOverr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6.xml" ContentType="application/vnd.openxmlformats-officedocument.themeOverr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heme/themeOverride7.xml" ContentType="application/vnd.openxmlformats-officedocument.themeOverr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theme/themeOverride8.xml" ContentType="application/vnd.openxmlformats-officedocument.themeOverrid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Ex1.xml" ContentType="application/vnd.ms-office.chartex+xml"/>
  <Override PartName="/ppt/charts/style23.xml" ContentType="application/vnd.ms-office.chartstyle+xml"/>
  <Override PartName="/ppt/charts/colors23.xml" ContentType="application/vnd.ms-office.chartcolorstyle+xml"/>
  <Override PartName="/ppt/charts/chart23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4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5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Ex2.xml" ContentType="application/vnd.ms-office.chartex+xml"/>
  <Override PartName="/ppt/charts/style27.xml" ContentType="application/vnd.ms-office.chartstyle+xml"/>
  <Override PartName="/ppt/charts/colors27.xml" ContentType="application/vnd.ms-office.chartcolorstyle+xml"/>
  <Override PartName="/ppt/charts/chart26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28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29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0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1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2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3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4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35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36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37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38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39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rts/chart40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41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charts/chart42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charts/chart43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charts/chart44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charts/chart45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charts/chart46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charts/chart47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charts/chart48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charts/chart49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charts/chart50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73" r:id="rId6"/>
    <p:sldMasterId id="2147483686" r:id="rId7"/>
  </p:sldMasterIdLst>
  <p:sldIdLst>
    <p:sldId id="257" r:id="rId8"/>
    <p:sldId id="2145705526" r:id="rId9"/>
    <p:sldId id="2145705705" r:id="rId10"/>
    <p:sldId id="2145705685" r:id="rId11"/>
    <p:sldId id="2145705682" r:id="rId12"/>
    <p:sldId id="2145705683" r:id="rId13"/>
    <p:sldId id="256" r:id="rId14"/>
    <p:sldId id="2145705684" r:id="rId15"/>
    <p:sldId id="2145705686" r:id="rId16"/>
    <p:sldId id="2145705573" r:id="rId17"/>
    <p:sldId id="2145705681" r:id="rId18"/>
    <p:sldId id="2145705653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totyping Workbook" id="{A4AAB952-9D61-47A1-8778-F3B801D5C52F}">
          <p14:sldIdLst>
            <p14:sldId id="257"/>
          </p14:sldIdLst>
        </p14:section>
        <p14:section name="Fragebogen" id="{2173FE98-8485-405E-95FA-E69D6B69EFA7}">
          <p14:sldIdLst>
            <p14:sldId id="2145705526"/>
          </p14:sldIdLst>
        </p14:section>
        <p14:section name="Dashboard" id="{34E5E6BC-3530-47CC-8086-EF6219F67B48}">
          <p14:sldIdLst>
            <p14:sldId id="2145705705"/>
            <p14:sldId id="2145705685"/>
          </p14:sldIdLst>
        </p14:section>
        <p14:section name="Diagramme" id="{E87279D7-2FFF-481F-AE63-9E6E76FBF5D9}">
          <p14:sldIdLst>
            <p14:sldId id="2145705682"/>
          </p14:sldIdLst>
        </p14:section>
        <p14:section name="Kacheln" id="{3F546CD1-62F1-402A-9C3F-781ABEFEB97C}">
          <p14:sldIdLst>
            <p14:sldId id="2145705683"/>
          </p14:sldIdLst>
        </p14:section>
        <p14:section name="Icons Microcharts Titel Navigation" id="{242BDDE5-FE63-44E5-A0CF-3F3B2F6DFF25}">
          <p14:sldIdLst>
            <p14:sldId id="256"/>
          </p14:sldIdLst>
        </p14:section>
        <p14:section name="Analyticsdiagramme" id="{74E52520-586D-45F3-A368-2C4BBC0C2FA6}">
          <p14:sldIdLst>
            <p14:sldId id="2145705684"/>
            <p14:sldId id="2145705686"/>
          </p14:sldIdLst>
        </p14:section>
        <p14:section name="Hilfen" id="{F1DCE3B7-B838-43CF-BF09-78A438A45E8B}">
          <p14:sldIdLst>
            <p14:sldId id="2145705573"/>
            <p14:sldId id="2145705681"/>
            <p14:sldId id="214570565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D7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16.xml"/><Relationship Id="rId1" Type="http://schemas.microsoft.com/office/2011/relationships/chartStyle" Target="style16.xml"/><Relationship Id="rId4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17.xml"/><Relationship Id="rId1" Type="http://schemas.microsoft.com/office/2011/relationships/chartStyle" Target="style17.xml"/><Relationship Id="rId4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2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3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4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5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6.xlsx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7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8.xlsx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9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0.xlsx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1.xlsx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2.xlsx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3.xlsx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4.xlsx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5.xlsx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6.xlsx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7.xlsx"/><Relationship Id="rId2" Type="http://schemas.microsoft.com/office/2011/relationships/chartColorStyle" Target="colors48.xml"/><Relationship Id="rId1" Type="http://schemas.microsoft.com/office/2011/relationships/chartStyle" Target="style48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8.xlsx"/><Relationship Id="rId2" Type="http://schemas.microsoft.com/office/2011/relationships/chartColorStyle" Target="colors49.xml"/><Relationship Id="rId1" Type="http://schemas.microsoft.com/office/2011/relationships/chartStyle" Target="style49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9.xlsx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0.xlsx"/><Relationship Id="rId2" Type="http://schemas.microsoft.com/office/2011/relationships/chartColorStyle" Target="colors51.xml"/><Relationship Id="rId1" Type="http://schemas.microsoft.com/office/2011/relationships/chartStyle" Target="style51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1.xlsx"/><Relationship Id="rId2" Type="http://schemas.microsoft.com/office/2011/relationships/chartColorStyle" Target="colors52.xml"/><Relationship Id="rId1" Type="http://schemas.microsoft.com/office/2011/relationships/chartStyle" Target="style52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3.xml"/><Relationship Id="rId2" Type="http://schemas.microsoft.com/office/2011/relationships/chartStyle" Target="style23.xml"/><Relationship Id="rId1" Type="http://schemas.openxmlformats.org/officeDocument/2006/relationships/package" Target="../embeddings/Microsoft_Excel_Worksheet22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7.xml"/><Relationship Id="rId2" Type="http://schemas.microsoft.com/office/2011/relationships/chartStyle" Target="style27.xml"/><Relationship Id="rId1" Type="http://schemas.openxmlformats.org/officeDocument/2006/relationships/package" Target="../embeddings/Microsoft_Excel_Worksheet2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Inland</c:v>
                </c:pt>
              </c:strCache>
            </c:strRef>
          </c:tx>
          <c:spPr>
            <a:solidFill>
              <a:srgbClr val="717A9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17A9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FF9-412F-9EFD-A015CAE42786}"/>
              </c:ext>
            </c:extLst>
          </c:dPt>
          <c:dPt>
            <c:idx val="1"/>
            <c:invertIfNegative val="0"/>
            <c:bubble3D val="0"/>
            <c:spPr>
              <a:solidFill>
                <a:srgbClr val="717A9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FF9-412F-9EFD-A015CAE42786}"/>
              </c:ext>
            </c:extLst>
          </c:dPt>
          <c:dPt>
            <c:idx val="2"/>
            <c:invertIfNegative val="0"/>
            <c:bubble3D val="0"/>
            <c:spPr>
              <a:solidFill>
                <a:srgbClr val="717A9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FF9-412F-9EFD-A015CAE42786}"/>
              </c:ext>
            </c:extLst>
          </c:dPt>
          <c:dPt>
            <c:idx val="3"/>
            <c:invertIfNegative val="0"/>
            <c:bubble3D val="0"/>
            <c:spPr>
              <a:solidFill>
                <a:srgbClr val="717A9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FF9-412F-9EFD-A015CAE42786}"/>
              </c:ext>
            </c:extLst>
          </c:dPt>
          <c:cat>
            <c:strRef>
              <c:f>Tabelle1!$A$2:$A$6</c:f>
              <c:strCache>
                <c:ptCount val="5"/>
                <c:pt idx="0">
                  <c:v>Produkt 1</c:v>
                </c:pt>
                <c:pt idx="1">
                  <c:v>Produkt 2</c:v>
                </c:pt>
                <c:pt idx="2">
                  <c:v>Produkt 3</c:v>
                </c:pt>
                <c:pt idx="3">
                  <c:v>Produkt 4</c:v>
                </c:pt>
                <c:pt idx="4">
                  <c:v>Produkt 5</c:v>
                </c:pt>
              </c:strCache>
            </c:str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FF9-412F-9EFD-A015CAE427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751106368"/>
        <c:axId val="751107024"/>
      </c:barChart>
      <c:catAx>
        <c:axId val="75110636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717A90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Mär</c:v>
                </c:pt>
                <c:pt idx="3">
                  <c:v>Apr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4.5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9B-4BAC-B833-59FE08D037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751106368"/>
        <c:axId val="751107024"/>
      </c:barChart>
      <c:catAx>
        <c:axId val="751106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  <c:max val="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ln w="38100" cap="rnd" cmpd="sng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E14-42A2-B625-81E21900BC90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E14-42A2-B625-81E21900BC90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E14-42A2-B625-81E21900BC90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E14-42A2-B625-81E21900BC9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E14-42A2-B625-81E21900BC90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E14-42A2-B625-81E21900BC90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E14-42A2-B625-81E21900BC90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E14-42A2-B625-81E21900BC9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E14-42A2-B625-81E21900BC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ln>
                      <a:noFill/>
                    </a:ln>
                    <a:solidFill>
                      <a:schemeClr val="tx1"/>
                    </a:solidFill>
                    <a:latin typeface="Montserrat Light" panose="00000400000000000000" pitchFamily="2" charset="0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Tabelle1!$A$2:$A$13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Tabelle1!$B$2:$B$13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4.5</c:v>
                </c:pt>
                <c:pt idx="4">
                  <c:v>3</c:v>
                </c:pt>
                <c:pt idx="5">
                  <c:v>2</c:v>
                </c:pt>
                <c:pt idx="6">
                  <c:v>4</c:v>
                </c:pt>
                <c:pt idx="7">
                  <c:v>2</c:v>
                </c:pt>
                <c:pt idx="8">
                  <c:v>1</c:v>
                </c:pt>
                <c:pt idx="9">
                  <c:v>4</c:v>
                </c:pt>
                <c:pt idx="10">
                  <c:v>3</c:v>
                </c:pt>
                <c:pt idx="1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14-42A2-B625-81E21900BC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60903055"/>
        <c:axId val="114656847"/>
      </c:lineChart>
      <c:catAx>
        <c:axId val="3609030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4656847"/>
        <c:crosses val="autoZero"/>
        <c:auto val="1"/>
        <c:lblAlgn val="ctr"/>
        <c:lblOffset val="100"/>
        <c:noMultiLvlLbl val="0"/>
      </c:catAx>
      <c:valAx>
        <c:axId val="114656847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60903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noFill/>
          </a:ln>
          <a:noFill/>
        </a:defRPr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5CF-40ED-B21E-1D1897E0938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5CF-40ED-B21E-1D1897E0938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5CF-40ED-B21E-1D1897E0938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0.5</c:v>
                </c:pt>
                <c:pt idx="1">
                  <c:v>-0.2</c:v>
                </c:pt>
                <c:pt idx="2">
                  <c:v>1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5CF-40ED-B21E-1D1897E093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2058444735"/>
        <c:axId val="1842355711"/>
      </c:barChart>
      <c:catAx>
        <c:axId val="205844473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42355711"/>
        <c:crosses val="autoZero"/>
        <c:auto val="1"/>
        <c:lblAlgn val="ctr"/>
        <c:lblOffset val="100"/>
        <c:noMultiLvlLbl val="0"/>
      </c:catAx>
      <c:valAx>
        <c:axId val="1842355711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584447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717A90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842048448071362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4A14-461E-9784-6A119FA43D3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4366033110408009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4A14-461E-9784-6A119FA43D3C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3150884485360982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A14-461E-9784-6A119FA43D3C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9226627610596118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A14-461E-9784-6A119FA43D3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t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A14-461E-9784-6A119FA43D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751106368"/>
        <c:axId val="751107024"/>
      </c:barChart>
      <c:catAx>
        <c:axId val="751106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Inland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03B-4267-8F0B-2BC10B4934F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03B-4267-8F0B-2BC10B4934F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03B-4267-8F0B-2BC10B4934F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03B-4267-8F0B-2BC10B4934F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Stühle</c:v>
                </c:pt>
                <c:pt idx="1">
                  <c:v>Küche</c:v>
                </c:pt>
                <c:pt idx="2">
                  <c:v>Bett</c:v>
                </c:pt>
                <c:pt idx="3">
                  <c:v>Tische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100</c:v>
                </c:pt>
                <c:pt idx="1">
                  <c:v>128</c:v>
                </c:pt>
                <c:pt idx="2">
                  <c:v>150</c:v>
                </c:pt>
                <c:pt idx="3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03B-4267-8F0B-2BC10B4934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751106368"/>
        <c:axId val="751107024"/>
      </c:barChart>
      <c:catAx>
        <c:axId val="75110636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270-41FE-A809-E884CF5BA0F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B53-4DD2-9238-B4810E59E2E8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270-41FE-A809-E884CF5BA0F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270-41FE-A809-E884CF5BA0F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50</c:v>
                </c:pt>
                <c:pt idx="1">
                  <c:v>-20</c:v>
                </c:pt>
                <c:pt idx="2">
                  <c:v>10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270-41FE-A809-E884CF5BA0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2058444735"/>
        <c:axId val="1842355711"/>
      </c:barChart>
      <c:catAx>
        <c:axId val="205844473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42355711"/>
        <c:crosses val="autoZero"/>
        <c:auto val="1"/>
        <c:lblAlgn val="ctr"/>
        <c:lblOffset val="100"/>
        <c:noMultiLvlLbl val="0"/>
      </c:catAx>
      <c:valAx>
        <c:axId val="1842355711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584447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270-41FE-A809-E884CF5BA0F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C1F9-4A27-892B-445DE0E0EAE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270-41FE-A809-E884CF5BA0F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270-41FE-A809-E884CF5BA0F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50</c:v>
                </c:pt>
                <c:pt idx="1">
                  <c:v>-20</c:v>
                </c:pt>
                <c:pt idx="2">
                  <c:v>10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270-41FE-A809-E884CF5BA0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2058444735"/>
        <c:axId val="1842355711"/>
      </c:barChart>
      <c:catAx>
        <c:axId val="205844473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42355711"/>
        <c:crosses val="autoZero"/>
        <c:auto val="1"/>
        <c:lblAlgn val="ctr"/>
        <c:lblOffset val="100"/>
        <c:noMultiLvlLbl val="0"/>
      </c:catAx>
      <c:valAx>
        <c:axId val="1842355711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584447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Inland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03B-4267-8F0B-2BC10B4934F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03B-4267-8F0B-2BC10B4934F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03B-4267-8F0B-2BC10B4934F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03B-4267-8F0B-2BC10B4934F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Tabelle1!$A$2:$A$8</c:f>
              <c:strCache>
                <c:ptCount val="7"/>
                <c:pt idx="0">
                  <c:v>Stühle</c:v>
                </c:pt>
                <c:pt idx="1">
                  <c:v>Küche</c:v>
                </c:pt>
                <c:pt idx="2">
                  <c:v>Bett</c:v>
                </c:pt>
                <c:pt idx="3">
                  <c:v>Tische</c:v>
                </c:pt>
                <c:pt idx="4">
                  <c:v>Pflanzen</c:v>
                </c:pt>
                <c:pt idx="5">
                  <c:v>Polster</c:v>
                </c:pt>
                <c:pt idx="6">
                  <c:v>Matratzen</c:v>
                </c:pt>
              </c:strCache>
            </c:strRef>
          </c:cat>
          <c:val>
            <c:numRef>
              <c:f>Tabelle1!$B$2:$B$8</c:f>
              <c:numCache>
                <c:formatCode>General</c:formatCode>
                <c:ptCount val="7"/>
                <c:pt idx="0">
                  <c:v>100</c:v>
                </c:pt>
                <c:pt idx="1">
                  <c:v>128</c:v>
                </c:pt>
                <c:pt idx="2">
                  <c:v>150</c:v>
                </c:pt>
                <c:pt idx="3">
                  <c:v>87</c:v>
                </c:pt>
                <c:pt idx="4">
                  <c:v>212</c:v>
                </c:pt>
                <c:pt idx="5">
                  <c:v>165</c:v>
                </c:pt>
                <c:pt idx="6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03B-4267-8F0B-2BC10B4934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751106368"/>
        <c:axId val="751107024"/>
      </c:barChart>
      <c:catAx>
        <c:axId val="75110636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270-41FE-A809-E884CF5BA0F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F65C-47CB-8106-D76846D10C4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270-41FE-A809-E884CF5BA0F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270-41FE-A809-E884CF5BA0F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65C-47CB-8106-D76846D10C46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270-41FE-A809-E884CF5BA0FA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F65C-47CB-8106-D76846D10C4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Tabelle1!$A$2:$A$8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Tabelle1!$B$2:$B$8</c:f>
              <c:numCache>
                <c:formatCode>General</c:formatCode>
                <c:ptCount val="7"/>
                <c:pt idx="0">
                  <c:v>50</c:v>
                </c:pt>
                <c:pt idx="1">
                  <c:v>-20</c:v>
                </c:pt>
                <c:pt idx="2">
                  <c:v>10</c:v>
                </c:pt>
                <c:pt idx="3">
                  <c:v>20</c:v>
                </c:pt>
                <c:pt idx="4">
                  <c:v>-40</c:v>
                </c:pt>
                <c:pt idx="5">
                  <c:v>60</c:v>
                </c:pt>
                <c:pt idx="6">
                  <c:v>-45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270-41FE-A809-E884CF5BA0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2058444735"/>
        <c:axId val="1842355711"/>
      </c:barChart>
      <c:catAx>
        <c:axId val="205844473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42355711"/>
        <c:crosses val="autoZero"/>
        <c:auto val="1"/>
        <c:lblAlgn val="ctr"/>
        <c:lblOffset val="100"/>
        <c:noMultiLvlLbl val="0"/>
      </c:catAx>
      <c:valAx>
        <c:axId val="1842355711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584447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270-41FE-A809-E884CF5BA0F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D928-4F66-9919-4425311B308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270-41FE-A809-E884CF5BA0F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270-41FE-A809-E884CF5BA0F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928-4F66-9919-4425311B3081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270-41FE-A809-E884CF5BA0FA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D928-4F66-9919-4425311B308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Tabelle1!$A$2:$A$8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Tabelle1!$B$2:$B$8</c:f>
              <c:numCache>
                <c:formatCode>General</c:formatCode>
                <c:ptCount val="7"/>
                <c:pt idx="0">
                  <c:v>50</c:v>
                </c:pt>
                <c:pt idx="1">
                  <c:v>-20</c:v>
                </c:pt>
                <c:pt idx="2">
                  <c:v>10</c:v>
                </c:pt>
                <c:pt idx="3">
                  <c:v>20</c:v>
                </c:pt>
                <c:pt idx="4">
                  <c:v>-40</c:v>
                </c:pt>
                <c:pt idx="5">
                  <c:v>60</c:v>
                </c:pt>
                <c:pt idx="6">
                  <c:v>-45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270-41FE-A809-E884CF5BA0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2058444735"/>
        <c:axId val="1842355711"/>
      </c:barChart>
      <c:catAx>
        <c:axId val="205844473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42355711"/>
        <c:crosses val="autoZero"/>
        <c:auto val="1"/>
        <c:lblAlgn val="ctr"/>
        <c:lblOffset val="100"/>
        <c:noMultiLvlLbl val="0"/>
      </c:catAx>
      <c:valAx>
        <c:axId val="1842355711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584447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717A90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842048448071362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4A14-461E-9784-6A119FA43D3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4366033110408009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4A14-461E-9784-6A119FA43D3C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3150884485360982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A14-461E-9784-6A119FA43D3C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9226627610596118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A14-461E-9784-6A119FA43D3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t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Mär</c:v>
                </c:pt>
                <c:pt idx="3">
                  <c:v>Apr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Okt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Tabelle1!$B$2:$B$13</c:f>
              <c:numCache>
                <c:formatCode>General</c:formatCode>
                <c:ptCount val="12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3</c:v>
                </c:pt>
                <c:pt idx="6">
                  <c:v>4</c:v>
                </c:pt>
                <c:pt idx="7">
                  <c:v>5</c:v>
                </c:pt>
                <c:pt idx="8">
                  <c:v>3</c:v>
                </c:pt>
                <c:pt idx="9">
                  <c:v>4</c:v>
                </c:pt>
                <c:pt idx="10">
                  <c:v>5</c:v>
                </c:pt>
                <c:pt idx="1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A14-461E-9784-6A119FA43D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751106368"/>
        <c:axId val="751107024"/>
      </c:barChart>
      <c:catAx>
        <c:axId val="751106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5CF-40ED-B21E-1D1897E0938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5CF-40ED-B21E-1D1897E0938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5CF-40ED-B21E-1D1897E0938F}"/>
              </c:ext>
            </c:extLst>
          </c:dPt>
          <c:dPt>
            <c:idx val="5"/>
            <c:invertIfNegative val="0"/>
            <c:bubble3D val="0"/>
            <c:spPr>
              <a:solidFill>
                <a:srgbClr val="1CD78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32A7-4516-BA22-4D26A00650F4}"/>
              </c:ext>
            </c:extLst>
          </c:dPt>
          <c:dPt>
            <c:idx val="7"/>
            <c:invertIfNegative val="0"/>
            <c:bubble3D val="0"/>
            <c:spPr>
              <a:solidFill>
                <a:srgbClr val="1CD78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2A7-4516-BA22-4D26A00650F4}"/>
              </c:ext>
            </c:extLst>
          </c:dPt>
          <c:dPt>
            <c:idx val="8"/>
            <c:invertIfNegative val="0"/>
            <c:bubble3D val="0"/>
            <c:spPr>
              <a:solidFill>
                <a:srgbClr val="1CD78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32A7-4516-BA22-4D26A00650F4}"/>
              </c:ext>
            </c:extLst>
          </c:dPt>
          <c:dPt>
            <c:idx val="10"/>
            <c:invertIfNegative val="0"/>
            <c:bubble3D val="0"/>
            <c:spPr>
              <a:solidFill>
                <a:srgbClr val="1CD78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2A7-4516-BA22-4D26A00650F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Tabelle1!$A$2:$A$13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Tabelle1!$B$2:$B$13</c:f>
              <c:numCache>
                <c:formatCode>General</c:formatCode>
                <c:ptCount val="12"/>
                <c:pt idx="0">
                  <c:v>0.5</c:v>
                </c:pt>
                <c:pt idx="1">
                  <c:v>-0.2</c:v>
                </c:pt>
                <c:pt idx="2">
                  <c:v>1</c:v>
                </c:pt>
                <c:pt idx="3">
                  <c:v>0.5</c:v>
                </c:pt>
                <c:pt idx="4">
                  <c:v>-0.4</c:v>
                </c:pt>
                <c:pt idx="5">
                  <c:v>0.8</c:v>
                </c:pt>
                <c:pt idx="6">
                  <c:v>-0.7</c:v>
                </c:pt>
                <c:pt idx="7">
                  <c:v>1</c:v>
                </c:pt>
                <c:pt idx="8">
                  <c:v>0.5</c:v>
                </c:pt>
                <c:pt idx="9">
                  <c:v>-0.2</c:v>
                </c:pt>
                <c:pt idx="10">
                  <c:v>1.2</c:v>
                </c:pt>
                <c:pt idx="11">
                  <c:v>-0.2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5CF-40ED-B21E-1D1897E093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2058444735"/>
        <c:axId val="1842355711"/>
      </c:barChart>
      <c:catAx>
        <c:axId val="205844473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42355711"/>
        <c:crosses val="autoZero"/>
        <c:auto val="1"/>
        <c:lblAlgn val="ctr"/>
        <c:lblOffset val="100"/>
        <c:noMultiLvlLbl val="0"/>
      </c:catAx>
      <c:valAx>
        <c:axId val="1842355711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584447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4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5CF-40ED-B21E-1D1897E0938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5CF-40ED-B21E-1D1897E0938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5CF-40ED-B21E-1D1897E0938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0.5</c:v>
                </c:pt>
                <c:pt idx="1">
                  <c:v>-0.2</c:v>
                </c:pt>
                <c:pt idx="2">
                  <c:v>1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5CF-40ED-B21E-1D1897E093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2058444735"/>
        <c:axId val="1842355711"/>
      </c:barChart>
      <c:catAx>
        <c:axId val="205844473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42355711"/>
        <c:crosses val="autoZero"/>
        <c:auto val="1"/>
        <c:lblAlgn val="ctr"/>
        <c:lblOffset val="100"/>
        <c:noMultiLvlLbl val="0"/>
      </c:catAx>
      <c:valAx>
        <c:axId val="1842355711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584447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4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ln w="38100" cap="rnd" cmpd="sng">
              <a:solidFill>
                <a:srgbClr val="37374F"/>
              </a:solidFill>
              <a:round/>
            </a:ln>
            <a:effectLst/>
          </c:spPr>
          <c:marker>
            <c:symbol val="none"/>
          </c:marker>
          <c:cat>
            <c:numRef>
              <c:f>Tabelle1!$A$2:$A$13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Tabelle1!$B$2:$B$13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4.5</c:v>
                </c:pt>
                <c:pt idx="4">
                  <c:v>3</c:v>
                </c:pt>
                <c:pt idx="5">
                  <c:v>2</c:v>
                </c:pt>
                <c:pt idx="6">
                  <c:v>4</c:v>
                </c:pt>
                <c:pt idx="7">
                  <c:v>2</c:v>
                </c:pt>
                <c:pt idx="8">
                  <c:v>1</c:v>
                </c:pt>
                <c:pt idx="9">
                  <c:v>4</c:v>
                </c:pt>
                <c:pt idx="10">
                  <c:v>3</c:v>
                </c:pt>
                <c:pt idx="1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4E-4787-9E4A-572F1C3095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60903055"/>
        <c:axId val="114656847"/>
      </c:lineChart>
      <c:catAx>
        <c:axId val="3609030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4656847"/>
        <c:crosses val="autoZero"/>
        <c:auto val="1"/>
        <c:lblAlgn val="ctr"/>
        <c:lblOffset val="100"/>
        <c:noMultiLvlLbl val="0"/>
      </c:catAx>
      <c:valAx>
        <c:axId val="114656847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60903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noFill/>
          </a:ln>
          <a:noFill/>
        </a:defRPr>
      </a:pPr>
      <a:endParaRPr lang="de-DE"/>
    </a:p>
  </c:txPr>
  <c:externalData r:id="rId4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717A90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Mär</c:v>
                </c:pt>
                <c:pt idx="3">
                  <c:v>Apr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4.5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9D-41C7-BFD7-E884CEF946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751106368"/>
        <c:axId val="751107024"/>
      </c:barChart>
      <c:catAx>
        <c:axId val="751106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  <c:max val="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4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CD78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05-4D2E-8642-169FE6E635DE}"/>
              </c:ext>
            </c:extLst>
          </c:dPt>
          <c:dPt>
            <c:idx val="1"/>
            <c:invertIfNegative val="0"/>
            <c:bubble3D val="0"/>
            <c:spPr>
              <a:solidFill>
                <a:srgbClr val="F6516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705-4D2E-8642-169FE6E635DE}"/>
              </c:ext>
            </c:extLst>
          </c:dPt>
          <c:dPt>
            <c:idx val="2"/>
            <c:invertIfNegative val="0"/>
            <c:bubble3D val="0"/>
            <c:spPr>
              <a:solidFill>
                <a:srgbClr val="1CD78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705-4D2E-8642-169FE6E635DE}"/>
              </c:ext>
            </c:extLst>
          </c:dPt>
          <c:dPt>
            <c:idx val="3"/>
            <c:invertIfNegative val="0"/>
            <c:bubble3D val="0"/>
            <c:spPr>
              <a:solidFill>
                <a:srgbClr val="F6516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705-4D2E-8642-169FE6E635DE}"/>
              </c:ext>
            </c:extLst>
          </c:dPt>
          <c:dPt>
            <c:idx val="5"/>
            <c:invertIfNegative val="0"/>
            <c:bubble3D val="0"/>
            <c:spPr>
              <a:solidFill>
                <a:srgbClr val="1CD78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6705-4D2E-8642-169FE6E635DE}"/>
              </c:ext>
            </c:extLst>
          </c:dPt>
          <c:cat>
            <c:strRef>
              <c:f>Tabelle1!$A$2:$A$7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Mär</c:v>
                </c:pt>
                <c:pt idx="3">
                  <c:v>Apr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1</c:v>
                </c:pt>
                <c:pt idx="1">
                  <c:v>-3</c:v>
                </c:pt>
                <c:pt idx="2">
                  <c:v>3</c:v>
                </c:pt>
                <c:pt idx="3">
                  <c:v>-2</c:v>
                </c:pt>
                <c:pt idx="4">
                  <c:v>-3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705-4D2E-8642-169FE6E635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751106368"/>
        <c:axId val="751107024"/>
      </c:barChart>
      <c:catAx>
        <c:axId val="751106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4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accent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BF6-41A5-94C5-84DCF8FD7EFF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BF6-41A5-94C5-84DCF8FD7EFF}"/>
              </c:ext>
            </c:extLst>
          </c:dPt>
          <c:cat>
            <c:strRef>
              <c:f>Tabelle1!$A$2:$A$3</c:f>
              <c:strCache>
                <c:ptCount val="2"/>
                <c:pt idx="0">
                  <c:v>Produkt A</c:v>
                </c:pt>
                <c:pt idx="1">
                  <c:v>Rest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78</c:v>
                </c:pt>
                <c:pt idx="1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F6-41A5-94C5-84DCF8FD7E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Mär</c:v>
                </c:pt>
                <c:pt idx="3">
                  <c:v>Apr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4.5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6F-4AE6-8B58-4343FCE0A1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751106368"/>
        <c:axId val="751107024"/>
      </c:barChart>
      <c:catAx>
        <c:axId val="751106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  <c:max val="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22399076860965"/>
          <c:y val="4.6069154293745161E-2"/>
          <c:w val="0.78955201846278067"/>
          <c:h val="0.9539308457062547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Inland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0AD-437A-8F50-FA1174E9501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0AD-437A-8F50-FA1174E9501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0AD-437A-8F50-FA1174E95013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0AD-437A-8F50-FA1174E95013}"/>
              </c:ext>
            </c:extLst>
          </c:dPt>
          <c:cat>
            <c:strRef>
              <c:f>Tabelle1!$A$2:$A$9</c:f>
              <c:strCache>
                <c:ptCount val="8"/>
                <c:pt idx="0">
                  <c:v>Produkt 1</c:v>
                </c:pt>
                <c:pt idx="1">
                  <c:v>Produkt 2</c:v>
                </c:pt>
                <c:pt idx="2">
                  <c:v>Produkt 3</c:v>
                </c:pt>
                <c:pt idx="3">
                  <c:v>Produkt 4</c:v>
                </c:pt>
                <c:pt idx="4">
                  <c:v>Produkt 5</c:v>
                </c:pt>
                <c:pt idx="5">
                  <c:v>Produkt 6</c:v>
                </c:pt>
                <c:pt idx="6">
                  <c:v>Produkt 7</c:v>
                </c:pt>
                <c:pt idx="7">
                  <c:v>Produkt 8</c:v>
                </c:pt>
              </c:strCache>
            </c:strRef>
          </c:cat>
          <c:val>
            <c:numRef>
              <c:f>Tabelle1!$B$2:$B$9</c:f>
              <c:numCache>
                <c:formatCode>General</c:formatCode>
                <c:ptCount val="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4.5</c:v>
                </c:pt>
                <c:pt idx="5">
                  <c:v>3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0AD-437A-8F50-FA1174E950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751106368"/>
        <c:axId val="751107024"/>
      </c:barChart>
      <c:catAx>
        <c:axId val="75110636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solidFill>
                <a:srgbClr val="717A9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BD-4A99-A796-2C14BB9A0E53}"/>
              </c:ext>
            </c:extLst>
          </c:dPt>
          <c:dPt>
            <c:idx val="1"/>
            <c:bubble3D val="0"/>
            <c:spPr>
              <a:solidFill>
                <a:srgbClr val="37374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BD-4A99-A796-2C14BB9A0E53}"/>
              </c:ext>
            </c:extLst>
          </c:dPt>
          <c:cat>
            <c:strRef>
              <c:f>Tabelle1!$A$2:$A$3</c:f>
              <c:strCache>
                <c:ptCount val="2"/>
                <c:pt idx="0">
                  <c:v>Produkt A</c:v>
                </c:pt>
                <c:pt idx="1">
                  <c:v>Rest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78</c:v>
                </c:pt>
                <c:pt idx="1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BD-4A99-A796-2C14BB9A0E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A7F-482D-A4C5-ABB85CA85F49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A7F-482D-A4C5-ABB85CA85F4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A7F-482D-A4C5-ABB85CA85F49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A7F-482D-A4C5-ABB85CA85F49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A7F-482D-A4C5-ABB85CA85F49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A7F-482D-A4C5-ABB85CA85F49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A7F-482D-A4C5-ABB85CA85F49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A7F-482D-A4C5-ABB85CA85F49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A7F-482D-A4C5-ABB85CA85F49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A7F-482D-A4C5-ABB85CA85F49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CA7F-482D-A4C5-ABB85CA85F49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CA7F-482D-A4C5-ABB85CA85F49}"/>
              </c:ext>
            </c:extLst>
          </c:dPt>
          <c:cat>
            <c:strRef>
              <c:f>Tabelle1!$A$2:$A$13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Mrz</c:v>
                </c:pt>
                <c:pt idx="3">
                  <c:v>Apr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Okt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Tabelle1!$B$2:$B$13</c:f>
              <c:numCache>
                <c:formatCode>General</c:formatCode>
                <c:ptCount val="12"/>
                <c:pt idx="0">
                  <c:v>-3</c:v>
                </c:pt>
                <c:pt idx="1">
                  <c:v>2</c:v>
                </c:pt>
                <c:pt idx="2">
                  <c:v>-2</c:v>
                </c:pt>
                <c:pt idx="3">
                  <c:v>2</c:v>
                </c:pt>
                <c:pt idx="4">
                  <c:v>-4</c:v>
                </c:pt>
                <c:pt idx="5">
                  <c:v>-1</c:v>
                </c:pt>
                <c:pt idx="6">
                  <c:v>3</c:v>
                </c:pt>
                <c:pt idx="7">
                  <c:v>1</c:v>
                </c:pt>
                <c:pt idx="8">
                  <c:v>1</c:v>
                </c:pt>
                <c:pt idx="9">
                  <c:v>-1</c:v>
                </c:pt>
                <c:pt idx="10">
                  <c:v>1</c:v>
                </c:pt>
                <c:pt idx="11">
                  <c:v>-1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CA7F-482D-A4C5-ABB85CA85F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6"/>
        <c:overlap val="-27"/>
        <c:axId val="689320264"/>
        <c:axId val="689326144"/>
        <c:extLst/>
      </c:barChart>
      <c:catAx>
        <c:axId val="689320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89326144"/>
        <c:crosses val="autoZero"/>
        <c:auto val="1"/>
        <c:lblAlgn val="ctr"/>
        <c:lblOffset val="100"/>
        <c:noMultiLvlLbl val="0"/>
      </c:catAx>
      <c:valAx>
        <c:axId val="689326144"/>
        <c:scaling>
          <c:orientation val="minMax"/>
          <c:max val="2"/>
          <c:min val="-2"/>
        </c:scaling>
        <c:delete val="1"/>
        <c:axPos val="l"/>
        <c:numFmt formatCode="General" sourceLinked="1"/>
        <c:majorTickMark val="none"/>
        <c:minorTickMark val="none"/>
        <c:tickLblPos val="nextTo"/>
        <c:crossAx val="6893202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Umsatz</c:v>
                </c:pt>
              </c:strCache>
            </c:strRef>
          </c:cat>
          <c:val>
            <c:numRef>
              <c:f>Tabelle1!$B$2</c:f>
              <c:numCache>
                <c:formatCode>General</c:formatCode>
                <c:ptCount val="1"/>
                <c:pt idx="0">
                  <c:v>450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63-46D6-994B-99F8BFA7B905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Mid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Umsatz</c:v>
                </c:pt>
              </c:strCache>
            </c:strRef>
          </c:cat>
          <c:val>
            <c:numRef>
              <c:f>Tabelle1!$C$2</c:f>
              <c:numCache>
                <c:formatCode>General</c:formatCode>
                <c:ptCount val="1"/>
                <c:pt idx="0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63-46D6-994B-99F8BFA7B905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Umsatz</c:v>
                </c:pt>
              </c:strCache>
            </c:strRef>
          </c:cat>
          <c:val>
            <c:numRef>
              <c:f>Tabelle1!$D$2</c:f>
              <c:numCache>
                <c:formatCode>General</c:formatCode>
                <c:ptCount val="1"/>
                <c:pt idx="0">
                  <c:v>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F63-46D6-994B-99F8BFA7B9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229709536"/>
        <c:axId val="229708552"/>
      </c:barChart>
      <c:scatterChart>
        <c:scatterStyle val="lineMarker"/>
        <c:varyColors val="0"/>
        <c:ser>
          <c:idx val="3"/>
          <c:order val="3"/>
          <c:tx>
            <c:strRef>
              <c:f>Tabelle1!$E$1</c:f>
              <c:strCache>
                <c:ptCount val="1"/>
                <c:pt idx="0">
                  <c:v>Actual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errBars>
            <c:errDir val="x"/>
            <c:errBarType val="minus"/>
            <c:errValType val="percentage"/>
            <c:noEndCap val="1"/>
            <c:val val="100"/>
            <c:spPr>
              <a:noFill/>
              <a:ln w="190500" cap="flat" cmpd="sng" algn="ctr">
                <a:solidFill>
                  <a:schemeClr val="accent2"/>
                </a:solidFill>
                <a:round/>
              </a:ln>
              <a:effectLst/>
            </c:spPr>
          </c:errBars>
          <c:xVal>
            <c:numRef>
              <c:f>Tabelle1!$E$2</c:f>
              <c:numCache>
                <c:formatCode>General</c:formatCode>
                <c:ptCount val="1"/>
                <c:pt idx="0">
                  <c:v>250</c:v>
                </c:pt>
              </c:numCache>
            </c:numRef>
          </c:xVal>
          <c:yVal>
            <c:numRef>
              <c:f>Tabelle1!$G$2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F63-46D6-994B-99F8BFA7B905}"/>
            </c:ext>
          </c:extLst>
        </c:ser>
        <c:ser>
          <c:idx val="4"/>
          <c:order val="4"/>
          <c:tx>
            <c:strRef>
              <c:f>Tabelle1!$F$1</c:f>
              <c:strCache>
                <c:ptCount val="1"/>
                <c:pt idx="0">
                  <c:v>Target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fixedVal"/>
            <c:noEndCap val="1"/>
            <c:val val="0.35000000000000003"/>
            <c:spPr>
              <a:noFill/>
              <a:ln w="25400" cap="flat" cmpd="sng" algn="ctr">
                <a:solidFill>
                  <a:schemeClr val="tx2"/>
                </a:solidFill>
                <a:round/>
              </a:ln>
              <a:effectLst/>
            </c:spPr>
          </c:errBars>
          <c:xVal>
            <c:numRef>
              <c:f>Tabelle1!$F$2</c:f>
              <c:numCache>
                <c:formatCode>General</c:formatCode>
                <c:ptCount val="1"/>
                <c:pt idx="0">
                  <c:v>230</c:v>
                </c:pt>
              </c:numCache>
            </c:numRef>
          </c:xVal>
          <c:yVal>
            <c:numRef>
              <c:f>Tabelle1!$G$2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9F63-46D6-994B-99F8BFA7B9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67490096"/>
        <c:axId val="867491408"/>
      </c:scatterChart>
      <c:catAx>
        <c:axId val="2297095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Montserrat Light" panose="00000400000000000000" pitchFamily="2" charset="0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229708552"/>
        <c:crosses val="autoZero"/>
        <c:auto val="1"/>
        <c:lblAlgn val="ctr"/>
        <c:lblOffset val="100"/>
        <c:noMultiLvlLbl val="0"/>
      </c:catAx>
      <c:valAx>
        <c:axId val="229708552"/>
        <c:scaling>
          <c:orientation val="minMax"/>
          <c:max val="30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Montserrat Light" panose="00000400000000000000" pitchFamily="2" charset="0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229709536"/>
        <c:crosses val="autoZero"/>
        <c:crossBetween val="between"/>
      </c:valAx>
      <c:valAx>
        <c:axId val="867491408"/>
        <c:scaling>
          <c:orientation val="minMax"/>
          <c:max val="1"/>
          <c:min val="0"/>
        </c:scaling>
        <c:delete val="1"/>
        <c:axPos val="r"/>
        <c:numFmt formatCode="General" sourceLinked="1"/>
        <c:majorTickMark val="out"/>
        <c:minorTickMark val="none"/>
        <c:tickLblPos val="nextTo"/>
        <c:crossAx val="867490096"/>
        <c:crosses val="max"/>
        <c:crossBetween val="midCat"/>
        <c:minorUnit val="0.5"/>
      </c:valAx>
      <c:valAx>
        <c:axId val="86749009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6749140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  <a:latin typeface="+mn-lt"/>
          <a:cs typeface="Arial" panose="020B0604020202020204" pitchFamily="34" charset="0"/>
        </a:defRPr>
      </a:pPr>
      <a:endParaRPr lang="de-DE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5567871705124519E-2"/>
          <c:y val="3.993759626665247E-2"/>
          <c:w val="0.89307268165352838"/>
          <c:h val="0.8767158052636439"/>
        </c:manualLayout>
      </c:layout>
      <c:bubbleChart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Stück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xVal>
            <c:numRef>
              <c:f>Tabelle1!$A$2:$A$7</c:f>
              <c:numCache>
                <c:formatCode>General</c:formatCode>
                <c:ptCount val="6"/>
                <c:pt idx="0">
                  <c:v>-10483</c:v>
                </c:pt>
                <c:pt idx="1">
                  <c:v>-10876</c:v>
                </c:pt>
                <c:pt idx="2">
                  <c:v>13181</c:v>
                </c:pt>
                <c:pt idx="3">
                  <c:v>-14713</c:v>
                </c:pt>
                <c:pt idx="4">
                  <c:v>2581</c:v>
                </c:pt>
                <c:pt idx="5">
                  <c:v>10176</c:v>
                </c:pt>
              </c:numCache>
            </c:numRef>
          </c:xVal>
          <c:yVal>
            <c:numRef>
              <c:f>Tabelle1!$B$2:$B$7</c:f>
              <c:numCache>
                <c:formatCode>General</c:formatCode>
                <c:ptCount val="6"/>
                <c:pt idx="0">
                  <c:v>564</c:v>
                </c:pt>
                <c:pt idx="1">
                  <c:v>86</c:v>
                </c:pt>
                <c:pt idx="2">
                  <c:v>123</c:v>
                </c:pt>
                <c:pt idx="3">
                  <c:v>560</c:v>
                </c:pt>
                <c:pt idx="4">
                  <c:v>678</c:v>
                </c:pt>
                <c:pt idx="5">
                  <c:v>879</c:v>
                </c:pt>
              </c:numCache>
            </c:numRef>
          </c:yVal>
          <c:bubbleSize>
            <c:numRef>
              <c:f>Tabelle1!$C$2:$C$7</c:f>
              <c:numCache>
                <c:formatCode>General</c:formatCode>
                <c:ptCount val="6"/>
                <c:pt idx="0">
                  <c:v>4443</c:v>
                </c:pt>
                <c:pt idx="1">
                  <c:v>7654</c:v>
                </c:pt>
                <c:pt idx="2">
                  <c:v>980</c:v>
                </c:pt>
                <c:pt idx="3">
                  <c:v>6543</c:v>
                </c:pt>
                <c:pt idx="4">
                  <c:v>7654</c:v>
                </c:pt>
                <c:pt idx="5">
                  <c:v>5678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C9D9-440E-A185-7D0826CF8F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330544847"/>
        <c:axId val="330522799"/>
      </c:bubbleChart>
      <c:valAx>
        <c:axId val="330544847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Montserrat Light" panose="00000400000000000000" pitchFamily="2" charset="0"/>
                    <a:ea typeface="+mn-ea"/>
                    <a:cs typeface="+mn-cs"/>
                  </a:defRPr>
                </a:pPr>
                <a:r>
                  <a:rPr lang="de-DE">
                    <a:latin typeface="Montserrat Light" panose="00000400000000000000" pitchFamily="2" charset="0"/>
                  </a:rPr>
                  <a:t>Profit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Montserrat Light" panose="00000400000000000000" pitchFamily="2" charset="0"/>
                  <a:ea typeface="+mn-ea"/>
                  <a:cs typeface="+mn-cs"/>
                </a:defRPr>
              </a:pPr>
              <a:endParaRPr lang="de-DE"/>
            </a:p>
          </c:txPr>
        </c:title>
        <c:numFmt formatCode="#,##0" sourceLinked="0"/>
        <c:majorTickMark val="none"/>
        <c:minorTickMark val="none"/>
        <c:tickLblPos val="low"/>
        <c:crossAx val="330522799"/>
        <c:crosses val="autoZero"/>
        <c:crossBetween val="midCat"/>
        <c:majorUnit val="20000"/>
      </c:valAx>
      <c:valAx>
        <c:axId val="330522799"/>
        <c:scaling>
          <c:orientation val="minMax"/>
          <c:min val="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Montserrat Light" panose="00000400000000000000" pitchFamily="2" charset="0"/>
                    <a:ea typeface="+mn-ea"/>
                    <a:cs typeface="+mn-cs"/>
                  </a:defRPr>
                </a:pPr>
                <a:r>
                  <a:rPr lang="de-DE">
                    <a:latin typeface="Montserrat Light" panose="00000400000000000000" pitchFamily="2" charset="0"/>
                  </a:rPr>
                  <a:t>Anzahl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Montserrat Light" panose="00000400000000000000" pitchFamily="2" charset="0"/>
                  <a:ea typeface="+mn-ea"/>
                  <a:cs typeface="+mn-cs"/>
                </a:defRPr>
              </a:pPr>
              <a:endParaRPr lang="de-DE"/>
            </a:p>
          </c:txPr>
        </c:title>
        <c:numFmt formatCode="#,##0" sourceLinked="0"/>
        <c:majorTickMark val="none"/>
        <c:minorTickMark val="none"/>
        <c:tickLblPos val="nextTo"/>
        <c:crossAx val="330544847"/>
        <c:crosses val="autoZero"/>
        <c:crossBetween val="midCat"/>
        <c:majorUnit val="25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de-DE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0472650634378127E-3"/>
          <c:y val="6.7087726195715373E-3"/>
          <c:w val="0.99385820480968656"/>
          <c:h val="0.92632070498171726"/>
        </c:manualLayout>
      </c:layout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1121-4E43-A28A-66398396EA06}"/>
              </c:ext>
            </c:extLst>
          </c:dPt>
          <c:cat>
            <c:numRef>
              <c:f>Tabelle1!$A$2:$A$3</c:f>
              <c:numCache>
                <c:formatCode>General</c:formatCode>
                <c:ptCount val="2"/>
                <c:pt idx="0">
                  <c:v>2022</c:v>
                </c:pt>
                <c:pt idx="1">
                  <c:v>2023</c:v>
                </c:pt>
              </c:numCache>
            </c:num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4</c:v>
                </c:pt>
                <c:pt idx="1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21-4E43-A28A-66398396EA06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Montserrat Light" panose="00000400000000000000" pitchFamily="2" charset="0"/>
                    <a:ea typeface="+mn-ea"/>
                    <a:cs typeface="Arial" panose="020B0604020202020204" pitchFamily="34" charset="0"/>
                  </a:defRPr>
                </a:pPr>
                <a:endParaRPr lang="de-DE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Tabelle1!$A$2:$A$3</c:f>
              <c:numCache>
                <c:formatCode>General</c:formatCode>
                <c:ptCount val="2"/>
                <c:pt idx="0">
                  <c:v>2022</c:v>
                </c:pt>
                <c:pt idx="1">
                  <c:v>2023</c:v>
                </c:pt>
              </c:numCache>
            </c:numRef>
          </c:cat>
          <c:val>
            <c:numRef>
              <c:f>Tabelle1!$C$2:$C$3</c:f>
              <c:numCache>
                <c:formatCode>General</c:formatCode>
                <c:ptCount val="2"/>
                <c:pt idx="0">
                  <c:v>5</c:v>
                </c:pt>
                <c:pt idx="1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121-4E43-A28A-66398396EA06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Pt>
            <c:idx val="1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CE13-4865-83F9-8EB399AA1291}"/>
              </c:ext>
            </c:extLst>
          </c:dPt>
          <c:cat>
            <c:numRef>
              <c:f>Tabelle1!$A$2:$A$3</c:f>
              <c:numCache>
                <c:formatCode>General</c:formatCode>
                <c:ptCount val="2"/>
                <c:pt idx="0">
                  <c:v>2022</c:v>
                </c:pt>
                <c:pt idx="1">
                  <c:v>2023</c:v>
                </c:pt>
              </c:numCache>
            </c:numRef>
          </c:cat>
          <c:val>
            <c:numRef>
              <c:f>Tabelle1!$D$2:$D$3</c:f>
              <c:numCache>
                <c:formatCode>General</c:formatCode>
                <c:ptCount val="2"/>
                <c:pt idx="0">
                  <c:v>3</c:v>
                </c:pt>
                <c:pt idx="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121-4E43-A28A-66398396EA06}"/>
            </c:ext>
          </c:extLst>
        </c:ser>
        <c:ser>
          <c:idx val="3"/>
          <c:order val="3"/>
          <c:tx>
            <c:strRef>
              <c:f>Tabelle1!$E$1</c:f>
              <c:strCache>
                <c:ptCount val="1"/>
                <c:pt idx="0">
                  <c:v>Datenreihe 4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Tabelle1!$A$2:$A$3</c:f>
              <c:numCache>
                <c:formatCode>General</c:formatCode>
                <c:ptCount val="2"/>
                <c:pt idx="0">
                  <c:v>2022</c:v>
                </c:pt>
                <c:pt idx="1">
                  <c:v>2023</c:v>
                </c:pt>
              </c:numCache>
            </c:numRef>
          </c:cat>
          <c:val>
            <c:numRef>
              <c:f>Tabelle1!$E$2:$E$3</c:f>
              <c:numCache>
                <c:formatCode>General</c:formatCode>
                <c:ptCount val="2"/>
                <c:pt idx="0">
                  <c:v>3</c:v>
                </c:pt>
                <c:pt idx="1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121-4E43-A28A-66398396EA06}"/>
            </c:ext>
          </c:extLst>
        </c:ser>
        <c:ser>
          <c:idx val="4"/>
          <c:order val="4"/>
          <c:tx>
            <c:strRef>
              <c:f>Tabelle1!$F$1</c:f>
              <c:strCache>
                <c:ptCount val="1"/>
                <c:pt idx="0">
                  <c:v>Datenreihe 5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Montserrat Light" panose="00000400000000000000" pitchFamily="2" charset="0"/>
                    <a:ea typeface="+mn-ea"/>
                    <a:cs typeface="Arial" panose="020B0604020202020204" pitchFamily="34" charset="0"/>
                  </a:defRPr>
                </a:pPr>
                <a:endParaRPr lang="de-DE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Tabelle1!$A$2:$A$3</c:f>
              <c:numCache>
                <c:formatCode>General</c:formatCode>
                <c:ptCount val="2"/>
                <c:pt idx="0">
                  <c:v>2022</c:v>
                </c:pt>
                <c:pt idx="1">
                  <c:v>2023</c:v>
                </c:pt>
              </c:numCache>
            </c:numRef>
          </c:cat>
          <c:val>
            <c:numRef>
              <c:f>Tabelle1!$F$2:$F$3</c:f>
              <c:numCache>
                <c:formatCode>General</c:formatCode>
                <c:ptCount val="2"/>
                <c:pt idx="0">
                  <c:v>3</c:v>
                </c:pt>
                <c:pt idx="1">
                  <c:v>4.0999999999999996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121-4E43-A28A-66398396EA06}"/>
            </c:ext>
          </c:extLst>
        </c:ser>
        <c:ser>
          <c:idx val="5"/>
          <c:order val="5"/>
          <c:tx>
            <c:strRef>
              <c:f>Tabelle1!$G$1</c:f>
              <c:strCache>
                <c:ptCount val="1"/>
                <c:pt idx="0">
                  <c:v>Datenreihe 6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Tabelle1!$A$2:$A$3</c:f>
              <c:numCache>
                <c:formatCode>General</c:formatCode>
                <c:ptCount val="2"/>
                <c:pt idx="0">
                  <c:v>2022</c:v>
                </c:pt>
                <c:pt idx="1">
                  <c:v>2023</c:v>
                </c:pt>
              </c:numCache>
            </c:numRef>
          </c:cat>
          <c:val>
            <c:numRef>
              <c:f>Tabelle1!$G$2:$G$3</c:f>
              <c:numCache>
                <c:formatCode>General</c:formatCode>
                <c:ptCount val="2"/>
                <c:pt idx="0">
                  <c:v>5</c:v>
                </c:pt>
                <c:pt idx="1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121-4E43-A28A-66398396EA06}"/>
            </c:ext>
          </c:extLst>
        </c:ser>
        <c:ser>
          <c:idx val="6"/>
          <c:order val="6"/>
          <c:tx>
            <c:strRef>
              <c:f>Tabelle1!$H$1</c:f>
              <c:strCache>
                <c:ptCount val="1"/>
                <c:pt idx="0">
                  <c:v>Datenreihe 7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Tabelle1!$A$2:$A$3</c:f>
              <c:numCache>
                <c:formatCode>General</c:formatCode>
                <c:ptCount val="2"/>
                <c:pt idx="0">
                  <c:v>2022</c:v>
                </c:pt>
                <c:pt idx="1">
                  <c:v>2023</c:v>
                </c:pt>
              </c:numCache>
            </c:numRef>
          </c:cat>
          <c:val>
            <c:numRef>
              <c:f>Tabelle1!$H$2:$H$3</c:f>
              <c:numCache>
                <c:formatCode>General</c:formatCode>
                <c:ptCount val="2"/>
                <c:pt idx="0">
                  <c:v>1</c:v>
                </c:pt>
                <c:pt idx="1">
                  <c:v>2.2999999999999998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121-4E43-A28A-66398396EA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3219480"/>
        <c:axId val="223220792"/>
      </c:lineChart>
      <c:catAx>
        <c:axId val="2232194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Montserrat Light" panose="00000400000000000000" pitchFamily="2" charset="0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223220792"/>
        <c:crosses val="autoZero"/>
        <c:auto val="1"/>
        <c:lblAlgn val="ctr"/>
        <c:lblOffset val="100"/>
        <c:noMultiLvlLbl val="0"/>
      </c:catAx>
      <c:valAx>
        <c:axId val="22322079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23219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de-DE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5567871705124519E-2"/>
          <c:y val="3.993759626665247E-2"/>
          <c:w val="0.89307268165352838"/>
          <c:h val="0.8767158052636439"/>
        </c:manualLayout>
      </c:layout>
      <c:scatterChart>
        <c:scatterStyle val="lineMarker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Stück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wer"/>
            <c:dispRSqr val="0"/>
            <c:dispEq val="0"/>
          </c:trendline>
          <c:xVal>
            <c:numRef>
              <c:f>Tabelle1!$A$2:$A$16</c:f>
              <c:numCache>
                <c:formatCode>General</c:formatCode>
                <c:ptCount val="15"/>
                <c:pt idx="0">
                  <c:v>-2148</c:v>
                </c:pt>
                <c:pt idx="1">
                  <c:v>-2642</c:v>
                </c:pt>
                <c:pt idx="2">
                  <c:v>6595</c:v>
                </c:pt>
                <c:pt idx="3">
                  <c:v>-5132</c:v>
                </c:pt>
                <c:pt idx="4">
                  <c:v>-10876</c:v>
                </c:pt>
                <c:pt idx="5">
                  <c:v>5408</c:v>
                </c:pt>
                <c:pt idx="6">
                  <c:v>-11423</c:v>
                </c:pt>
                <c:pt idx="7">
                  <c:v>10250</c:v>
                </c:pt>
                <c:pt idx="8">
                  <c:v>1000</c:v>
                </c:pt>
                <c:pt idx="9">
                  <c:v>-2345</c:v>
                </c:pt>
                <c:pt idx="10">
                  <c:v>2500</c:v>
                </c:pt>
                <c:pt idx="11">
                  <c:v>3333</c:v>
                </c:pt>
                <c:pt idx="12">
                  <c:v>3345</c:v>
                </c:pt>
                <c:pt idx="13">
                  <c:v>4443</c:v>
                </c:pt>
                <c:pt idx="14">
                  <c:v>6678</c:v>
                </c:pt>
              </c:numCache>
            </c:numRef>
          </c:xVal>
          <c:yVal>
            <c:numRef>
              <c:f>Tabelle1!$B$2:$B$16</c:f>
              <c:numCache>
                <c:formatCode>General</c:formatCode>
                <c:ptCount val="15"/>
                <c:pt idx="0">
                  <c:v>564</c:v>
                </c:pt>
                <c:pt idx="1">
                  <c:v>86</c:v>
                </c:pt>
                <c:pt idx="2">
                  <c:v>123</c:v>
                </c:pt>
                <c:pt idx="3">
                  <c:v>560</c:v>
                </c:pt>
                <c:pt idx="4">
                  <c:v>678</c:v>
                </c:pt>
                <c:pt idx="5">
                  <c:v>879</c:v>
                </c:pt>
                <c:pt idx="6">
                  <c:v>2478</c:v>
                </c:pt>
                <c:pt idx="7">
                  <c:v>2640</c:v>
                </c:pt>
                <c:pt idx="8">
                  <c:v>2345</c:v>
                </c:pt>
                <c:pt idx="9">
                  <c:v>4321</c:v>
                </c:pt>
                <c:pt idx="10">
                  <c:v>3467</c:v>
                </c:pt>
                <c:pt idx="11">
                  <c:v>3345</c:v>
                </c:pt>
                <c:pt idx="12">
                  <c:v>3348</c:v>
                </c:pt>
                <c:pt idx="13">
                  <c:v>3332</c:v>
                </c:pt>
                <c:pt idx="14">
                  <c:v>7776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433-4392-9D49-F96DEDB85B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0544847"/>
        <c:axId val="330522799"/>
      </c:scatterChart>
      <c:valAx>
        <c:axId val="330544847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Montserrat Light" panose="00000400000000000000" pitchFamily="2" charset="0"/>
                    <a:ea typeface="+mn-ea"/>
                    <a:cs typeface="+mn-cs"/>
                  </a:defRPr>
                </a:pPr>
                <a:r>
                  <a:rPr lang="de-DE">
                    <a:latin typeface="Montserrat Light" panose="00000400000000000000" pitchFamily="2" charset="0"/>
                  </a:rPr>
                  <a:t>Profit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Montserrat Light" panose="00000400000000000000" pitchFamily="2" charset="0"/>
                  <a:ea typeface="+mn-ea"/>
                  <a:cs typeface="+mn-cs"/>
                </a:defRPr>
              </a:pPr>
              <a:endParaRPr lang="de-DE"/>
            </a:p>
          </c:txPr>
        </c:title>
        <c:numFmt formatCode="#,##0" sourceLinked="0"/>
        <c:majorTickMark val="none"/>
        <c:minorTickMark val="none"/>
        <c:tickLblPos val="low"/>
        <c:crossAx val="330522799"/>
        <c:crosses val="autoZero"/>
        <c:crossBetween val="midCat"/>
        <c:majorUnit val="20000"/>
      </c:valAx>
      <c:valAx>
        <c:axId val="330522799"/>
        <c:scaling>
          <c:orientation val="minMax"/>
          <c:min val="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Montserrat Light" panose="00000400000000000000" pitchFamily="2" charset="0"/>
                    <a:ea typeface="+mn-ea"/>
                    <a:cs typeface="+mn-cs"/>
                  </a:defRPr>
                </a:pPr>
                <a:r>
                  <a:rPr lang="de-DE">
                    <a:latin typeface="Montserrat Light" panose="00000400000000000000" pitchFamily="2" charset="0"/>
                  </a:rPr>
                  <a:t>Umsatz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Montserrat Light" panose="00000400000000000000" pitchFamily="2" charset="0"/>
                  <a:ea typeface="+mn-ea"/>
                  <a:cs typeface="+mn-cs"/>
                </a:defRPr>
              </a:pPr>
              <a:endParaRPr lang="de-DE"/>
            </a:p>
          </c:txPr>
        </c:title>
        <c:numFmt formatCode="#,##0" sourceLinked="0"/>
        <c:majorTickMark val="none"/>
        <c:minorTickMark val="none"/>
        <c:tickLblPos val="nextTo"/>
        <c:crossAx val="330544847"/>
        <c:crosses val="autoZero"/>
        <c:crossBetween val="midCat"/>
        <c:majorUnit val="25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de-DE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717A90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Mär</c:v>
                </c:pt>
                <c:pt idx="3">
                  <c:v>Apr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4.5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C0-4BF3-979E-A8CB609796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751106368"/>
        <c:axId val="751107024"/>
      </c:barChart>
      <c:catAx>
        <c:axId val="751106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  <c:max val="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717A90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Mär</c:v>
                </c:pt>
                <c:pt idx="3">
                  <c:v>Apr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4.5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27-4301-977D-0B55E517BE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751106368"/>
        <c:axId val="751107024"/>
      </c:barChart>
      <c:catAx>
        <c:axId val="751106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  <c:max val="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044788513537341"/>
          <c:y val="0.18604355041182308"/>
          <c:w val="0.78955201846278067"/>
          <c:h val="0.778801522263539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Inland</c:v>
                </c:pt>
              </c:strCache>
            </c:strRef>
          </c:tx>
          <c:spPr>
            <a:solidFill>
              <a:srgbClr val="717A9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17A9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D1-4467-9271-DD52B06B6A9A}"/>
              </c:ext>
            </c:extLst>
          </c:dPt>
          <c:dPt>
            <c:idx val="1"/>
            <c:invertIfNegative val="0"/>
            <c:bubble3D val="0"/>
            <c:spPr>
              <a:solidFill>
                <a:srgbClr val="717A9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D1-4467-9271-DD52B06B6A9A}"/>
              </c:ext>
            </c:extLst>
          </c:dPt>
          <c:dPt>
            <c:idx val="2"/>
            <c:invertIfNegative val="0"/>
            <c:bubble3D val="0"/>
            <c:spPr>
              <a:solidFill>
                <a:srgbClr val="717A9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D1-4467-9271-DD52B06B6A9A}"/>
              </c:ext>
            </c:extLst>
          </c:dPt>
          <c:dPt>
            <c:idx val="3"/>
            <c:invertIfNegative val="0"/>
            <c:bubble3D val="0"/>
            <c:spPr>
              <a:solidFill>
                <a:srgbClr val="717A9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D1-4467-9271-DD52B06B6A9A}"/>
              </c:ext>
            </c:extLst>
          </c:dPt>
          <c:cat>
            <c:strRef>
              <c:f>Tabelle1!$A$2:$A$5</c:f>
              <c:strCache>
                <c:ptCount val="4"/>
                <c:pt idx="0">
                  <c:v>Produkt 1</c:v>
                </c:pt>
                <c:pt idx="1">
                  <c:v>Produkt 2</c:v>
                </c:pt>
                <c:pt idx="2">
                  <c:v>Produkt 3</c:v>
                </c:pt>
                <c:pt idx="3">
                  <c:v>Produkt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4D1-4467-9271-DD52B06B6A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751106368"/>
        <c:axId val="751107024"/>
      </c:barChart>
      <c:catAx>
        <c:axId val="75110636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044788513537341"/>
          <c:y val="0.18604355041182308"/>
          <c:w val="0.78955201846278067"/>
          <c:h val="0.778801522263539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Inland</c:v>
                </c:pt>
              </c:strCache>
            </c:strRef>
          </c:tx>
          <c:spPr>
            <a:solidFill>
              <a:srgbClr val="717A9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17A9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7F4-476D-97CE-530458EF6A75}"/>
              </c:ext>
            </c:extLst>
          </c:dPt>
          <c:dPt>
            <c:idx val="1"/>
            <c:invertIfNegative val="0"/>
            <c:bubble3D val="0"/>
            <c:spPr>
              <a:solidFill>
                <a:srgbClr val="717A9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7F4-476D-97CE-530458EF6A75}"/>
              </c:ext>
            </c:extLst>
          </c:dPt>
          <c:dPt>
            <c:idx val="2"/>
            <c:invertIfNegative val="0"/>
            <c:bubble3D val="0"/>
            <c:spPr>
              <a:solidFill>
                <a:srgbClr val="717A9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7F4-476D-97CE-530458EF6A75}"/>
              </c:ext>
            </c:extLst>
          </c:dPt>
          <c:dPt>
            <c:idx val="3"/>
            <c:invertIfNegative val="0"/>
            <c:bubble3D val="0"/>
            <c:spPr>
              <a:solidFill>
                <a:srgbClr val="717A9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7F4-476D-97CE-530458EF6A75}"/>
              </c:ext>
            </c:extLst>
          </c:dPt>
          <c:cat>
            <c:strRef>
              <c:f>Tabelle1!$A$2:$A$5</c:f>
              <c:strCache>
                <c:ptCount val="4"/>
                <c:pt idx="0">
                  <c:v>Produkt 1</c:v>
                </c:pt>
                <c:pt idx="1">
                  <c:v>Produkt 2</c:v>
                </c:pt>
                <c:pt idx="2">
                  <c:v>Produkt 3</c:v>
                </c:pt>
                <c:pt idx="3">
                  <c:v>Produkt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7F4-476D-97CE-530458EF6A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751106368"/>
        <c:axId val="751107024"/>
      </c:barChart>
      <c:catAx>
        <c:axId val="75110636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717A90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Mär</c:v>
                </c:pt>
                <c:pt idx="3">
                  <c:v>Apr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4.5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EF-4996-8F1E-33CAEC8A5D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751106368"/>
        <c:axId val="751107024"/>
      </c:barChart>
      <c:catAx>
        <c:axId val="751106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  <c:max val="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ln w="38100" cap="rnd" cmpd="sng">
              <a:solidFill>
                <a:srgbClr val="37374F"/>
              </a:solidFill>
              <a:round/>
            </a:ln>
            <a:effectLst/>
          </c:spPr>
          <c:marker>
            <c:symbol val="none"/>
          </c:marker>
          <c:cat>
            <c:numRef>
              <c:f>Tabelle1!$A$2:$A$13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Tabelle1!$B$2:$B$13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4.5</c:v>
                </c:pt>
                <c:pt idx="4">
                  <c:v>3</c:v>
                </c:pt>
                <c:pt idx="5">
                  <c:v>2</c:v>
                </c:pt>
                <c:pt idx="6">
                  <c:v>4</c:v>
                </c:pt>
                <c:pt idx="7">
                  <c:v>2</c:v>
                </c:pt>
                <c:pt idx="8">
                  <c:v>1</c:v>
                </c:pt>
                <c:pt idx="9">
                  <c:v>4</c:v>
                </c:pt>
                <c:pt idx="10">
                  <c:v>3</c:v>
                </c:pt>
                <c:pt idx="1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E29-4F7F-8118-A057076341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60903055"/>
        <c:axId val="114656847"/>
      </c:lineChart>
      <c:catAx>
        <c:axId val="3609030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4656847"/>
        <c:crosses val="autoZero"/>
        <c:auto val="1"/>
        <c:lblAlgn val="ctr"/>
        <c:lblOffset val="100"/>
        <c:noMultiLvlLbl val="0"/>
      </c:catAx>
      <c:valAx>
        <c:axId val="114656847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60903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noFill/>
          </a:ln>
          <a:noFill/>
        </a:defRPr>
      </a:pPr>
      <a:endParaRPr lang="de-DE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solidFill>
                <a:srgbClr val="717A9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52E-4E86-9C8D-EEF101456B80}"/>
              </c:ext>
            </c:extLst>
          </c:dPt>
          <c:dPt>
            <c:idx val="1"/>
            <c:bubble3D val="0"/>
            <c:spPr>
              <a:solidFill>
                <a:srgbClr val="37374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52E-4E86-9C8D-EEF101456B80}"/>
              </c:ext>
            </c:extLst>
          </c:dPt>
          <c:cat>
            <c:strRef>
              <c:f>Tabelle1!$A$2:$A$3</c:f>
              <c:strCache>
                <c:ptCount val="2"/>
                <c:pt idx="0">
                  <c:v>Produkt A</c:v>
                </c:pt>
                <c:pt idx="1">
                  <c:v>Rest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78</c:v>
                </c:pt>
                <c:pt idx="1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52E-4E86-9C8D-EEF101456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717A90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Mär</c:v>
                </c:pt>
                <c:pt idx="3">
                  <c:v>Apr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4.5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AB-4AE3-AD02-CB083E0915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751106368"/>
        <c:axId val="751107024"/>
      </c:barChart>
      <c:catAx>
        <c:axId val="751106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  <c:max val="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22399076860965"/>
          <c:y val="0.22119847773646031"/>
          <c:w val="0.78955201846278067"/>
          <c:h val="0.778801522263539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Inland</c:v>
                </c:pt>
              </c:strCache>
            </c:strRef>
          </c:tx>
          <c:spPr>
            <a:solidFill>
              <a:srgbClr val="717A9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17A9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6E8-481E-9BD3-568401BBB2E3}"/>
              </c:ext>
            </c:extLst>
          </c:dPt>
          <c:dPt>
            <c:idx val="1"/>
            <c:invertIfNegative val="0"/>
            <c:bubble3D val="0"/>
            <c:spPr>
              <a:solidFill>
                <a:srgbClr val="717A9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E8-481E-9BD3-568401BBB2E3}"/>
              </c:ext>
            </c:extLst>
          </c:dPt>
          <c:dPt>
            <c:idx val="2"/>
            <c:invertIfNegative val="0"/>
            <c:bubble3D val="0"/>
            <c:spPr>
              <a:solidFill>
                <a:srgbClr val="717A9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E8-481E-9BD3-568401BBB2E3}"/>
              </c:ext>
            </c:extLst>
          </c:dPt>
          <c:dPt>
            <c:idx val="3"/>
            <c:invertIfNegative val="0"/>
            <c:bubble3D val="0"/>
            <c:spPr>
              <a:solidFill>
                <a:srgbClr val="717A9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6E8-481E-9BD3-568401BBB2E3}"/>
              </c:ext>
            </c:extLst>
          </c:dPt>
          <c:cat>
            <c:strRef>
              <c:f>Tabelle1!$A$2:$A$9</c:f>
              <c:strCache>
                <c:ptCount val="8"/>
                <c:pt idx="0">
                  <c:v>Produkt 1</c:v>
                </c:pt>
                <c:pt idx="1">
                  <c:v>Produkt 2</c:v>
                </c:pt>
                <c:pt idx="2">
                  <c:v>Produkt 3</c:v>
                </c:pt>
                <c:pt idx="3">
                  <c:v>Produkt 4</c:v>
                </c:pt>
                <c:pt idx="4">
                  <c:v>Produkt 5</c:v>
                </c:pt>
                <c:pt idx="5">
                  <c:v>Produkt 6</c:v>
                </c:pt>
                <c:pt idx="6">
                  <c:v>Produkt 7</c:v>
                </c:pt>
                <c:pt idx="7">
                  <c:v>Produkt 8</c:v>
                </c:pt>
              </c:strCache>
            </c:strRef>
          </c:cat>
          <c:val>
            <c:numRef>
              <c:f>Tabelle1!$B$2:$B$9</c:f>
              <c:numCache>
                <c:formatCode>General</c:formatCode>
                <c:ptCount val="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4.5</c:v>
                </c:pt>
                <c:pt idx="5">
                  <c:v>3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6E8-481E-9BD3-568401BBB2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751106368"/>
        <c:axId val="751107024"/>
      </c:barChart>
      <c:catAx>
        <c:axId val="75110636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ln w="38100" cap="rnd" cmpd="sng">
              <a:solidFill>
                <a:srgbClr val="37374F"/>
              </a:solidFill>
              <a:round/>
            </a:ln>
            <a:effectLst/>
          </c:spPr>
          <c:marker>
            <c:symbol val="none"/>
          </c:marker>
          <c:cat>
            <c:numRef>
              <c:f>Tabelle1!$A$2:$A$13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Tabelle1!$B$2:$B$13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4.5</c:v>
                </c:pt>
                <c:pt idx="4">
                  <c:v>3</c:v>
                </c:pt>
                <c:pt idx="5">
                  <c:v>2</c:v>
                </c:pt>
                <c:pt idx="6">
                  <c:v>4</c:v>
                </c:pt>
                <c:pt idx="7">
                  <c:v>2</c:v>
                </c:pt>
                <c:pt idx="8">
                  <c:v>1</c:v>
                </c:pt>
                <c:pt idx="9">
                  <c:v>4</c:v>
                </c:pt>
                <c:pt idx="10">
                  <c:v>3</c:v>
                </c:pt>
                <c:pt idx="1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9E0-4428-BA57-580139B0DA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60903055"/>
        <c:axId val="114656847"/>
      </c:lineChart>
      <c:catAx>
        <c:axId val="3609030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4656847"/>
        <c:crosses val="autoZero"/>
        <c:auto val="1"/>
        <c:lblAlgn val="ctr"/>
        <c:lblOffset val="100"/>
        <c:noMultiLvlLbl val="0"/>
      </c:catAx>
      <c:valAx>
        <c:axId val="114656847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60903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noFill/>
          </a:ln>
          <a:noFill/>
        </a:defRPr>
      </a:pPr>
      <a:endParaRPr lang="de-DE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842048448071362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2BDF-4539-8E95-1BFE90B6662E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4366033110408009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2BDF-4539-8E95-1BFE90B6662E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3150884485360982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2BDF-4539-8E95-1BFE90B6662E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9226627610596118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BDF-4539-8E95-1BFE90B666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t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BDF-4539-8E95-1BFE90B666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751106368"/>
        <c:axId val="751107024"/>
      </c:barChart>
      <c:catAx>
        <c:axId val="751106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842048448071362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2BDF-4539-8E95-1BFE90B6662E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4366033110408009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2BDF-4539-8E95-1BFE90B6662E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3150884485360982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2BDF-4539-8E95-1BFE90B6662E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9226627610596118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BDF-4539-8E95-1BFE90B666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t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Tabelle1!$A$2:$A$13</c:f>
              <c:strCache>
                <c:ptCount val="12"/>
                <c:pt idx="0">
                  <c:v>Jan </c:v>
                </c:pt>
                <c:pt idx="1">
                  <c:v>Feb </c:v>
                </c:pt>
                <c:pt idx="2">
                  <c:v>Mär</c:v>
                </c:pt>
                <c:pt idx="3">
                  <c:v>Apr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Okt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Tabelle1!$B$2:$B$13</c:f>
              <c:numCache>
                <c:formatCode>General</c:formatCode>
                <c:ptCount val="12"/>
                <c:pt idx="0">
                  <c:v>2</c:v>
                </c:pt>
                <c:pt idx="1">
                  <c:v>2.7</c:v>
                </c:pt>
                <c:pt idx="2">
                  <c:v>3.1</c:v>
                </c:pt>
                <c:pt idx="3">
                  <c:v>4.2</c:v>
                </c:pt>
                <c:pt idx="4">
                  <c:v>3.9</c:v>
                </c:pt>
                <c:pt idx="5">
                  <c:v>2.8</c:v>
                </c:pt>
                <c:pt idx="6">
                  <c:v>2.7</c:v>
                </c:pt>
                <c:pt idx="7">
                  <c:v>3</c:v>
                </c:pt>
                <c:pt idx="8">
                  <c:v>3.8</c:v>
                </c:pt>
                <c:pt idx="9">
                  <c:v>3.6</c:v>
                </c:pt>
                <c:pt idx="10">
                  <c:v>3</c:v>
                </c:pt>
                <c:pt idx="11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BDF-4539-8E95-1BFE90B666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5"/>
        <c:axId val="751106368"/>
        <c:axId val="751107024"/>
      </c:barChart>
      <c:catAx>
        <c:axId val="751106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842048448071362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2BDF-4539-8E95-1BFE90B6662E}"/>
                </c:ext>
              </c:extLst>
            </c:dLbl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4366033110408009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2BDF-4539-8E95-1BFE90B6662E}"/>
                </c:ext>
              </c:extLst>
            </c:dLbl>
            <c:dLbl>
              <c:idx val="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3150884485360982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2BDF-4539-8E95-1BFE90B6662E}"/>
                </c:ext>
              </c:extLst>
            </c:dLbl>
            <c:dLbl>
              <c:idx val="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9226627610596118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BDF-4539-8E95-1BFE90B666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t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Tabelle1!$A$2:$A$19</c:f>
              <c:numCache>
                <c:formatCode>mmm\-yy</c:formatCode>
                <c:ptCount val="18"/>
                <c:pt idx="0">
                  <c:v>44562</c:v>
                </c:pt>
                <c:pt idx="1">
                  <c:v>44593</c:v>
                </c:pt>
                <c:pt idx="2">
                  <c:v>44621</c:v>
                </c:pt>
                <c:pt idx="3">
                  <c:v>44652</c:v>
                </c:pt>
                <c:pt idx="4">
                  <c:v>44682</c:v>
                </c:pt>
                <c:pt idx="5">
                  <c:v>44713</c:v>
                </c:pt>
                <c:pt idx="6">
                  <c:v>44743</c:v>
                </c:pt>
                <c:pt idx="7">
                  <c:v>44774</c:v>
                </c:pt>
                <c:pt idx="8">
                  <c:v>44805</c:v>
                </c:pt>
                <c:pt idx="9">
                  <c:v>44835</c:v>
                </c:pt>
                <c:pt idx="10">
                  <c:v>44866</c:v>
                </c:pt>
                <c:pt idx="11">
                  <c:v>44896</c:v>
                </c:pt>
                <c:pt idx="12">
                  <c:v>44927</c:v>
                </c:pt>
                <c:pt idx="13">
                  <c:v>44958</c:v>
                </c:pt>
                <c:pt idx="14">
                  <c:v>44986</c:v>
                </c:pt>
                <c:pt idx="15">
                  <c:v>45017</c:v>
                </c:pt>
                <c:pt idx="16">
                  <c:v>45047</c:v>
                </c:pt>
                <c:pt idx="17">
                  <c:v>45078</c:v>
                </c:pt>
              </c:numCache>
            </c:numRef>
          </c:cat>
          <c:val>
            <c:numRef>
              <c:f>Tabelle1!$B$2:$B$19</c:f>
              <c:numCache>
                <c:formatCode>General</c:formatCode>
                <c:ptCount val="18"/>
                <c:pt idx="0">
                  <c:v>24</c:v>
                </c:pt>
                <c:pt idx="1">
                  <c:v>25</c:v>
                </c:pt>
                <c:pt idx="2">
                  <c:v>20</c:v>
                </c:pt>
                <c:pt idx="3">
                  <c:v>18</c:v>
                </c:pt>
                <c:pt idx="4">
                  <c:v>23</c:v>
                </c:pt>
                <c:pt idx="5">
                  <c:v>21</c:v>
                </c:pt>
                <c:pt idx="6">
                  <c:v>15</c:v>
                </c:pt>
                <c:pt idx="7">
                  <c:v>21</c:v>
                </c:pt>
                <c:pt idx="8">
                  <c:v>31</c:v>
                </c:pt>
                <c:pt idx="9">
                  <c:v>23</c:v>
                </c:pt>
                <c:pt idx="10">
                  <c:v>32</c:v>
                </c:pt>
                <c:pt idx="11">
                  <c:v>29</c:v>
                </c:pt>
                <c:pt idx="12">
                  <c:v>26</c:v>
                </c:pt>
                <c:pt idx="13">
                  <c:v>27</c:v>
                </c:pt>
                <c:pt idx="14">
                  <c:v>23</c:v>
                </c:pt>
                <c:pt idx="15">
                  <c:v>20</c:v>
                </c:pt>
                <c:pt idx="16">
                  <c:v>23</c:v>
                </c:pt>
                <c:pt idx="17">
                  <c:v>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BDF-4539-8E95-1BFE90B666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51106368"/>
        <c:axId val="751107024"/>
      </c:lineChart>
      <c:dateAx>
        <c:axId val="751106368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Offset val="100"/>
        <c:baseTimeUnit val="months"/>
      </c:dateAx>
      <c:valAx>
        <c:axId val="751107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Inland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CF-4E85-9EE7-2083FDD0A6A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CF-4E85-9EE7-2083FDD0A6A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CF-4E85-9EE7-2083FDD0A6A1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CF-4E85-9EE7-2083FDD0A6A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Tabelle1!$A$2:$A$8</c:f>
              <c:strCache>
                <c:ptCount val="7"/>
                <c:pt idx="0">
                  <c:v>Stühle</c:v>
                </c:pt>
                <c:pt idx="1">
                  <c:v>Küche</c:v>
                </c:pt>
                <c:pt idx="2">
                  <c:v>Bett</c:v>
                </c:pt>
                <c:pt idx="3">
                  <c:v>Tische</c:v>
                </c:pt>
                <c:pt idx="4">
                  <c:v>Pflanzen</c:v>
                </c:pt>
                <c:pt idx="5">
                  <c:v>Polster</c:v>
                </c:pt>
                <c:pt idx="6">
                  <c:v>Matratzen</c:v>
                </c:pt>
              </c:strCache>
            </c:strRef>
          </c:cat>
          <c:val>
            <c:numRef>
              <c:f>Tabelle1!$B$2:$B$8</c:f>
              <c:numCache>
                <c:formatCode>General</c:formatCode>
                <c:ptCount val="7"/>
                <c:pt idx="0">
                  <c:v>100</c:v>
                </c:pt>
                <c:pt idx="1">
                  <c:v>128</c:v>
                </c:pt>
                <c:pt idx="2">
                  <c:v>150</c:v>
                </c:pt>
                <c:pt idx="3">
                  <c:v>87</c:v>
                </c:pt>
                <c:pt idx="4">
                  <c:v>212</c:v>
                </c:pt>
                <c:pt idx="5">
                  <c:v>165</c:v>
                </c:pt>
                <c:pt idx="6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FCF-4E85-9EE7-2083FDD0A6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751106368"/>
        <c:axId val="751107024"/>
      </c:barChart>
      <c:catAx>
        <c:axId val="75110636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spPr>
            <a:ln>
              <a:solidFill>
                <a:schemeClr val="bg1"/>
              </a:solidFill>
            </a:ln>
          </c:spPr>
          <c:dPt>
            <c:idx val="0"/>
            <c:bubble3D val="0"/>
            <c:explosion val="1"/>
            <c:spPr>
              <a:solidFill>
                <a:schemeClr val="accent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341-4C40-BD3C-86AD2683C3E6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341-4C40-BD3C-86AD2683C3E6}"/>
              </c:ext>
            </c:extLst>
          </c:dPt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Tabelle1!$A$2:$A$3</c:f>
              <c:strCache>
                <c:ptCount val="2"/>
                <c:pt idx="0">
                  <c:v>Produkt A</c:v>
                </c:pt>
                <c:pt idx="1">
                  <c:v>Produkt B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341-4C40-BD3C-86AD2683C3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B81-45D9-B6DA-82FE99FD7E0B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B81-45D9-B6DA-82FE99FD7E0B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B81-45D9-B6DA-82FE99FD7E0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0.5</c:v>
                </c:pt>
                <c:pt idx="1">
                  <c:v>-0.2</c:v>
                </c:pt>
                <c:pt idx="2">
                  <c:v>1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B81-45D9-B6DA-82FE99FD7E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2058444735"/>
        <c:axId val="1842355711"/>
      </c:barChart>
      <c:catAx>
        <c:axId val="205844473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42355711"/>
        <c:crosses val="autoZero"/>
        <c:auto val="1"/>
        <c:lblAlgn val="ctr"/>
        <c:lblOffset val="100"/>
        <c:noMultiLvlLbl val="0"/>
      </c:catAx>
      <c:valAx>
        <c:axId val="1842355711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584447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842048448071362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32F9-40EB-B094-C4E0A1E5D434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4366033110408009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32F9-40EB-B094-C4E0A1E5D434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3150884485360982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32F9-40EB-B094-C4E0A1E5D434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9226627610596118E-2"/>
                      <c:h val="0.114835933784193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32F9-40EB-B094-C4E0A1E5D43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t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2F9-40EB-B094-C4E0A1E5D4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751106368"/>
        <c:axId val="751107024"/>
      </c:barChart>
      <c:catAx>
        <c:axId val="751106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Inland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67-42B9-967B-2045C8DD4AC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67-42B9-967B-2045C8DD4AC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67-42B9-967B-2045C8DD4AC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367-42B9-967B-2045C8DD4AC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Tabelle1!$A$2:$A$8</c:f>
              <c:strCache>
                <c:ptCount val="7"/>
                <c:pt idx="0">
                  <c:v>Stühle</c:v>
                </c:pt>
                <c:pt idx="1">
                  <c:v>Küche</c:v>
                </c:pt>
                <c:pt idx="2">
                  <c:v>Bett</c:v>
                </c:pt>
                <c:pt idx="3">
                  <c:v>Tische</c:v>
                </c:pt>
                <c:pt idx="4">
                  <c:v>Pflanzen</c:v>
                </c:pt>
                <c:pt idx="5">
                  <c:v>Polster</c:v>
                </c:pt>
                <c:pt idx="6">
                  <c:v>Matratzen</c:v>
                </c:pt>
              </c:strCache>
            </c:strRef>
          </c:cat>
          <c:val>
            <c:numRef>
              <c:f>Tabelle1!$B$2:$B$8</c:f>
              <c:numCache>
                <c:formatCode>General</c:formatCode>
                <c:ptCount val="7"/>
                <c:pt idx="0">
                  <c:v>100</c:v>
                </c:pt>
                <c:pt idx="1">
                  <c:v>128</c:v>
                </c:pt>
                <c:pt idx="2">
                  <c:v>150</c:v>
                </c:pt>
                <c:pt idx="3">
                  <c:v>87</c:v>
                </c:pt>
                <c:pt idx="4">
                  <c:v>212</c:v>
                </c:pt>
                <c:pt idx="5">
                  <c:v>165</c:v>
                </c:pt>
                <c:pt idx="6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367-42B9-967B-2045C8DD4A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751106368"/>
        <c:axId val="751107024"/>
      </c:barChart>
      <c:catAx>
        <c:axId val="75110636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486-4D1B-80AD-BDCFEA9D1788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486-4D1B-80AD-BDCFEA9D1788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486-4D1B-80AD-BDCFEA9D1788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486-4D1B-80AD-BDCFEA9D178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Tabelle1!$A$2:$A$8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Tabelle1!$B$2:$B$8</c:f>
              <c:numCache>
                <c:formatCode>General</c:formatCode>
                <c:ptCount val="7"/>
                <c:pt idx="0">
                  <c:v>50</c:v>
                </c:pt>
                <c:pt idx="1">
                  <c:v>-20</c:v>
                </c:pt>
                <c:pt idx="2">
                  <c:v>10</c:v>
                </c:pt>
                <c:pt idx="3">
                  <c:v>20</c:v>
                </c:pt>
                <c:pt idx="4">
                  <c:v>-40</c:v>
                </c:pt>
                <c:pt idx="5">
                  <c:v>60</c:v>
                </c:pt>
                <c:pt idx="6">
                  <c:v>-45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486-4D1B-80AD-BDCFEA9D17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2058444735"/>
        <c:axId val="1842355711"/>
      </c:barChart>
      <c:catAx>
        <c:axId val="205844473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42355711"/>
        <c:crosses val="autoZero"/>
        <c:auto val="1"/>
        <c:lblAlgn val="ctr"/>
        <c:lblOffset val="100"/>
        <c:noMultiLvlLbl val="0"/>
      </c:catAx>
      <c:valAx>
        <c:axId val="1842355711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584447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Mär</c:v>
                </c:pt>
                <c:pt idx="3">
                  <c:v>Apr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4.5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3B-4E71-A04B-F35707B093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751106368"/>
        <c:axId val="751107024"/>
      </c:barChart>
      <c:catAx>
        <c:axId val="751106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  <c:max val="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spPr>
            <a:solidFill>
              <a:srgbClr val="717A90"/>
            </a:solidFill>
            <a:ln>
              <a:noFill/>
            </a:ln>
          </c:spPr>
          <c:dPt>
            <c:idx val="0"/>
            <c:bubble3D val="0"/>
            <c:spPr>
              <a:solidFill>
                <a:srgbClr val="717A9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BAB-452B-95E9-62D7B698448C}"/>
              </c:ext>
            </c:extLst>
          </c:dPt>
          <c:dPt>
            <c:idx val="1"/>
            <c:bubble3D val="0"/>
            <c:spPr>
              <a:solidFill>
                <a:srgbClr val="37374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BAB-452B-95E9-62D7B698448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Tabelle1!$A$2:$A$3</c:f>
              <c:strCache>
                <c:ptCount val="2"/>
                <c:pt idx="0">
                  <c:v>Produkt A</c:v>
                </c:pt>
                <c:pt idx="1">
                  <c:v>Rest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78</c:v>
                </c:pt>
                <c:pt idx="1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BAB-452B-95E9-62D7B69844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ln w="28575" cap="rnd">
              <a:solidFill>
                <a:srgbClr val="717A90"/>
              </a:solidFill>
              <a:round/>
            </a:ln>
            <a:effectLst/>
          </c:spPr>
          <c:marker>
            <c:symbol val="none"/>
          </c:marker>
          <c:dPt>
            <c:idx val="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0-ACFE-4F2E-8590-718D4593A0C8}"/>
              </c:ext>
            </c:extLst>
          </c:dPt>
          <c:dLbls>
            <c:dLbl>
              <c:idx val="0"/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CFE-4F2E-8590-718D4593A0C8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CFE-4F2E-8590-718D4593A0C8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CFE-4F2E-8590-718D4593A0C8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CFE-4F2E-8590-718D4593A0C8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CFE-4F2E-8590-718D4593A0C8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CFE-4F2E-8590-718D4593A0C8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CFE-4F2E-8590-718D4593A0C8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CFE-4F2E-8590-718D4593A0C8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CFE-4F2E-8590-718D4593A0C8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CFE-4F2E-8590-718D4593A0C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CFE-4F2E-8590-718D4593A0C8}"/>
                </c:ext>
              </c:extLst>
            </c:dLbl>
            <c:dLbl>
              <c:idx val="11"/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CFE-4F2E-8590-718D4593A0C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ln>
                      <a:noFill/>
                    </a:ln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Tabelle1!$C$2:$C$13</c:f>
              <c:numCache>
                <c:formatCode>General</c:formatCode>
                <c:ptCount val="12"/>
                <c:pt idx="0">
                  <c:v>2</c:v>
                </c:pt>
                <c:pt idx="1">
                  <c:v>3</c:v>
                </c:pt>
                <c:pt idx="2">
                  <c:v>1.8</c:v>
                </c:pt>
                <c:pt idx="3">
                  <c:v>2.8</c:v>
                </c:pt>
                <c:pt idx="4">
                  <c:v>4</c:v>
                </c:pt>
                <c:pt idx="5">
                  <c:v>3</c:v>
                </c:pt>
                <c:pt idx="6">
                  <c:v>1</c:v>
                </c:pt>
                <c:pt idx="7">
                  <c:v>4</c:v>
                </c:pt>
                <c:pt idx="8">
                  <c:v>3</c:v>
                </c:pt>
                <c:pt idx="9">
                  <c:v>2</c:v>
                </c:pt>
                <c:pt idx="10">
                  <c:v>3</c:v>
                </c:pt>
                <c:pt idx="11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DBF-4740-9D63-F3E00AFC98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60903055"/>
        <c:axId val="114656847"/>
      </c:lineChart>
      <c:catAx>
        <c:axId val="3609030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4656847"/>
        <c:crosses val="autoZero"/>
        <c:auto val="1"/>
        <c:lblAlgn val="ctr"/>
        <c:lblOffset val="100"/>
        <c:noMultiLvlLbl val="0"/>
      </c:catAx>
      <c:valAx>
        <c:axId val="114656847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60903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noFill/>
          </a:ln>
          <a:noFill/>
        </a:defRPr>
      </a:pPr>
      <a:endParaRPr lang="de-DE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CD78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A17-48E6-8EC2-2874D66AE13E}"/>
              </c:ext>
            </c:extLst>
          </c:dPt>
          <c:dPt>
            <c:idx val="1"/>
            <c:invertIfNegative val="0"/>
            <c:bubble3D val="0"/>
            <c:spPr>
              <a:solidFill>
                <a:srgbClr val="F6516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A17-48E6-8EC2-2874D66AE13E}"/>
              </c:ext>
            </c:extLst>
          </c:dPt>
          <c:dPt>
            <c:idx val="2"/>
            <c:invertIfNegative val="0"/>
            <c:bubble3D val="0"/>
            <c:spPr>
              <a:solidFill>
                <a:srgbClr val="1CD78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A17-48E6-8EC2-2874D66AE13E}"/>
              </c:ext>
            </c:extLst>
          </c:dPt>
          <c:dPt>
            <c:idx val="3"/>
            <c:invertIfNegative val="0"/>
            <c:bubble3D val="0"/>
            <c:spPr>
              <a:solidFill>
                <a:srgbClr val="F6516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A17-48E6-8EC2-2874D66AE13E}"/>
              </c:ext>
            </c:extLst>
          </c:dPt>
          <c:dPt>
            <c:idx val="5"/>
            <c:invertIfNegative val="0"/>
            <c:bubble3D val="0"/>
            <c:spPr>
              <a:solidFill>
                <a:srgbClr val="1CD78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A17-48E6-8EC2-2874D66AE13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Mär</c:v>
                </c:pt>
                <c:pt idx="3">
                  <c:v>Apr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1</c:v>
                </c:pt>
                <c:pt idx="1">
                  <c:v>-3</c:v>
                </c:pt>
                <c:pt idx="2">
                  <c:v>3</c:v>
                </c:pt>
                <c:pt idx="3">
                  <c:v>-2</c:v>
                </c:pt>
                <c:pt idx="4">
                  <c:v>-3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A17-48E6-8EC2-2874D66AE1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751106368"/>
        <c:axId val="751107024"/>
      </c:barChart>
      <c:catAx>
        <c:axId val="751106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CD78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2D-45A9-BD76-DB9E40A7658E}"/>
              </c:ext>
            </c:extLst>
          </c:dPt>
          <c:dPt>
            <c:idx val="1"/>
            <c:invertIfNegative val="0"/>
            <c:bubble3D val="0"/>
            <c:spPr>
              <a:solidFill>
                <a:srgbClr val="F6516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2D-45A9-BD76-DB9E40A7658E}"/>
              </c:ext>
            </c:extLst>
          </c:dPt>
          <c:dPt>
            <c:idx val="2"/>
            <c:invertIfNegative val="0"/>
            <c:bubble3D val="0"/>
            <c:spPr>
              <a:solidFill>
                <a:srgbClr val="1CD78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2D-45A9-BD76-DB9E40A7658E}"/>
              </c:ext>
            </c:extLst>
          </c:dPt>
          <c:dPt>
            <c:idx val="3"/>
            <c:invertIfNegative val="0"/>
            <c:bubble3D val="0"/>
            <c:spPr>
              <a:solidFill>
                <a:srgbClr val="F6516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2D-45A9-BD76-DB9E40A7658E}"/>
              </c:ext>
            </c:extLst>
          </c:dPt>
          <c:dPt>
            <c:idx val="4"/>
            <c:invertIfNegative val="0"/>
            <c:bubble3D val="0"/>
            <c:spPr>
              <a:solidFill>
                <a:srgbClr val="1CD78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2D-45A9-BD76-DB9E40A7658E}"/>
              </c:ext>
            </c:extLst>
          </c:dPt>
          <c:dPt>
            <c:idx val="5"/>
            <c:invertIfNegative val="0"/>
            <c:bubble3D val="0"/>
            <c:spPr>
              <a:solidFill>
                <a:srgbClr val="1CD78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2D-45A9-BD76-DB9E40A7658E}"/>
              </c:ext>
            </c:extLst>
          </c:dPt>
          <c:dPt>
            <c:idx val="7"/>
            <c:invertIfNegative val="0"/>
            <c:bubble3D val="0"/>
            <c:spPr>
              <a:solidFill>
                <a:srgbClr val="1CD78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2D-45A9-BD76-DB9E40A7658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Tabelle1!$A$2:$A$9</c:f>
              <c:strCache>
                <c:ptCount val="8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  <c:pt idx="6">
                  <c:v>P7</c:v>
                </c:pt>
                <c:pt idx="7">
                  <c:v>P8</c:v>
                </c:pt>
              </c:strCache>
            </c:strRef>
          </c:cat>
          <c:val>
            <c:numRef>
              <c:f>Tabelle1!$B$2:$B$9</c:f>
              <c:numCache>
                <c:formatCode>General</c:formatCode>
                <c:ptCount val="8"/>
                <c:pt idx="0">
                  <c:v>1</c:v>
                </c:pt>
                <c:pt idx="1">
                  <c:v>-3</c:v>
                </c:pt>
                <c:pt idx="2">
                  <c:v>3</c:v>
                </c:pt>
                <c:pt idx="3">
                  <c:v>-2</c:v>
                </c:pt>
                <c:pt idx="4">
                  <c:v>3</c:v>
                </c:pt>
                <c:pt idx="5">
                  <c:v>4</c:v>
                </c:pt>
                <c:pt idx="6">
                  <c:v>-1</c:v>
                </c:pt>
                <c:pt idx="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12D-45A9-BD76-DB9E40A765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751106368"/>
        <c:axId val="751107024"/>
      </c:barChart>
      <c:catAx>
        <c:axId val="75110636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de-DE"/>
          </a:p>
        </c:txPr>
        <c:crossAx val="751107024"/>
        <c:crosses val="autoZero"/>
        <c:auto val="1"/>
        <c:lblAlgn val="ctr"/>
        <c:lblOffset val="100"/>
        <c:noMultiLvlLbl val="0"/>
      </c:catAx>
      <c:valAx>
        <c:axId val="75110702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751106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Tabelle1!$A$2:$C$4</cx:f>
        <cx:lvl ptCount="3"/>
        <cx:lvl ptCount="3"/>
        <cx:lvl ptCount="3">
          <cx:pt idx="0">Produkt 1</cx:pt>
          <cx:pt idx="1">Produkt 2</cx:pt>
          <cx:pt idx="2">Produkt 3</cx:pt>
        </cx:lvl>
      </cx:strDim>
      <cx:numDim type="size">
        <cx:f>Tabelle1!$D$2:$D$4</cx:f>
        <cx:lvl ptCount="3" formatCode="Standard">
          <cx:pt idx="0">75</cx:pt>
          <cx:pt idx="1">25</cx:pt>
          <cx:pt idx="2">25</cx:pt>
        </cx:lvl>
      </cx:numDim>
    </cx:data>
  </cx:chartData>
  <cx:chart>
    <cx:plotArea>
      <cx:plotAreaRegion>
        <cx:series layoutId="treemap" uniqueId="{FA052E98-D609-41E0-AB27-2784B2DB64D4}">
          <cx:tx>
            <cx:txData>
              <cx:f>Tabelle1!$D$1</cx:f>
              <cx:v>Datenreihe1</cx:v>
            </cx:txData>
          </cx:tx>
          <cx:dataPt idx="2">
            <cx:spPr>
              <a:solidFill>
                <a:srgbClr val="717A90">
                  <a:lumMod val="40000"/>
                  <a:lumOff val="60000"/>
                </a:srgbClr>
              </a:solidFill>
            </cx:spPr>
          </cx:dataPt>
          <cx:dataLabels pos="inEnd"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Tabelle1!$A$2:$C$17</cx:f>
        <cx:lvl ptCount="16">
          <cx:pt idx="0">Blatt 1</cx:pt>
          <cx:pt idx="1">Blatt 2</cx:pt>
          <cx:pt idx="2">Blatt 3</cx:pt>
          <cx:pt idx="3">Blatt 4</cx:pt>
          <cx:pt idx="4">Blatt 5</cx:pt>
          <cx:pt idx="5">Blatt 6</cx:pt>
          <cx:pt idx="6">Blatt 7</cx:pt>
          <cx:pt idx="7">Blatt 8</cx:pt>
          <cx:pt idx="8">Blatt 9</cx:pt>
          <cx:pt idx="9">Blatt 10</cx:pt>
          <cx:pt idx="10">Blatt 11</cx:pt>
          <cx:pt idx="11">Blatt 12</cx:pt>
          <cx:pt idx="12">Blatt 13</cx:pt>
          <cx:pt idx="13">Blatt 14</cx:pt>
          <cx:pt idx="14">Blatt 15</cx:pt>
          <cx:pt idx="15">Blatt 16</cx:pt>
        </cx:lvl>
        <cx:lvl ptCount="16">
          <cx:pt idx="0">Stamm 1</cx:pt>
          <cx:pt idx="1">Stamm 1</cx:pt>
          <cx:pt idx="2">Stamm 1</cx:pt>
          <cx:pt idx="3">Stamm 2</cx:pt>
          <cx:pt idx="4">Stamm 2</cx:pt>
          <cx:pt idx="5">Stamm 2</cx:pt>
          <cx:pt idx="6">Stamm 2</cx:pt>
          <cx:pt idx="7">Stamm 3</cx:pt>
          <cx:pt idx="8">Stamm 3</cx:pt>
          <cx:pt idx="9">Stamm 4</cx:pt>
          <cx:pt idx="10">Stamm 4</cx:pt>
          <cx:pt idx="11">Stamm 5</cx:pt>
          <cx:pt idx="12">Stamm 5</cx:pt>
          <cx:pt idx="13">Stamm 6</cx:pt>
          <cx:pt idx="14">Stamm 6</cx:pt>
          <cx:pt idx="15">Stamm 6</cx:pt>
        </cx:lvl>
        <cx:lvl ptCount="16">
          <cx:pt idx="0">Verzweigung 1</cx:pt>
          <cx:pt idx="1">Verzweigung 1</cx:pt>
          <cx:pt idx="2">Verzweigung 1</cx:pt>
          <cx:pt idx="3">Verzweigung 1</cx:pt>
          <cx:pt idx="4">Verzweigung 1</cx:pt>
          <cx:pt idx="5">Verzweigung 1</cx:pt>
          <cx:pt idx="6">Verzweigung 1</cx:pt>
          <cx:pt idx="7">Verzweigung 2</cx:pt>
          <cx:pt idx="8">Verzweigung 2</cx:pt>
          <cx:pt idx="9">Verzweigung 2</cx:pt>
          <cx:pt idx="10">Verzweigung 2</cx:pt>
          <cx:pt idx="11">Verzweigung 3</cx:pt>
          <cx:pt idx="12">Verzweigung 3</cx:pt>
          <cx:pt idx="13">Verzweigung 3</cx:pt>
          <cx:pt idx="14">Verzweigung 3</cx:pt>
          <cx:pt idx="15">Verzweigung 3</cx:pt>
        </cx:lvl>
      </cx:strDim>
      <cx:numDim type="size">
        <cx:f>Tabelle1!$D$2:$D$17</cx:f>
        <cx:lvl ptCount="16" formatCode="Standard">
          <cx:pt idx="0">25</cx:pt>
          <cx:pt idx="1">10</cx:pt>
          <cx:pt idx="2">54</cx:pt>
          <cx:pt idx="3">75</cx:pt>
          <cx:pt idx="4">34</cx:pt>
          <cx:pt idx="5">17</cx:pt>
          <cx:pt idx="6">14</cx:pt>
          <cx:pt idx="7">9</cx:pt>
          <cx:pt idx="8">15</cx:pt>
          <cx:pt idx="9">21</cx:pt>
          <cx:pt idx="10">65</cx:pt>
          <cx:pt idx="11">16</cx:pt>
          <cx:pt idx="12">32</cx:pt>
          <cx:pt idx="13">56</cx:pt>
          <cx:pt idx="14">8</cx:pt>
          <cx:pt idx="15">5</cx:pt>
        </cx:lvl>
      </cx:numDim>
    </cx:data>
  </cx:chartData>
  <cx:chart>
    <cx:plotArea>
      <cx:plotAreaRegion>
        <cx:series layoutId="treemap" uniqueId="{15EE825B-7DC9-4941-85FD-08E5B6E71B48}">
          <cx:tx>
            <cx:txData>
              <cx:f>Tabelle1!$D$1</cx:f>
              <cx:v>Datenreihe1</cx:v>
            </cx:txData>
          </cx:tx>
          <cx:spPr>
            <a:ln w="12700">
              <a:solidFill>
                <a:schemeClr val="bg1"/>
              </a:solidFill>
            </a:ln>
          </cx:spPr>
          <cx:dataPt idx="17">
            <cx:spPr>
              <a:solidFill>
                <a:srgbClr val="717A90">
                  <a:lumMod val="60000"/>
                  <a:lumOff val="40000"/>
                </a:srgbClr>
              </a:solidFill>
            </cx:spPr>
          </cx:dataPt>
          <cx:dataLabels pos="in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>
                    <a:solidFill>
                      <a:schemeClr val="bg1"/>
                    </a:solidFill>
                  </a:defRPr>
                </a:pPr>
                <a:endParaRPr lang="de-DE" sz="1197" b="0" i="0" u="none" strike="noStrike" baseline="0">
                  <a:solidFill>
                    <a:schemeClr val="bg1"/>
                  </a:solidFill>
                  <a:latin typeface="Calibri" panose="020F0502020204030204"/>
                </a:endParaRPr>
              </a:p>
            </cx:txPr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FBA081-6DEB-5C4B-201D-C45C81976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E291240-9389-C53B-1E0D-DDFF503A6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AD8D13-F992-AE72-B6F7-ECE1E494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4D3E3-2940-4B27-9316-475C2E27CDEF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E9F570-C4FF-B0D6-46EF-D5064B60C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86E9F5-BACF-E0BE-EB43-36BA6CA53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8C4-775A-440D-BB24-A90CD812C461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 descr="Ein Bild, das Grafiken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8CA38B89-3BE4-15C4-9498-4777511CF9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6538912"/>
            <a:ext cx="1521112" cy="30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207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6319F3-4DC1-ADEB-D75B-4337DB8F2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80E25F-E9F2-260A-4CCB-C14755EDC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82A5E1-244C-FCA6-FB78-96154036C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4D3E3-2940-4B27-9316-475C2E27CDEF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FEE134-EB84-D266-8CDE-9973EA54C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073D5-321C-48DA-B51C-1DF8F4CD1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8C4-775A-440D-BB24-A90CD812C461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 descr="Ein Bild, das Grafiken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923ECFD2-5077-542C-0D44-E9A3AC1A68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6538912"/>
            <a:ext cx="1521112" cy="30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03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E0AF59-E418-B73E-8823-EE486EED3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5BB6651-F074-33E7-030D-1A5B4940A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65CD46-0789-F6A2-159E-60B3F1A6F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4D3E3-2940-4B27-9316-475C2E27CDEF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0EC89D-52B2-EB9B-8A68-9CE272EE6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F01589-3DCF-A574-231B-9CEF08F4D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8C4-775A-440D-BB24-A90CD812C461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 descr="Ein Bild, das Grafiken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FFF9D908-CEC7-D878-D3F3-905C141183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6538912"/>
            <a:ext cx="1521112" cy="30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700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EFAF4A-D19F-0468-D33B-2BE710A1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3A4451-2452-DE12-2FC6-7C0B41A81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CA31CDF-D1F4-7145-33DC-3759CD6DF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BD41770-8C4F-E1CA-8691-25FA66245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4D3E3-2940-4B27-9316-475C2E27CDEF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7F50F6-157C-1463-6D7B-E4113FEA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3344F6A-8315-31D1-0832-C5E1DE814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8C4-775A-440D-BB24-A90CD812C4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6148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8E531F-F1A9-688A-54D4-ABC02E4C4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1CE804-D0E6-0F2A-4863-748DCEE44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53C4A8F-D3F9-74ED-7F08-8C004C5C4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38D7349-B296-3EAA-9679-7C55DB2EB1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4AE3D5E-CB36-7BCB-6738-C520DEC7FB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6609DE4-1518-877C-DEAC-A88AF7E0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4D3E3-2940-4B27-9316-475C2E27CDEF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35CF7B0-7B00-C705-443A-002A5AED8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3550804-BC00-2C44-7418-9C5A7A9F5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8C4-775A-440D-BB24-A90CD812C4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248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7CBC79-B073-143A-D806-FA93F2B52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18921D2-5820-B099-AC3F-9BA5CA785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4D3E3-2940-4B27-9316-475C2E27CDEF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0FF9FBE-8AED-C3D7-872C-18A46276C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DFA4B1-C501-6540-CB1D-837B0F688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8C4-775A-440D-BB24-A90CD812C4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9941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D9C3CCA-3833-204B-BF42-148D52359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4D3E3-2940-4B27-9316-475C2E27CDEF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8911213-F420-DB13-296D-20E9AE549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3E56AFF-F26D-BA9B-70A3-3906D2F5F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8C4-775A-440D-BB24-A90CD812C4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3312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61835D-D02A-520B-9470-8FA165D84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3F4B11-3E46-AF04-AF27-506CFD1D2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8EE0162-0A9C-1EB5-7D02-BB6A0785C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B280202-20B3-2A63-8068-24383AB9D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4D3E3-2940-4B27-9316-475C2E27CDEF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FFC2D43-1478-02C2-C88A-F376513E4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DA2F8B5-0410-CBC5-4A9A-5534967E4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8C4-775A-440D-BB24-A90CD812C4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902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F8023F-37D8-48F6-CC58-71AFD7A56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8ADC73F-B97C-EF39-7957-71E64A0082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BA34BCC-AA75-E560-FFB2-1199A795E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0FB5545-0174-0ABA-245A-48DAAA27C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4D3E3-2940-4B27-9316-475C2E27CDEF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55771E-E35D-F46F-A2E5-A27322C80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172EC15-B299-D542-A3FE-B7593C6E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8C4-775A-440D-BB24-A90CD812C4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4376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3FAE8A-95F9-43AC-038F-520A583AE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A0864D3-4B70-4854-630F-766C6D418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B0B569-7E3D-3445-0440-81A2EE598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4D3E3-2940-4B27-9316-475C2E27CDEF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D8B143A-3C7E-8C9E-4D13-A151DEF7A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966235-14BE-7D12-6BB2-90CCEDBB7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8C4-775A-440D-BB24-A90CD812C4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171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836DEDF-08CB-7C9E-AD21-1FAE554254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859C18C-1F29-48EC-419D-6DD25ACBD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2BE3C5-8B22-1973-7968-083D8D15E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4D3E3-2940-4B27-9316-475C2E27CDEF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0DB915-1AC7-8893-2E4F-F42E444A4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D636E2-8E6E-3DB7-E7F7-45D9BD7A0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8C4-775A-440D-BB24-A90CD812C4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7423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9F0C5-D025-EF97-F483-6ABFE27AD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259682F-60F6-8272-B9BA-9B93856D2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49687C-6D6A-6E89-AA78-1795E2C3F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86FB01-14D1-E6EA-F89B-F5FBDE1B3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087A0A-D7EF-BE3A-FB2F-57DB98135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5194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A8B58-571A-EA6B-E8D4-BE0D99FAA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804" y="311251"/>
            <a:ext cx="11526344" cy="52612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053C03-3B2E-BB4B-6C44-B0CB8AA51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04" y="1253331"/>
            <a:ext cx="11526344" cy="4966494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1800"/>
            </a:lvl1pPr>
            <a:lvl2pPr marL="685800" indent="-228600">
              <a:buFont typeface="Courier New" panose="02070309020205020404" pitchFamily="49" charset="0"/>
              <a:buChar char="o"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5CA225-3F74-C231-6696-26EDE0CAF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5239FD-43B7-E1E6-A03B-CC3150FB1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C1F5A0-384F-D7B4-DF2A-39EAF4B8C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 descr="Ein Bild, das Grafiken, Schrift, Screenshot, Logo enthält.&#10;&#10;Automatisch generierte Beschreibung">
            <a:extLst>
              <a:ext uri="{FF2B5EF4-FFF2-40B4-BE49-F238E27FC236}">
                <a16:creationId xmlns:a16="http://schemas.microsoft.com/office/drawing/2014/main" id="{D49B9DAE-F1C5-87D9-DD45-8217C315B4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105" y="6611124"/>
            <a:ext cx="1099895" cy="22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61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B2A08E-DE2E-9E60-4BAF-58A3C49E2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597E02-310F-9B87-8964-5B7F617DC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11E79C-D2FC-C675-ED3A-6786537DF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4902BA-9A62-08F1-554F-866710C60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0F502F-11BD-7277-98F9-6A458AE7D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1610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C9E243-25B1-8191-00A7-A6BE58D52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084CC0-76B3-E3F1-2C2F-3E73D3AB05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BCACA70-4875-22ED-EB6F-0D2D79828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A0F544-C080-19EF-C3FA-05834AD19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F99F005-4CAF-9706-6CE2-D22437C14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C5DAA3-2F7D-7411-519B-B8CE423B9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21831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3DF415-0A9F-28A5-1B44-A35EA222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A44289-7FD6-DACC-E20B-E774DA824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B187442-2085-4254-7A9E-128C7B1B0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85488DB-DD5A-08EE-82D4-16A872CEB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852E5DB-0BA5-B457-42F0-B24D21653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330F02B-630D-394E-D545-90A6276FA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6CC6FE4-2A29-D631-600F-5BF9CDADE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C7B995B-39D9-F3CE-4C92-23B8FABA7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33711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CD116F-387A-0EB2-7D47-610474AC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625E6E8-4E9A-7EE8-33FB-A2D560C8A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3159B3-7E86-53B2-6E28-BD38A06E1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E5D22BB-17AE-ABA5-152D-6CD95B9D3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50806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DC69A98-E050-DA37-074F-EEE13E45B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8BC1B18-9424-1ECD-9CCB-650F7EAE2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39F456C-404E-5E8D-0573-E8D382C91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9567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58503B-75D3-5618-E6D5-FB382B543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8F41C6-3A41-3E25-34CD-EE6B27A0A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297B96D-D243-6E42-864D-4DBA5A2B7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1A17F0-F7DC-9766-550A-6FFA4A88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D9745F4-A7C4-0FF5-09F6-89854F09B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95DE863-9BA0-2999-8C3F-4A6AF493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2741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DB41F1-1333-D193-965E-7BA4C88B0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156B1FA-4715-B9CC-57B6-6BA3A98E4B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1ACBCA8-42E7-7FFB-9CBE-F5027EFEF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B8486DF-1D53-C540-E5E3-87333042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973EFED-69FA-46CC-FE2D-7699A0622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344A4D-2C1E-FEE7-BAAB-D624B22CD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16938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38C999-1919-013A-8792-E6ED1DBB3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6D25013-06EB-2C20-255B-F2E52AFBC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06F3E9-92C7-434C-E98C-062C36920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D3ECE1-5078-B55B-4FA4-68456BA5A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4D8B21-1557-90FF-82EB-CF32F5E2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19964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2BEA66D-285C-BD19-5D8E-F867D31DB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1994E45-F3F0-0FB6-86F8-F763B80D5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2007D8-6C60-5FB2-536B-97E0263D1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3435F6-B742-E078-A8EE-CFA99BC4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0DD81E-AF4C-AD48-1E40-AAEAAF628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78227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81337" y="115889"/>
            <a:ext cx="9686082" cy="786936"/>
          </a:xfrm>
        </p:spPr>
        <p:txBody>
          <a:bodyPr anchor="ctr">
            <a:normAutofit/>
          </a:bodyPr>
          <a:lstStyle>
            <a:lvl1pPr algn="l">
              <a:defRPr sz="2800" baseline="0"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/>
              <a:t>Titel der Folie. Max. 2 Zeilen 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9360060" y="6492875"/>
            <a:ext cx="2743200" cy="365125"/>
          </a:xfr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A5D6DD4-E4F1-4CEE-8C1B-60EC2A3A9ACE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3" name="Grafik 2" descr="Ein Bild, das Grafiken, Schrift, Screenshot, Logo enthält.&#10;&#10;Automatisch generierte Beschreibung">
            <a:extLst>
              <a:ext uri="{FF2B5EF4-FFF2-40B4-BE49-F238E27FC236}">
                <a16:creationId xmlns:a16="http://schemas.microsoft.com/office/drawing/2014/main" id="{6561D74B-BFC5-8A79-2765-8A786DF720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105" y="6611124"/>
            <a:ext cx="1099895" cy="22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402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8">
          <p15:clr>
            <a:srgbClr val="FBAE40"/>
          </p15:clr>
        </p15:guide>
        <p15:guide id="2" orient="horz" pos="4088">
          <p15:clr>
            <a:srgbClr val="FBAE40"/>
          </p15:clr>
        </p15:guide>
        <p15:guide id="3" pos="109">
          <p15:clr>
            <a:srgbClr val="FBAE40"/>
          </p15:clr>
        </p15:guide>
        <p15:guide id="4" pos="7628">
          <p15:clr>
            <a:srgbClr val="FBAE40"/>
          </p15:clr>
        </p15:guide>
        <p15:guide id="5" pos="6221">
          <p15:clr>
            <a:srgbClr val="FBAE40"/>
          </p15:clr>
        </p15:guide>
        <p15:guide id="6" pos="631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9F0C5-D025-EF97-F483-6ABFE27AD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259682F-60F6-8272-B9BA-9B93856D2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49687C-6D6A-6E89-AA78-1795E2C3F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86FB01-14D1-E6EA-F89B-F5FBDE1B3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087A0A-D7EF-BE3A-FB2F-57DB98135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 descr="Ein Bild, das Grafiken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B13AEDC4-FC57-C388-D10D-69D64F45C7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160" y="6497304"/>
            <a:ext cx="1799679" cy="36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442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A8B58-571A-EA6B-E8D4-BE0D99FAA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804" y="311251"/>
            <a:ext cx="11526344" cy="526126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053C03-3B2E-BB4B-6C44-B0CB8AA51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04" y="1253331"/>
            <a:ext cx="11526344" cy="4966494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1800"/>
            </a:lvl1pPr>
            <a:lvl2pPr marL="685800" indent="-228600">
              <a:buFont typeface="Courier New" panose="02070309020205020404" pitchFamily="49" charset="0"/>
              <a:buChar char="o"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5CA225-3F74-C231-6696-26EDE0CAF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5239FD-43B7-E1E6-A03B-CC3150FB1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C1F5A0-384F-D7B4-DF2A-39EAF4B8C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  <p:pic>
        <p:nvPicPr>
          <p:cNvPr id="8" name="Grafik 7" descr="Ein Bild, das Grafiken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D6663804-DF54-2BCD-C5AA-9EF6A35D19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160" y="6497304"/>
            <a:ext cx="1799679" cy="36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299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B2A08E-DE2E-9E60-4BAF-58A3C49E2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597E02-310F-9B87-8964-5B7F617DC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11E79C-D2FC-C675-ED3A-6786537DF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4902BA-9A62-08F1-554F-866710C60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0F502F-11BD-7277-98F9-6A458AE7D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 descr="Ein Bild, das Grafiken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4E26CED-E051-A333-3B58-38C448FB7C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160" y="6497304"/>
            <a:ext cx="1799679" cy="36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3780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C9E243-25B1-8191-00A7-A6BE58D52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084CC0-76B3-E3F1-2C2F-3E73D3AB05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BCACA70-4875-22ED-EB6F-0D2D79828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A0F544-C080-19EF-C3FA-05834AD19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F99F005-4CAF-9706-6CE2-D22437C14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C5DAA3-2F7D-7411-519B-B8CE423B9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  <p:pic>
        <p:nvPicPr>
          <p:cNvPr id="8" name="Grafik 7" descr="Ein Bild, das Grafiken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FF9333F5-E163-5D55-99BB-62941D1CCA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160" y="6497304"/>
            <a:ext cx="1799679" cy="36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01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3DF415-0A9F-28A5-1B44-A35EA222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A44289-7FD6-DACC-E20B-E774DA824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B187442-2085-4254-7A9E-128C7B1B0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85488DB-DD5A-08EE-82D4-16A872CEB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852E5DB-0BA5-B457-42F0-B24D21653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330F02B-630D-394E-D545-90A6276FA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6CC6FE4-2A29-D631-600F-5BF9CDADE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C7B995B-39D9-F3CE-4C92-23B8FABA7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  <p:pic>
        <p:nvPicPr>
          <p:cNvPr id="10" name="Grafik 9" descr="Ein Bild, das Grafiken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AFEB1326-D151-9ADC-0D6D-0F24C302B7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160" y="6497304"/>
            <a:ext cx="1799679" cy="36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1716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CD116F-387A-0EB2-7D47-610474AC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625E6E8-4E9A-7EE8-33FB-A2D560C8A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3159B3-7E86-53B2-6E28-BD38A06E1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E5D22BB-17AE-ABA5-152D-6CD95B9D3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  <p:pic>
        <p:nvPicPr>
          <p:cNvPr id="6" name="Grafik 5" descr="Ein Bild, das Grafiken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9431AF61-E252-0E71-4878-EC1EA9BCF0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160" y="6497304"/>
            <a:ext cx="1799679" cy="36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0914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DC69A98-E050-DA37-074F-EEE13E45B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8BC1B18-9424-1ECD-9CCB-650F7EAE2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39F456C-404E-5E8D-0573-E8D382C91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45862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58503B-75D3-5618-E6D5-FB382B543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8F41C6-3A41-3E25-34CD-EE6B27A0A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297B96D-D243-6E42-864D-4DBA5A2B7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1A17F0-F7DC-9766-550A-6FFA4A88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D9745F4-A7C4-0FF5-09F6-89854F09B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95DE863-9BA0-2999-8C3F-4A6AF493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56122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DB41F1-1333-D193-965E-7BA4C88B0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156B1FA-4715-B9CC-57B6-6BA3A98E4B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1ACBCA8-42E7-7FFB-9CBE-F5027EFEF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B8486DF-1D53-C540-E5E3-87333042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973EFED-69FA-46CC-FE2D-7699A0622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344A4D-2C1E-FEE7-BAAB-D624B22CD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73841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38C999-1919-013A-8792-E6ED1DBB3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6D25013-06EB-2C20-255B-F2E52AFBC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06F3E9-92C7-434C-E98C-062C36920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D3ECE1-5078-B55B-4FA4-68456BA5A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4D8B21-1557-90FF-82EB-CF32F5E2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70150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2BEA66D-285C-BD19-5D8E-F867D31DB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1994E45-F3F0-0FB6-86F8-F763B80D5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2007D8-6C60-5FB2-536B-97E0263D1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3435F6-B742-E078-A8EE-CFA99BC4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0DD81E-AF4C-AD48-1E40-AAEAAF628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99265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81337" y="115889"/>
            <a:ext cx="9686082" cy="786936"/>
          </a:xfrm>
        </p:spPr>
        <p:txBody>
          <a:bodyPr anchor="ctr">
            <a:normAutofit/>
          </a:bodyPr>
          <a:lstStyle>
            <a:lvl1pPr algn="l">
              <a:defRPr sz="2000" baseline="0"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Titel der Folie. Max. 2 Zeilen 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9360060" y="6492875"/>
            <a:ext cx="2743200" cy="365125"/>
          </a:xfr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A5D6DD4-E4F1-4CEE-8C1B-60EC2A3A9ACE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7185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8">
          <p15:clr>
            <a:srgbClr val="FBAE40"/>
          </p15:clr>
        </p15:guide>
        <p15:guide id="2" orient="horz" pos="4088">
          <p15:clr>
            <a:srgbClr val="FBAE40"/>
          </p15:clr>
        </p15:guide>
        <p15:guide id="3" pos="109">
          <p15:clr>
            <a:srgbClr val="FBAE40"/>
          </p15:clr>
        </p15:guide>
        <p15:guide id="4" pos="7628">
          <p15:clr>
            <a:srgbClr val="FBAE40"/>
          </p15:clr>
        </p15:guide>
        <p15:guide id="5" pos="6221">
          <p15:clr>
            <a:srgbClr val="FBAE40"/>
          </p15:clr>
        </p15:guide>
        <p15:guide id="6" pos="631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FD7777-37F4-02B8-BB84-A5C900F5D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2484681-0627-6925-8096-5ADBC163B1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D18A8E-1402-5396-70EC-F126BAF90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8612-7364-4821-BFD2-99646874B9DB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9A078D-4A76-BF21-FAC0-DB51AF9D1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4BDE1A-473F-BDBE-4BF3-3A30AF5D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87232-9361-4380-93C7-8EC51EF6B9F8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 descr="Ein Bild, das Grafiken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6CE06D62-26DF-E4F2-6165-DE406DE2A1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160" y="6497304"/>
            <a:ext cx="1799679" cy="36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774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062F39-FAB7-61C4-5B80-27B0C57EE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03" y="978331"/>
            <a:ext cx="11526343" cy="519863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BFE652-F643-28D1-BC60-664F2C9C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8612-7364-4821-BFD2-99646874B9DB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2ED2BD-1975-3EB4-AD66-8A1153D49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EEFEB4-57FD-C820-FB43-37BA06184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87232-9361-4380-93C7-8EC51EF6B9F8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 descr="Ein Bild, das Grafiken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87082E75-20F9-15B0-2DA4-6946581DF3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160" y="6497304"/>
            <a:ext cx="1799679" cy="360696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5C2FE5FC-B4DE-95E5-FD80-B2BBB0E37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804" y="311251"/>
            <a:ext cx="11526344" cy="526126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49754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6B36BF-68C5-A728-42C4-996CB426B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C9168ED-EB78-A316-B0EF-BC659A447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B9F15A-8E70-A8C1-BDC7-FE7749BC6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8612-7364-4821-BFD2-99646874B9DB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DF7D08-11C8-E9C0-CA69-7E6C98D8B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265C70-686C-91A9-4E41-A8CE6233D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87232-9361-4380-93C7-8EC51EF6B9F8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 descr="Ein Bild, das Grafiken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02DA7F13-7ECE-24B2-6E35-87D0D21D04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160" y="6497304"/>
            <a:ext cx="1799679" cy="36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504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23EE48-0214-CF70-6E98-1124551F5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8E543F-FAF1-C544-8CD9-C02981B4C3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3B6D0AC-142B-D3B3-5F26-9C2477E8D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A6D730B-D845-CBA6-E910-2477CA4E3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8612-7364-4821-BFD2-99646874B9DB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55EA99-D641-5160-8402-39DEFB95F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1B96674-6B09-BC31-CAF6-DBCBEA8B8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87232-9361-4380-93C7-8EC51EF6B9F8}" type="slidenum">
              <a:rPr lang="de-DE" smtClean="0"/>
              <a:t>‹Nr.›</a:t>
            </a:fld>
            <a:endParaRPr lang="de-DE"/>
          </a:p>
        </p:txBody>
      </p:sp>
      <p:pic>
        <p:nvPicPr>
          <p:cNvPr id="8" name="Grafik 7" descr="Ein Bild, das Grafiken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3E8DFDF6-53AE-6E06-3807-8C8DE073E7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160" y="6497304"/>
            <a:ext cx="1799679" cy="36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385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B61E76-6DBC-8603-9AA8-1674048F2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597C6E-D6CC-A82E-CBB2-1969015EA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8F9A340-CB2B-7D0A-F2DA-F95ED5988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35741E8-9BA8-4DB9-4073-BE771905B6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CD7616E-9A46-C230-0656-7F9ADBD6D0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DA8EBB5-8FF1-8D21-0458-30211796B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8612-7364-4821-BFD2-99646874B9DB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A119D46-018F-902D-0144-1C84D5E04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3CFC23C-FF7A-72B4-3089-6907208D2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87232-9361-4380-93C7-8EC51EF6B9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264053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1C2446-83B1-64FA-5BD8-46A42C177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4FF13C2-3E94-7CFF-A8D2-745F1B33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8612-7364-4821-BFD2-99646874B9DB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64663AD-5C46-806F-0332-CE41CDDFC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96E69B-62E9-5BEA-21B1-938850BA1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87232-9361-4380-93C7-8EC51EF6B9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60602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3C514E2-3E3C-632D-D14C-369D19FD1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8612-7364-4821-BFD2-99646874B9DB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D530520-9F1E-2F2A-944B-B6A739A7F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3268EA-96C1-EE15-D8D2-C1CF46333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87232-9361-4380-93C7-8EC51EF6B9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88268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8991E4-87A9-80F4-EE43-099669B52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CD58A0-4C37-F59A-05DA-B7D3DDAF1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B945997-4972-E265-615F-C58CB16C9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5430F0D-DC5A-0F35-B2BA-DB1A1A0E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8612-7364-4821-BFD2-99646874B9DB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63C508-AF1F-FBE2-050C-70AE1D25F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C8DB6E-183A-F056-37EB-968D53675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87232-9361-4380-93C7-8EC51EF6B9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175333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F9FFF3-2D5A-2E6E-B969-B21DB1E6D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8E02C71-CB3C-02A6-69A1-979EB6AF83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F990327-CD04-A780-E207-6F01DF0AF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6AF9FCF-D343-EF04-37EA-D5FC92EFE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8612-7364-4821-BFD2-99646874B9DB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9526B1-33AC-E1F6-967B-A25DAD12B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B550B59-1DE1-6F8C-45F1-0DB0AADE2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87232-9361-4380-93C7-8EC51EF6B9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04542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8C5943-9002-3002-AD97-17FFA0381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5912D8-232F-224F-F420-6A11F6457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FBC809-0F1A-02B1-5317-5CF3F9185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8612-7364-4821-BFD2-99646874B9DB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315B1E-C9A8-1CFA-2C5E-600EE906A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B03753-305A-F451-3A78-F74F43F08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87232-9361-4380-93C7-8EC51EF6B9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7960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C19DA65-D172-9D65-D049-026A58758F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A0512F1-DCD0-D3CA-A775-DEE4A9B11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83F806-E57F-9481-2433-6F6834098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8612-7364-4821-BFD2-99646874B9DB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60CBBB-4406-42A5-496A-A1A720081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F8E5E2-1545-6793-7943-B5B01F2F0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87232-9361-4380-93C7-8EC51EF6B9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617246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er Quadranten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Grafiken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87082E75-20F9-15B0-2DA4-6946581DF3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160" y="6497304"/>
            <a:ext cx="1799679" cy="360696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5C2FE5FC-B4DE-95E5-FD80-B2BBB0E37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804" y="311252"/>
            <a:ext cx="11516394" cy="309462"/>
          </a:xfrm>
        </p:spPr>
        <p:txBody>
          <a:bodyPr>
            <a:normAutofit/>
          </a:bodyPr>
          <a:lstStyle>
            <a:lvl1pPr algn="l">
              <a:defRPr sz="1800">
                <a:latin typeface="Montserrat Light" panose="00000400000000000000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9911729-8B6F-426B-3B07-02BAD28611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7802" y="620714"/>
            <a:ext cx="5758197" cy="215899"/>
          </a:xfrm>
        </p:spPr>
        <p:txBody>
          <a:bodyPr>
            <a:noAutofit/>
          </a:bodyPr>
          <a:lstStyle>
            <a:lvl1pPr marL="0" indent="0">
              <a:buNone/>
              <a:defRPr sz="1200">
                <a:latin typeface="Montserrat Light" panose="00000400000000000000" pitchFamily="2" charset="0"/>
              </a:defRPr>
            </a:lvl1pPr>
          </a:lstStyle>
          <a:p>
            <a:pPr lvl="0"/>
            <a:r>
              <a:rPr lang="de-DE"/>
              <a:t>Untertitel hinzufügen (bspw. Auswertungszeitraum)</a:t>
            </a:r>
          </a:p>
        </p:txBody>
      </p:sp>
      <p:sp>
        <p:nvSpPr>
          <p:cNvPr id="2" name="Textplatzhalter 8">
            <a:extLst>
              <a:ext uri="{FF2B5EF4-FFF2-40B4-BE49-F238E27FC236}">
                <a16:creationId xmlns:a16="http://schemas.microsoft.com/office/drawing/2014/main" id="{B31635AF-A3D8-4AB8-EE4F-19925E7F73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7802" y="992187"/>
            <a:ext cx="5420059" cy="215899"/>
          </a:xfrm>
        </p:spPr>
        <p:txBody>
          <a:bodyPr>
            <a:noAutofit/>
          </a:bodyPr>
          <a:lstStyle>
            <a:lvl1pPr marL="0" indent="0">
              <a:buNone/>
              <a:defRPr sz="1200">
                <a:latin typeface="Montserrat Light" panose="00000400000000000000" pitchFamily="2" charset="0"/>
              </a:defRPr>
            </a:lvl1pPr>
          </a:lstStyle>
          <a:p>
            <a:pPr lvl="0"/>
            <a:r>
              <a:rPr lang="de-DE"/>
              <a:t>Diagramm 1</a:t>
            </a:r>
          </a:p>
        </p:txBody>
      </p:sp>
      <p:sp>
        <p:nvSpPr>
          <p:cNvPr id="3" name="Textplatzhalter 8">
            <a:extLst>
              <a:ext uri="{FF2B5EF4-FFF2-40B4-BE49-F238E27FC236}">
                <a16:creationId xmlns:a16="http://schemas.microsoft.com/office/drawing/2014/main" id="{1AB3A8D5-0A97-2FF9-3219-AE0240BDFC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802" y="3681413"/>
            <a:ext cx="5420059" cy="215899"/>
          </a:xfrm>
        </p:spPr>
        <p:txBody>
          <a:bodyPr>
            <a:noAutofit/>
          </a:bodyPr>
          <a:lstStyle>
            <a:lvl1pPr marL="0" indent="0">
              <a:buNone/>
              <a:defRPr sz="1200">
                <a:latin typeface="Montserrat Light" panose="00000400000000000000" pitchFamily="2" charset="0"/>
              </a:defRPr>
            </a:lvl1pPr>
          </a:lstStyle>
          <a:p>
            <a:pPr lvl="0"/>
            <a:r>
              <a:rPr lang="de-DE"/>
              <a:t>Diagramm 3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A2665386-285A-4919-437A-A5DBF71642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8841" y="992187"/>
            <a:ext cx="5420059" cy="215899"/>
          </a:xfrm>
        </p:spPr>
        <p:txBody>
          <a:bodyPr>
            <a:noAutofit/>
          </a:bodyPr>
          <a:lstStyle>
            <a:lvl1pPr marL="0" indent="0">
              <a:buNone/>
              <a:defRPr sz="1200">
                <a:latin typeface="Montserrat Light" panose="00000400000000000000" pitchFamily="2" charset="0"/>
              </a:defRPr>
            </a:lvl1pPr>
          </a:lstStyle>
          <a:p>
            <a:pPr lvl="0"/>
            <a:r>
              <a:rPr lang="de-DE"/>
              <a:t>Diagramm 2</a:t>
            </a:r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DD685B51-57DB-1104-2A79-502B91D3D1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1" y="3681413"/>
            <a:ext cx="5422733" cy="215899"/>
          </a:xfrm>
        </p:spPr>
        <p:txBody>
          <a:bodyPr>
            <a:noAutofit/>
          </a:bodyPr>
          <a:lstStyle>
            <a:lvl1pPr marL="0" indent="0">
              <a:buNone/>
              <a:defRPr sz="1200">
                <a:latin typeface="Montserrat Light" panose="00000400000000000000" pitchFamily="2" charset="0"/>
              </a:defRPr>
            </a:lvl1pPr>
          </a:lstStyle>
          <a:p>
            <a:pPr lvl="0"/>
            <a:r>
              <a:rPr lang="de-DE"/>
              <a:t>Diagramm 4</a:t>
            </a:r>
          </a:p>
        </p:txBody>
      </p:sp>
    </p:spTree>
    <p:extLst>
      <p:ext uri="{BB962C8B-B14F-4D97-AF65-F5344CB8AC3E}">
        <p14:creationId xmlns:p14="http://schemas.microsoft.com/office/powerpoint/2010/main" val="1324628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9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91">
          <p15:clr>
            <a:srgbClr val="FBAE40"/>
          </p15:clr>
        </p15:guide>
        <p15:guide id="4" orient="horz" pos="527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4020">
          <p15:clr>
            <a:srgbClr val="FBAE40"/>
          </p15:clr>
        </p15:guide>
        <p15:guide id="8" orient="horz" pos="61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5E37759-8C44-452D-0F9E-F5D3844B4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838CEB-9095-5428-FF7F-BC362285B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1E0A6A-D910-BC1F-BA0D-03CCEB6F1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4D3E3-2940-4B27-9316-475C2E27CDEF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A1E3E5-E99A-B828-D6CD-74FA9F3602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7493FC-6856-872E-E23C-90D35CC58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D08C4-775A-440D-BB24-A90CD812C4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310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AF058F0-EAB0-BEF1-EEEA-E1E1D636E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B81937-896D-1263-0B62-944B02807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0537BE-EC6F-F566-3F26-504D810BBE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A28F9E-2A34-CAA2-9AB7-0C8159EC30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5B09A8-10BB-16B0-42BA-C8CCEE1BF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662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AF058F0-EAB0-BEF1-EEEA-E1E1D636E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B81937-896D-1263-0B62-944B02807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0537BE-EC6F-F566-3F26-504D810BBE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5D1B17-3ED8-41EC-B4D9-304A75F56A86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A28F9E-2A34-CAA2-9AB7-0C8159EC30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5B09A8-10BB-16B0-42BA-C8CCEE1BF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22584B-F940-434F-9AD7-89E4D51DEC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5423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5CE95F7-BBCE-EEC3-41D1-20EB33677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49381F-D6A1-B09E-E1B8-7606A1326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E167A7-785A-1238-6210-63B64FC585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778612-7364-4821-BFD2-99646874B9DB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E435EF-EAE7-324C-3C5A-9FA26F4909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2C1B25-6B64-D932-EC4B-0EA000D1C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F87232-9361-4380-93C7-8EC51EF6B9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3306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Montserrat Light" panose="000004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 Light" panose="000004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 Light" panose="000004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 Light" panose="000004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 Light" panose="000004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 Light" panose="000004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.xml"/><Relationship Id="rId13" Type="http://schemas.openxmlformats.org/officeDocument/2006/relationships/chart" Target="../charts/chart14.xml"/><Relationship Id="rId3" Type="http://schemas.openxmlformats.org/officeDocument/2006/relationships/chart" Target="../charts/chart4.xml"/><Relationship Id="rId7" Type="http://schemas.openxmlformats.org/officeDocument/2006/relationships/chart" Target="../charts/chart8.xml"/><Relationship Id="rId12" Type="http://schemas.openxmlformats.org/officeDocument/2006/relationships/chart" Target="../charts/chart13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7.xml"/><Relationship Id="rId11" Type="http://schemas.openxmlformats.org/officeDocument/2006/relationships/chart" Target="../charts/chart12.xml"/><Relationship Id="rId5" Type="http://schemas.openxmlformats.org/officeDocument/2006/relationships/chart" Target="../charts/chart6.xml"/><Relationship Id="rId10" Type="http://schemas.openxmlformats.org/officeDocument/2006/relationships/chart" Target="../charts/chart11.xml"/><Relationship Id="rId4" Type="http://schemas.openxmlformats.org/officeDocument/2006/relationships/chart" Target="../charts/chart5.xml"/><Relationship Id="rId9" Type="http://schemas.openxmlformats.org/officeDocument/2006/relationships/chart" Target="../charts/char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chart" Target="../charts/chart18.xml"/><Relationship Id="rId3" Type="http://schemas.openxmlformats.org/officeDocument/2006/relationships/image" Target="../media/image4.svg"/><Relationship Id="rId21" Type="http://schemas.openxmlformats.org/officeDocument/2006/relationships/chart" Target="../charts/chart21.xml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chart" Target="../charts/chart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24" Type="http://schemas.openxmlformats.org/officeDocument/2006/relationships/image" Target="../media/image19.pn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microsoft.com/office/2014/relationships/chartEx" Target="../charts/chartEx1.xml"/><Relationship Id="rId10" Type="http://schemas.openxmlformats.org/officeDocument/2006/relationships/image" Target="../media/image11.png"/><Relationship Id="rId19" Type="http://schemas.openxmlformats.org/officeDocument/2006/relationships/chart" Target="../charts/chart19.xml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chart" Target="../charts/char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microsoft.com/office/2014/relationships/chartEx" Target="../charts/chartEx2.xml"/><Relationship Id="rId4" Type="http://schemas.openxmlformats.org/officeDocument/2006/relationships/chart" Target="../charts/char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chart" Target="../charts/chart35.xml"/><Relationship Id="rId18" Type="http://schemas.openxmlformats.org/officeDocument/2006/relationships/image" Target="../media/image27.svg"/><Relationship Id="rId26" Type="http://schemas.openxmlformats.org/officeDocument/2006/relationships/image" Target="../media/image35.svg"/><Relationship Id="rId3" Type="http://schemas.openxmlformats.org/officeDocument/2006/relationships/chart" Target="../charts/chart28.xml"/><Relationship Id="rId21" Type="http://schemas.openxmlformats.org/officeDocument/2006/relationships/image" Target="../media/image30.png"/><Relationship Id="rId7" Type="http://schemas.openxmlformats.org/officeDocument/2006/relationships/image" Target="../media/image22.png"/><Relationship Id="rId12" Type="http://schemas.openxmlformats.org/officeDocument/2006/relationships/chart" Target="../charts/chart34.xml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chart" Target="../charts/chart27.xml"/><Relationship Id="rId16" Type="http://schemas.openxmlformats.org/officeDocument/2006/relationships/image" Target="../media/image25.svg"/><Relationship Id="rId20" Type="http://schemas.openxmlformats.org/officeDocument/2006/relationships/image" Target="../media/image29.svg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1.png"/><Relationship Id="rId11" Type="http://schemas.openxmlformats.org/officeDocument/2006/relationships/chart" Target="../charts/chart33.xml"/><Relationship Id="rId24" Type="http://schemas.openxmlformats.org/officeDocument/2006/relationships/image" Target="../media/image33.svg"/><Relationship Id="rId32" Type="http://schemas.openxmlformats.org/officeDocument/2006/relationships/image" Target="../media/image41.svg"/><Relationship Id="rId5" Type="http://schemas.openxmlformats.org/officeDocument/2006/relationships/chart" Target="../charts/chart30.xml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37.svg"/><Relationship Id="rId10" Type="http://schemas.openxmlformats.org/officeDocument/2006/relationships/chart" Target="../charts/chart32.xml"/><Relationship Id="rId19" Type="http://schemas.openxmlformats.org/officeDocument/2006/relationships/image" Target="../media/image28.png"/><Relationship Id="rId31" Type="http://schemas.openxmlformats.org/officeDocument/2006/relationships/image" Target="../media/image40.png"/><Relationship Id="rId4" Type="http://schemas.openxmlformats.org/officeDocument/2006/relationships/chart" Target="../charts/chart29.xml"/><Relationship Id="rId9" Type="http://schemas.openxmlformats.org/officeDocument/2006/relationships/chart" Target="../charts/chart31.xml"/><Relationship Id="rId14" Type="http://schemas.openxmlformats.org/officeDocument/2006/relationships/chart" Target="../charts/chart36.xml"/><Relationship Id="rId22" Type="http://schemas.openxmlformats.org/officeDocument/2006/relationships/image" Target="../media/image31.svg"/><Relationship Id="rId27" Type="http://schemas.openxmlformats.org/officeDocument/2006/relationships/image" Target="../media/image36.png"/><Relationship Id="rId30" Type="http://schemas.openxmlformats.org/officeDocument/2006/relationships/image" Target="../media/image3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3.xml"/><Relationship Id="rId3" Type="http://schemas.openxmlformats.org/officeDocument/2006/relationships/chart" Target="../charts/chart38.xml"/><Relationship Id="rId7" Type="http://schemas.openxmlformats.org/officeDocument/2006/relationships/chart" Target="../charts/chart42.xml"/><Relationship Id="rId2" Type="http://schemas.openxmlformats.org/officeDocument/2006/relationships/chart" Target="../charts/chart37.xml"/><Relationship Id="rId1" Type="http://schemas.openxmlformats.org/officeDocument/2006/relationships/slideLayout" Target="../slideLayouts/slideLayout13.xml"/><Relationship Id="rId6" Type="http://schemas.openxmlformats.org/officeDocument/2006/relationships/chart" Target="../charts/chart41.xml"/><Relationship Id="rId5" Type="http://schemas.openxmlformats.org/officeDocument/2006/relationships/chart" Target="../charts/chart40.xml"/><Relationship Id="rId10" Type="http://schemas.openxmlformats.org/officeDocument/2006/relationships/chart" Target="../charts/chart45.xml"/><Relationship Id="rId4" Type="http://schemas.openxmlformats.org/officeDocument/2006/relationships/chart" Target="../charts/chart39.xml"/><Relationship Id="rId9" Type="http://schemas.openxmlformats.org/officeDocument/2006/relationships/chart" Target="../charts/chart4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7.xml"/><Relationship Id="rId2" Type="http://schemas.openxmlformats.org/officeDocument/2006/relationships/chart" Target="../charts/chart46.xml"/><Relationship Id="rId1" Type="http://schemas.openxmlformats.org/officeDocument/2006/relationships/slideLayout" Target="../slideLayouts/slideLayout13.xml"/><Relationship Id="rId6" Type="http://schemas.openxmlformats.org/officeDocument/2006/relationships/chart" Target="../charts/chart50.xml"/><Relationship Id="rId5" Type="http://schemas.openxmlformats.org/officeDocument/2006/relationships/chart" Target="../charts/chart49.xml"/><Relationship Id="rId4" Type="http://schemas.openxmlformats.org/officeDocument/2006/relationships/chart" Target="../charts/char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A07CB08C-2259-A1CB-AAC8-0DD605F4E70B}"/>
              </a:ext>
            </a:extLst>
          </p:cNvPr>
          <p:cNvGraphicFramePr/>
          <p:nvPr/>
        </p:nvGraphicFramePr>
        <p:xfrm>
          <a:off x="199602" y="5008170"/>
          <a:ext cx="2388462" cy="19727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agramm 10">
            <a:extLst>
              <a:ext uri="{FF2B5EF4-FFF2-40B4-BE49-F238E27FC236}">
                <a16:creationId xmlns:a16="http://schemas.microsoft.com/office/drawing/2014/main" id="{59F8F76D-A8F3-4870-6335-004BB2E5EEA7}"/>
              </a:ext>
            </a:extLst>
          </p:cNvPr>
          <p:cNvGraphicFramePr/>
          <p:nvPr/>
        </p:nvGraphicFramePr>
        <p:xfrm>
          <a:off x="9109390" y="5096810"/>
          <a:ext cx="3117220" cy="188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Ellipse 6">
            <a:extLst>
              <a:ext uri="{FF2B5EF4-FFF2-40B4-BE49-F238E27FC236}">
                <a16:creationId xmlns:a16="http://schemas.microsoft.com/office/drawing/2014/main" id="{2F4FC571-28B5-871A-CEA9-1A24B8CF3B65}"/>
              </a:ext>
            </a:extLst>
          </p:cNvPr>
          <p:cNvSpPr/>
          <p:nvPr/>
        </p:nvSpPr>
        <p:spPr>
          <a:xfrm>
            <a:off x="71479" y="0"/>
            <a:ext cx="1549450" cy="1900974"/>
          </a:xfrm>
          <a:custGeom>
            <a:avLst/>
            <a:gdLst>
              <a:gd name="connsiteX0" fmla="*/ 0 w 2155372"/>
              <a:gd name="connsiteY0" fmla="*/ 1045029 h 2090057"/>
              <a:gd name="connsiteX1" fmla="*/ 1077686 w 2155372"/>
              <a:gd name="connsiteY1" fmla="*/ 0 h 2090057"/>
              <a:gd name="connsiteX2" fmla="*/ 2155372 w 2155372"/>
              <a:gd name="connsiteY2" fmla="*/ 1045029 h 2090057"/>
              <a:gd name="connsiteX3" fmla="*/ 1077686 w 2155372"/>
              <a:gd name="connsiteY3" fmla="*/ 2090058 h 2090057"/>
              <a:gd name="connsiteX4" fmla="*/ 0 w 2155372"/>
              <a:gd name="connsiteY4" fmla="*/ 1045029 h 2090057"/>
              <a:gd name="connsiteX0" fmla="*/ 3012 w 2158384"/>
              <a:gd name="connsiteY0" fmla="*/ 548872 h 1593901"/>
              <a:gd name="connsiteX1" fmla="*/ 1368081 w 2158384"/>
              <a:gd name="connsiteY1" fmla="*/ 231 h 1593901"/>
              <a:gd name="connsiteX2" fmla="*/ 2158384 w 2158384"/>
              <a:gd name="connsiteY2" fmla="*/ 548872 h 1593901"/>
              <a:gd name="connsiteX3" fmla="*/ 1080698 w 2158384"/>
              <a:gd name="connsiteY3" fmla="*/ 1593901 h 1593901"/>
              <a:gd name="connsiteX4" fmla="*/ 3012 w 2158384"/>
              <a:gd name="connsiteY4" fmla="*/ 548872 h 1593901"/>
              <a:gd name="connsiteX0" fmla="*/ 5733 w 1554202"/>
              <a:gd name="connsiteY0" fmla="*/ 508315 h 1593874"/>
              <a:gd name="connsiteX1" fmla="*/ 763899 w 1554202"/>
              <a:gd name="connsiteY1" fmla="*/ 134 h 1593874"/>
              <a:gd name="connsiteX2" fmla="*/ 1554202 w 1554202"/>
              <a:gd name="connsiteY2" fmla="*/ 548775 h 1593874"/>
              <a:gd name="connsiteX3" fmla="*/ 476516 w 1554202"/>
              <a:gd name="connsiteY3" fmla="*/ 1593804 h 1593874"/>
              <a:gd name="connsiteX4" fmla="*/ 5733 w 1554202"/>
              <a:gd name="connsiteY4" fmla="*/ 508315 h 1593874"/>
              <a:gd name="connsiteX0" fmla="*/ 1 w 1548470"/>
              <a:gd name="connsiteY0" fmla="*/ 511562 h 1597121"/>
              <a:gd name="connsiteX1" fmla="*/ 758167 w 1548470"/>
              <a:gd name="connsiteY1" fmla="*/ 3381 h 1597121"/>
              <a:gd name="connsiteX2" fmla="*/ 1548470 w 1548470"/>
              <a:gd name="connsiteY2" fmla="*/ 552022 h 1597121"/>
              <a:gd name="connsiteX3" fmla="*/ 470784 w 1548470"/>
              <a:gd name="connsiteY3" fmla="*/ 1597051 h 1597121"/>
              <a:gd name="connsiteX4" fmla="*/ 1 w 1548470"/>
              <a:gd name="connsiteY4" fmla="*/ 511562 h 1597121"/>
              <a:gd name="connsiteX0" fmla="*/ 4555 w 1553024"/>
              <a:gd name="connsiteY0" fmla="*/ 508341 h 1844729"/>
              <a:gd name="connsiteX1" fmla="*/ 762721 w 1553024"/>
              <a:gd name="connsiteY1" fmla="*/ 160 h 1844729"/>
              <a:gd name="connsiteX2" fmla="*/ 1553024 w 1553024"/>
              <a:gd name="connsiteY2" fmla="*/ 548801 h 1844729"/>
              <a:gd name="connsiteX3" fmla="*/ 499614 w 1553024"/>
              <a:gd name="connsiteY3" fmla="*/ 1844683 h 1844729"/>
              <a:gd name="connsiteX4" fmla="*/ 4555 w 1553024"/>
              <a:gd name="connsiteY4" fmla="*/ 508341 h 1844729"/>
              <a:gd name="connsiteX0" fmla="*/ 981 w 1549450"/>
              <a:gd name="connsiteY0" fmla="*/ 508341 h 1900974"/>
              <a:gd name="connsiteX1" fmla="*/ 759147 w 1549450"/>
              <a:gd name="connsiteY1" fmla="*/ 160 h 1900974"/>
              <a:gd name="connsiteX2" fmla="*/ 1549450 w 1549450"/>
              <a:gd name="connsiteY2" fmla="*/ 548801 h 1900974"/>
              <a:gd name="connsiteX3" fmla="*/ 496040 w 1549450"/>
              <a:gd name="connsiteY3" fmla="*/ 1844683 h 1900974"/>
              <a:gd name="connsiteX4" fmla="*/ 981 w 1549450"/>
              <a:gd name="connsiteY4" fmla="*/ 508341 h 190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9450" h="1900974">
                <a:moveTo>
                  <a:pt x="981" y="508341"/>
                </a:moveTo>
                <a:cubicBezTo>
                  <a:pt x="44832" y="200921"/>
                  <a:pt x="501069" y="-6583"/>
                  <a:pt x="759147" y="160"/>
                </a:cubicBezTo>
                <a:cubicBezTo>
                  <a:pt x="1017225" y="6903"/>
                  <a:pt x="1549450" y="-28353"/>
                  <a:pt x="1549450" y="548801"/>
                </a:cubicBezTo>
                <a:cubicBezTo>
                  <a:pt x="1549450" y="1125955"/>
                  <a:pt x="-411135" y="1495376"/>
                  <a:pt x="496040" y="1844683"/>
                </a:cubicBezTo>
                <a:cubicBezTo>
                  <a:pt x="1403215" y="2193990"/>
                  <a:pt x="-42870" y="815761"/>
                  <a:pt x="981" y="508341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Light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8EE463D-D930-DE95-082F-5A5AD261D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991" y="2942202"/>
            <a:ext cx="10764456" cy="973596"/>
          </a:xfrm>
        </p:spPr>
        <p:txBody>
          <a:bodyPr/>
          <a:lstStyle/>
          <a:p>
            <a:r>
              <a:rPr lang="de-DE">
                <a:solidFill>
                  <a:schemeClr val="bg2"/>
                </a:solidFill>
              </a:rPr>
              <a:t>Dashboard – Prototyping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B303A10-3DFE-7208-C407-BED23F8ACD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err="1">
                <a:solidFill>
                  <a:schemeClr val="bg2"/>
                </a:solidFill>
              </a:rPr>
              <a:t>by</a:t>
            </a:r>
            <a:endParaRPr lang="de-DE">
              <a:solidFill>
                <a:schemeClr val="bg2"/>
              </a:solidFill>
            </a:endParaRPr>
          </a:p>
        </p:txBody>
      </p:sp>
      <p:pic>
        <p:nvPicPr>
          <p:cNvPr id="5" name="Grafik 4" descr="Ein Bild, das Grafiken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E6B37DBB-0D2E-AF66-B714-E7B91AE747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560" y="3915346"/>
            <a:ext cx="5134879" cy="1029145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A7C2D395-7062-317A-719C-57CEEF709DF5}"/>
              </a:ext>
            </a:extLst>
          </p:cNvPr>
          <p:cNvSpPr/>
          <p:nvPr/>
        </p:nvSpPr>
        <p:spPr>
          <a:xfrm>
            <a:off x="0" y="0"/>
            <a:ext cx="1549450" cy="1900974"/>
          </a:xfrm>
          <a:custGeom>
            <a:avLst/>
            <a:gdLst>
              <a:gd name="connsiteX0" fmla="*/ 0 w 2155372"/>
              <a:gd name="connsiteY0" fmla="*/ 1045029 h 2090057"/>
              <a:gd name="connsiteX1" fmla="*/ 1077686 w 2155372"/>
              <a:gd name="connsiteY1" fmla="*/ 0 h 2090057"/>
              <a:gd name="connsiteX2" fmla="*/ 2155372 w 2155372"/>
              <a:gd name="connsiteY2" fmla="*/ 1045029 h 2090057"/>
              <a:gd name="connsiteX3" fmla="*/ 1077686 w 2155372"/>
              <a:gd name="connsiteY3" fmla="*/ 2090058 h 2090057"/>
              <a:gd name="connsiteX4" fmla="*/ 0 w 2155372"/>
              <a:gd name="connsiteY4" fmla="*/ 1045029 h 2090057"/>
              <a:gd name="connsiteX0" fmla="*/ 3012 w 2158384"/>
              <a:gd name="connsiteY0" fmla="*/ 548872 h 1593901"/>
              <a:gd name="connsiteX1" fmla="*/ 1368081 w 2158384"/>
              <a:gd name="connsiteY1" fmla="*/ 231 h 1593901"/>
              <a:gd name="connsiteX2" fmla="*/ 2158384 w 2158384"/>
              <a:gd name="connsiteY2" fmla="*/ 548872 h 1593901"/>
              <a:gd name="connsiteX3" fmla="*/ 1080698 w 2158384"/>
              <a:gd name="connsiteY3" fmla="*/ 1593901 h 1593901"/>
              <a:gd name="connsiteX4" fmla="*/ 3012 w 2158384"/>
              <a:gd name="connsiteY4" fmla="*/ 548872 h 1593901"/>
              <a:gd name="connsiteX0" fmla="*/ 5733 w 1554202"/>
              <a:gd name="connsiteY0" fmla="*/ 508315 h 1593874"/>
              <a:gd name="connsiteX1" fmla="*/ 763899 w 1554202"/>
              <a:gd name="connsiteY1" fmla="*/ 134 h 1593874"/>
              <a:gd name="connsiteX2" fmla="*/ 1554202 w 1554202"/>
              <a:gd name="connsiteY2" fmla="*/ 548775 h 1593874"/>
              <a:gd name="connsiteX3" fmla="*/ 476516 w 1554202"/>
              <a:gd name="connsiteY3" fmla="*/ 1593804 h 1593874"/>
              <a:gd name="connsiteX4" fmla="*/ 5733 w 1554202"/>
              <a:gd name="connsiteY4" fmla="*/ 508315 h 1593874"/>
              <a:gd name="connsiteX0" fmla="*/ 1 w 1548470"/>
              <a:gd name="connsiteY0" fmla="*/ 511562 h 1597121"/>
              <a:gd name="connsiteX1" fmla="*/ 758167 w 1548470"/>
              <a:gd name="connsiteY1" fmla="*/ 3381 h 1597121"/>
              <a:gd name="connsiteX2" fmla="*/ 1548470 w 1548470"/>
              <a:gd name="connsiteY2" fmla="*/ 552022 h 1597121"/>
              <a:gd name="connsiteX3" fmla="*/ 470784 w 1548470"/>
              <a:gd name="connsiteY3" fmla="*/ 1597051 h 1597121"/>
              <a:gd name="connsiteX4" fmla="*/ 1 w 1548470"/>
              <a:gd name="connsiteY4" fmla="*/ 511562 h 1597121"/>
              <a:gd name="connsiteX0" fmla="*/ 4555 w 1553024"/>
              <a:gd name="connsiteY0" fmla="*/ 508341 h 1844729"/>
              <a:gd name="connsiteX1" fmla="*/ 762721 w 1553024"/>
              <a:gd name="connsiteY1" fmla="*/ 160 h 1844729"/>
              <a:gd name="connsiteX2" fmla="*/ 1553024 w 1553024"/>
              <a:gd name="connsiteY2" fmla="*/ 548801 h 1844729"/>
              <a:gd name="connsiteX3" fmla="*/ 499614 w 1553024"/>
              <a:gd name="connsiteY3" fmla="*/ 1844683 h 1844729"/>
              <a:gd name="connsiteX4" fmla="*/ 4555 w 1553024"/>
              <a:gd name="connsiteY4" fmla="*/ 508341 h 1844729"/>
              <a:gd name="connsiteX0" fmla="*/ 981 w 1549450"/>
              <a:gd name="connsiteY0" fmla="*/ 508341 h 1900974"/>
              <a:gd name="connsiteX1" fmla="*/ 759147 w 1549450"/>
              <a:gd name="connsiteY1" fmla="*/ 160 h 1900974"/>
              <a:gd name="connsiteX2" fmla="*/ 1549450 w 1549450"/>
              <a:gd name="connsiteY2" fmla="*/ 548801 h 1900974"/>
              <a:gd name="connsiteX3" fmla="*/ 496040 w 1549450"/>
              <a:gd name="connsiteY3" fmla="*/ 1844683 h 1900974"/>
              <a:gd name="connsiteX4" fmla="*/ 981 w 1549450"/>
              <a:gd name="connsiteY4" fmla="*/ 508341 h 190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9450" h="1900974">
                <a:moveTo>
                  <a:pt x="981" y="508341"/>
                </a:moveTo>
                <a:cubicBezTo>
                  <a:pt x="44832" y="200921"/>
                  <a:pt x="501069" y="-6583"/>
                  <a:pt x="759147" y="160"/>
                </a:cubicBezTo>
                <a:cubicBezTo>
                  <a:pt x="1017225" y="6903"/>
                  <a:pt x="1549450" y="-28353"/>
                  <a:pt x="1549450" y="548801"/>
                </a:cubicBezTo>
                <a:cubicBezTo>
                  <a:pt x="1549450" y="1125955"/>
                  <a:pt x="-411135" y="1495376"/>
                  <a:pt x="496040" y="1844683"/>
                </a:cubicBezTo>
                <a:cubicBezTo>
                  <a:pt x="1403215" y="2193990"/>
                  <a:pt x="-42870" y="815761"/>
                  <a:pt x="981" y="508341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Light"/>
              <a:ea typeface="+mn-ea"/>
              <a:cs typeface="+mn-cs"/>
            </a:endParaRPr>
          </a:p>
        </p:txBody>
      </p:sp>
      <p:sp>
        <p:nvSpPr>
          <p:cNvPr id="9" name="Gleichschenkliges Dreieck 8">
            <a:extLst>
              <a:ext uri="{FF2B5EF4-FFF2-40B4-BE49-F238E27FC236}">
                <a16:creationId xmlns:a16="http://schemas.microsoft.com/office/drawing/2014/main" id="{F9D261FE-D350-6DF1-7153-30581647EB3B}"/>
              </a:ext>
            </a:extLst>
          </p:cNvPr>
          <p:cNvSpPr/>
          <p:nvPr/>
        </p:nvSpPr>
        <p:spPr>
          <a:xfrm>
            <a:off x="0" y="5735637"/>
            <a:ext cx="12192000" cy="1122363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Light"/>
              <a:ea typeface="+mn-ea"/>
              <a:cs typeface="+mn-cs"/>
            </a:endParaRPr>
          </a:p>
        </p:txBody>
      </p:sp>
      <p:sp>
        <p:nvSpPr>
          <p:cNvPr id="10" name="Gleichschenkliges Dreieck 9">
            <a:extLst>
              <a:ext uri="{FF2B5EF4-FFF2-40B4-BE49-F238E27FC236}">
                <a16:creationId xmlns:a16="http://schemas.microsoft.com/office/drawing/2014/main" id="{AA9A39C8-E200-B9AC-1FB8-7460211670D7}"/>
              </a:ext>
            </a:extLst>
          </p:cNvPr>
          <p:cNvSpPr/>
          <p:nvPr/>
        </p:nvSpPr>
        <p:spPr>
          <a:xfrm>
            <a:off x="0" y="5823301"/>
            <a:ext cx="12192000" cy="1034699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445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B17EF79C-836B-AE39-2F26-3326C5E519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4570422"/>
              </p:ext>
            </p:extLst>
          </p:nvPr>
        </p:nvGraphicFramePr>
        <p:xfrm>
          <a:off x="333375" y="896619"/>
          <a:ext cx="11525250" cy="6010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9160">
                  <a:extLst>
                    <a:ext uri="{9D8B030D-6E8A-4147-A177-3AD203B41FA5}">
                      <a16:colId xmlns:a16="http://schemas.microsoft.com/office/drawing/2014/main" val="811395635"/>
                    </a:ext>
                  </a:extLst>
                </a:gridCol>
                <a:gridCol w="7196090">
                  <a:extLst>
                    <a:ext uri="{9D8B030D-6E8A-4147-A177-3AD203B41FA5}">
                      <a16:colId xmlns:a16="http://schemas.microsoft.com/office/drawing/2014/main" val="3080391933"/>
                    </a:ext>
                  </a:extLst>
                </a:gridCol>
              </a:tblGrid>
              <a:tr h="388548">
                <a:tc>
                  <a:txBody>
                    <a:bodyPr/>
                    <a:lstStyle/>
                    <a:p>
                      <a:endParaRPr lang="de-DE" sz="1200" b="0">
                        <a:latin typeface="Montserrat Light" panose="000004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93238"/>
                  </a:ext>
                </a:extLst>
              </a:tr>
              <a:tr h="485684">
                <a:tc>
                  <a:txBody>
                    <a:bodyPr/>
                    <a:lstStyle/>
                    <a:p>
                      <a:r>
                        <a:rPr lang="de-DE" sz="1200">
                          <a:latin typeface="Montserrat Light" panose="00000400000000000000" pitchFamily="2" charset="0"/>
                        </a:rPr>
                        <a:t>Wer nutzt das Dashboard – Person / Rolle / Abteilung / Bereich?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 dirty="0">
                        <a:latin typeface="Montserrat Light" panose="000004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738453"/>
                  </a:ext>
                </a:extLst>
              </a:tr>
              <a:tr h="485684">
                <a:tc>
                  <a:txBody>
                    <a:bodyPr/>
                    <a:lstStyle/>
                    <a:p>
                      <a:r>
                        <a:rPr lang="de-DE" sz="1200">
                          <a:latin typeface="Montserrat Light" panose="00000400000000000000" pitchFamily="2" charset="0"/>
                        </a:rPr>
                        <a:t>Geht es um Operative/Strategische Entscheidungen oder eher Analytische Fragestellungen?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latin typeface="Montserrat Light" panose="00000400000000000000" pitchFamily="2" charset="0"/>
                        </a:rPr>
                        <a:t>Strategisch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123640"/>
                  </a:ext>
                </a:extLst>
              </a:tr>
              <a:tr h="4856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>
                          <a:latin typeface="Montserrat Light" panose="00000400000000000000" pitchFamily="2" charset="0"/>
                        </a:rPr>
                        <a:t>Welche Erkenntnisse soll das Dashboard liefern? Welche Entscheidungen sollen damit getroffen werden?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solidFill>
                            <a:schemeClr val="tx1"/>
                          </a:solidFill>
                          <a:latin typeface="Montserrat Light" panose="00000400000000000000" pitchFamily="2" charset="0"/>
                        </a:rPr>
                        <a:t>Wie viele Verlustmengen haben wir?</a:t>
                      </a:r>
                    </a:p>
                    <a:p>
                      <a:r>
                        <a:rPr lang="de-DE" sz="1200" dirty="0">
                          <a:solidFill>
                            <a:schemeClr val="tx1"/>
                          </a:solidFill>
                          <a:latin typeface="Montserrat Light" panose="00000400000000000000" pitchFamily="2" charset="0"/>
                        </a:rPr>
                        <a:t>Wie viele Reklamationen gibt es und welche Menge wurde reklamiert?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76204"/>
                  </a:ext>
                </a:extLst>
              </a:tr>
              <a:tr h="485684">
                <a:tc>
                  <a:txBody>
                    <a:bodyPr/>
                    <a:lstStyle/>
                    <a:p>
                      <a:r>
                        <a:rPr lang="de-DE" sz="1200">
                          <a:latin typeface="Montserrat Light" panose="00000400000000000000" pitchFamily="2" charset="0"/>
                        </a:rPr>
                        <a:t>Nenne mind. 3 – 4 relevante </a:t>
                      </a:r>
                      <a:r>
                        <a:rPr lang="de-DE" sz="1200" err="1">
                          <a:latin typeface="Montserrat Light" panose="00000400000000000000" pitchFamily="2" charset="0"/>
                        </a:rPr>
                        <a:t>KPI´s</a:t>
                      </a:r>
                      <a:r>
                        <a:rPr lang="de-DE" sz="1200">
                          <a:latin typeface="Montserrat Light" panose="00000400000000000000" pitchFamily="2" charset="0"/>
                        </a:rPr>
                        <a:t> zu dem Anwendungsfall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solidFill>
                            <a:schemeClr val="tx1"/>
                          </a:solidFill>
                          <a:latin typeface="Montserrat Light" panose="00000400000000000000" pitchFamily="2" charset="0"/>
                        </a:rPr>
                        <a:t>Menge Dicksaure, Menge </a:t>
                      </a:r>
                      <a:r>
                        <a:rPr lang="de-DE" sz="1200" dirty="0" err="1">
                          <a:solidFill>
                            <a:schemeClr val="tx1"/>
                          </a:solidFill>
                          <a:latin typeface="Montserrat Light" panose="00000400000000000000" pitchFamily="2" charset="0"/>
                        </a:rPr>
                        <a:t>Rework</a:t>
                      </a:r>
                      <a:r>
                        <a:rPr lang="de-DE" sz="1200" dirty="0">
                          <a:solidFill>
                            <a:schemeClr val="tx1"/>
                          </a:solidFill>
                          <a:latin typeface="Montserrat Light" panose="00000400000000000000" pitchFamily="2" charset="0"/>
                        </a:rPr>
                        <a:t>, Menge Entsorgung, Fettgehalt Dick-Saure, </a:t>
                      </a:r>
                      <a:r>
                        <a:rPr lang="de-DE" sz="1200" dirty="0" err="1">
                          <a:solidFill>
                            <a:schemeClr val="tx1"/>
                          </a:solidFill>
                          <a:latin typeface="Montserrat Light" panose="00000400000000000000" pitchFamily="2" charset="0"/>
                        </a:rPr>
                        <a:t>Trockmasse</a:t>
                      </a:r>
                      <a:r>
                        <a:rPr lang="de-DE" sz="1200" dirty="0">
                          <a:solidFill>
                            <a:schemeClr val="tx1"/>
                          </a:solidFill>
                          <a:latin typeface="Montserrat Light" panose="00000400000000000000" pitchFamily="2" charset="0"/>
                        </a:rPr>
                        <a:t> Dick-Saure, Anzahl QS Reklamationen, Anzahl Verkaufsreklamationen, Menge Verkaufsreklamationen, Produzierte menge, Produzierte Menge mit Fehler, Fehlerquote, </a:t>
                      </a:r>
                      <a:r>
                        <a:rPr lang="de-DE" sz="1200" dirty="0" err="1">
                          <a:solidFill>
                            <a:schemeClr val="tx1"/>
                          </a:solidFill>
                          <a:latin typeface="Montserrat Light" panose="00000400000000000000" pitchFamily="2" charset="0"/>
                        </a:rPr>
                        <a:t>anzahl</a:t>
                      </a:r>
                      <a:r>
                        <a:rPr lang="de-DE" sz="1200" dirty="0">
                          <a:solidFill>
                            <a:schemeClr val="tx1"/>
                          </a:solidFill>
                          <a:latin typeface="Montserrat Light" panose="00000400000000000000" pitchFamily="2" charset="0"/>
                        </a:rPr>
                        <a:t> Chargen, Anzahl Chargengröße, Ø Chargengröße, Anzahl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020179"/>
                  </a:ext>
                </a:extLst>
              </a:tr>
              <a:tr h="485684">
                <a:tc>
                  <a:txBody>
                    <a:bodyPr/>
                    <a:lstStyle/>
                    <a:p>
                      <a:r>
                        <a:rPr lang="de-DE" sz="1200">
                          <a:latin typeface="Montserrat Light" panose="00000400000000000000" pitchFamily="2" charset="0"/>
                        </a:rPr>
                        <a:t>Werden die Werte verglichen? Womit, VJ, BUD, FC….etc.?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latin typeface="Montserrat Light" panose="00000400000000000000" pitchFamily="2" charset="0"/>
                        </a:rPr>
                        <a:t>Ø-Wert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314129"/>
                  </a:ext>
                </a:extLst>
              </a:tr>
              <a:tr h="485684">
                <a:tc>
                  <a:txBody>
                    <a:bodyPr/>
                    <a:lstStyle/>
                    <a:p>
                      <a:r>
                        <a:rPr lang="de-DE" sz="1200">
                          <a:latin typeface="Montserrat Light" panose="00000400000000000000" pitchFamily="2" charset="0"/>
                        </a:rPr>
                        <a:t>Nach welchen Merkmalen soll die KPI abgebildet werden?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solidFill>
                            <a:schemeClr val="accent1"/>
                          </a:solidFill>
                          <a:latin typeface="Montserrat Light" panose="00000400000000000000" pitchFamily="2" charset="0"/>
                        </a:rPr>
                        <a:t>Reklamationsarten(Einkauf, Verkauf, Objekte, Intern), Zeit, Kunde</a:t>
                      </a:r>
                      <a:r>
                        <a:rPr lang="de-DE" sz="1200">
                          <a:solidFill>
                            <a:schemeClr val="accent1"/>
                          </a:solidFill>
                          <a:latin typeface="Montserrat Light" panose="00000400000000000000" pitchFamily="2" charset="0"/>
                        </a:rPr>
                        <a:t>, Artikel</a:t>
                      </a:r>
                      <a:endParaRPr lang="de-DE" sz="1200" dirty="0">
                        <a:solidFill>
                          <a:schemeClr val="accent1"/>
                        </a:solidFill>
                        <a:latin typeface="Montserrat Light" panose="000004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38701"/>
                  </a:ext>
                </a:extLst>
              </a:tr>
              <a:tr h="485684">
                <a:tc>
                  <a:txBody>
                    <a:bodyPr/>
                    <a:lstStyle/>
                    <a:p>
                      <a:r>
                        <a:rPr lang="de-DE" sz="1200">
                          <a:latin typeface="Montserrat Light" panose="00000400000000000000" pitchFamily="2" charset="0"/>
                        </a:rPr>
                        <a:t>Wie oft werden die Daten benötigt? Tageaktuell, monatlich....?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>
                        <a:latin typeface="Montserrat Light" panose="000004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424731"/>
                  </a:ext>
                </a:extLst>
              </a:tr>
              <a:tr h="393944">
                <a:tc>
                  <a:txBody>
                    <a:bodyPr/>
                    <a:lstStyle/>
                    <a:p>
                      <a:r>
                        <a:rPr lang="de-DE" sz="1200">
                          <a:latin typeface="Montserrat Light" panose="00000400000000000000" pitchFamily="2" charset="0"/>
                        </a:rPr>
                        <a:t>Sonstiges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latin typeface="Montserrat Light" panose="00000400000000000000" pitchFamily="2" charset="0"/>
                        </a:rPr>
                        <a:t>Viele unterschiedliche Excel-Tabellen, die von Philipp gefüllt werden monatlich und Jörg baut dann das KPI-</a:t>
                      </a:r>
                      <a:r>
                        <a:rPr lang="de-DE" sz="1200" dirty="0" err="1">
                          <a:latin typeface="Montserrat Light" panose="00000400000000000000" pitchFamily="2" charset="0"/>
                        </a:rPr>
                        <a:t>Dahboard</a:t>
                      </a:r>
                      <a:r>
                        <a:rPr lang="de-DE" sz="1200" dirty="0">
                          <a:latin typeface="Montserrat Light" panose="00000400000000000000" pitchFamily="2" charset="0"/>
                        </a:rPr>
                        <a:t>, Prüfaufträge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114305"/>
                  </a:ext>
                </a:extLst>
              </a:tr>
              <a:tr h="485684">
                <a:tc>
                  <a:txBody>
                    <a:bodyPr/>
                    <a:lstStyle/>
                    <a:p>
                      <a:r>
                        <a:rPr lang="de-DE" sz="1200">
                          <a:latin typeface="Montserrat Light" panose="00000400000000000000" pitchFamily="2" charset="0"/>
                        </a:rPr>
                        <a:t>Ansprechpartner / Rollen z.B. für Datenquellen, Datenmodell, Daten i. Allgemeinen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>
                        <a:latin typeface="Montserrat Light" panose="000004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426487"/>
                  </a:ext>
                </a:extLst>
              </a:tr>
              <a:tr h="393944">
                <a:tc>
                  <a:txBody>
                    <a:bodyPr/>
                    <a:lstStyle/>
                    <a:p>
                      <a:r>
                        <a:rPr lang="de-DE" sz="1200">
                          <a:latin typeface="Montserrat Light" panose="00000400000000000000" pitchFamily="2" charset="0"/>
                        </a:rPr>
                        <a:t>Nicht im </a:t>
                      </a:r>
                      <a:r>
                        <a:rPr lang="de-DE" sz="1200" err="1">
                          <a:latin typeface="Montserrat Light" panose="00000400000000000000" pitchFamily="2" charset="0"/>
                        </a:rPr>
                        <a:t>Scope</a:t>
                      </a:r>
                      <a:endParaRPr lang="de-DE" sz="1200">
                        <a:latin typeface="Montserrat Light" panose="000004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>
                        <a:latin typeface="Montserrat Light" panose="000004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037421"/>
                  </a:ext>
                </a:extLst>
              </a:tr>
              <a:tr h="393944">
                <a:tc>
                  <a:txBody>
                    <a:bodyPr/>
                    <a:lstStyle/>
                    <a:p>
                      <a:endParaRPr lang="de-DE" sz="1000">
                        <a:latin typeface="Montserrat Light" panose="000004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 dirty="0">
                        <a:latin typeface="Montserrat Light" panose="000004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759811"/>
                  </a:ext>
                </a:extLst>
              </a:tr>
            </a:tbl>
          </a:graphicData>
        </a:graphic>
      </p:graphicFrame>
      <p:sp>
        <p:nvSpPr>
          <p:cNvPr id="5" name="Titel 4">
            <a:extLst>
              <a:ext uri="{FF2B5EF4-FFF2-40B4-BE49-F238E27FC236}">
                <a16:creationId xmlns:a16="http://schemas.microsoft.com/office/drawing/2014/main" id="{8F455BB2-42FF-CF7C-6700-E135062E8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Dashboard Fragebogen – QS (Vieles in Excel abgebildet)</a:t>
            </a:r>
          </a:p>
        </p:txBody>
      </p:sp>
    </p:spTree>
    <p:extLst>
      <p:ext uri="{BB962C8B-B14F-4D97-AF65-F5344CB8AC3E}">
        <p14:creationId xmlns:p14="http://schemas.microsoft.com/office/powerpoint/2010/main" val="4182604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94FCE77C-2E51-3640-17AF-69C6EA94BD6A}"/>
              </a:ext>
            </a:extLst>
          </p:cNvPr>
          <p:cNvSpPr txBox="1"/>
          <p:nvPr/>
        </p:nvSpPr>
        <p:spPr>
          <a:xfrm>
            <a:off x="199079" y="310172"/>
            <a:ext cx="4519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Was I </a:t>
            </a:r>
            <a:r>
              <a:rPr lang="de-DE">
                <a:solidFill>
                  <a:srgbClr val="000000"/>
                </a:solidFill>
                <a:latin typeface="Montserrat Light"/>
              </a:rPr>
              <a:t>Einheit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 I Zeit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7132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5475CFD-2EFA-2078-A969-3EBA2130C6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4205B67-7B05-8323-C568-AF87E8E650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7F494B9-FF16-9DB9-16F4-0BA50FCF65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1B62FC80-EF53-6719-6C90-BB43B4F464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6F976BC-6357-0635-80B5-052C9A7A42CA}"/>
              </a:ext>
            </a:extLst>
          </p:cNvPr>
          <p:cNvSpPr txBox="1"/>
          <p:nvPr/>
        </p:nvSpPr>
        <p:spPr>
          <a:xfrm>
            <a:off x="337802" y="319409"/>
            <a:ext cx="4519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Was I </a:t>
            </a:r>
            <a:r>
              <a:rPr lang="de-DE">
                <a:solidFill>
                  <a:srgbClr val="000000"/>
                </a:solidFill>
                <a:latin typeface="Montserrat Light"/>
              </a:rPr>
              <a:t>Einheit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 I Zeit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1781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3E0ADDD3-3DD9-75A3-326B-EDBA90E4323E}"/>
              </a:ext>
            </a:extLst>
          </p:cNvPr>
          <p:cNvSpPr txBox="1">
            <a:spLocks/>
          </p:cNvSpPr>
          <p:nvPr/>
        </p:nvSpPr>
        <p:spPr>
          <a:xfrm>
            <a:off x="337804" y="311251"/>
            <a:ext cx="11526344" cy="526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Montserrat Medium"/>
                <a:ea typeface="+mj-ea"/>
                <a:cs typeface="+mj-cs"/>
              </a:rPr>
              <a:t>Standard Diagramme</a:t>
            </a:r>
          </a:p>
        </p:txBody>
      </p:sp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D4D5FCE6-44CD-274E-F5BB-413B89353C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6697241"/>
              </p:ext>
            </p:extLst>
          </p:nvPr>
        </p:nvGraphicFramePr>
        <p:xfrm>
          <a:off x="6096000" y="2806709"/>
          <a:ext cx="5768148" cy="626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Diagramm 7">
            <a:extLst>
              <a:ext uri="{FF2B5EF4-FFF2-40B4-BE49-F238E27FC236}">
                <a16:creationId xmlns:a16="http://schemas.microsoft.com/office/drawing/2014/main" id="{9B7197AE-41AF-1537-08D8-108D2F3A99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6911069"/>
              </p:ext>
            </p:extLst>
          </p:nvPr>
        </p:nvGraphicFramePr>
        <p:xfrm>
          <a:off x="7885055" y="4103417"/>
          <a:ext cx="2341502" cy="10319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0000544C-99E8-0151-6D82-F7E7B0DC39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0080539"/>
              </p:ext>
            </p:extLst>
          </p:nvPr>
        </p:nvGraphicFramePr>
        <p:xfrm>
          <a:off x="7855283" y="4965097"/>
          <a:ext cx="2401047" cy="16930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BF5E7FFB-C37F-0111-DDB2-50489432813B}"/>
              </a:ext>
            </a:extLst>
          </p:cNvPr>
          <p:cNvGrpSpPr/>
          <p:nvPr/>
        </p:nvGrpSpPr>
        <p:grpSpPr>
          <a:xfrm>
            <a:off x="238590" y="972606"/>
            <a:ext cx="4848346" cy="2456394"/>
            <a:chOff x="337804" y="1565721"/>
            <a:chExt cx="4848346" cy="2456394"/>
          </a:xfrm>
        </p:grpSpPr>
        <p:graphicFrame>
          <p:nvGraphicFramePr>
            <p:cNvPr id="10" name="Diagramm 9">
              <a:extLst>
                <a:ext uri="{FF2B5EF4-FFF2-40B4-BE49-F238E27FC236}">
                  <a16:creationId xmlns:a16="http://schemas.microsoft.com/office/drawing/2014/main" id="{5B49371C-E584-92AD-D897-2D7A86C2A3B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684996635"/>
                </p:ext>
              </p:extLst>
            </p:nvPr>
          </p:nvGraphicFramePr>
          <p:xfrm>
            <a:off x="337804" y="1568065"/>
            <a:ext cx="2324959" cy="24540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11" name="Diagramm 10">
              <a:extLst>
                <a:ext uri="{FF2B5EF4-FFF2-40B4-BE49-F238E27FC236}">
                  <a16:creationId xmlns:a16="http://schemas.microsoft.com/office/drawing/2014/main" id="{DF0708B5-31AA-EA0F-CF9F-A8F8ACE7905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148073283"/>
                </p:ext>
              </p:extLst>
            </p:nvPr>
          </p:nvGraphicFramePr>
          <p:xfrm>
            <a:off x="2455552" y="1568065"/>
            <a:ext cx="1504247" cy="24540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graphicFrame>
          <p:nvGraphicFramePr>
            <p:cNvPr id="12" name="Diagramm 11">
              <a:extLst>
                <a:ext uri="{FF2B5EF4-FFF2-40B4-BE49-F238E27FC236}">
                  <a16:creationId xmlns:a16="http://schemas.microsoft.com/office/drawing/2014/main" id="{40F2CAF6-07FA-5B3C-9125-42DEEB8E6FB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899546383"/>
                </p:ext>
              </p:extLst>
            </p:nvPr>
          </p:nvGraphicFramePr>
          <p:xfrm>
            <a:off x="3752587" y="1565721"/>
            <a:ext cx="1433563" cy="24540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424B5C7B-FA82-183F-892A-5C9E45D9069E}"/>
              </a:ext>
            </a:extLst>
          </p:cNvPr>
          <p:cNvGrpSpPr/>
          <p:nvPr/>
        </p:nvGrpSpPr>
        <p:grpSpPr>
          <a:xfrm>
            <a:off x="238590" y="3738072"/>
            <a:ext cx="4956287" cy="2458738"/>
            <a:chOff x="337804" y="4019771"/>
            <a:chExt cx="4956287" cy="2458738"/>
          </a:xfrm>
        </p:grpSpPr>
        <p:graphicFrame>
          <p:nvGraphicFramePr>
            <p:cNvPr id="6" name="Diagramm 5">
              <a:extLst>
                <a:ext uri="{FF2B5EF4-FFF2-40B4-BE49-F238E27FC236}">
                  <a16:creationId xmlns:a16="http://schemas.microsoft.com/office/drawing/2014/main" id="{FDE5CB46-FBCF-A2CF-C3A3-6DA8CADED98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682077401"/>
                </p:ext>
              </p:extLst>
            </p:nvPr>
          </p:nvGraphicFramePr>
          <p:xfrm>
            <a:off x="337804" y="4024459"/>
            <a:ext cx="2324959" cy="24540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graphicFrame>
          <p:nvGraphicFramePr>
            <p:cNvPr id="7" name="Diagramm 6">
              <a:extLst>
                <a:ext uri="{FF2B5EF4-FFF2-40B4-BE49-F238E27FC236}">
                  <a16:creationId xmlns:a16="http://schemas.microsoft.com/office/drawing/2014/main" id="{B009966D-E4B5-5F36-0F04-85663EAE19B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291242854"/>
                </p:ext>
              </p:extLst>
            </p:nvPr>
          </p:nvGraphicFramePr>
          <p:xfrm>
            <a:off x="2248340" y="4024459"/>
            <a:ext cx="1504247" cy="24540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graphicFrame>
          <p:nvGraphicFramePr>
            <p:cNvPr id="13" name="Diagramm 12">
              <a:extLst>
                <a:ext uri="{FF2B5EF4-FFF2-40B4-BE49-F238E27FC236}">
                  <a16:creationId xmlns:a16="http://schemas.microsoft.com/office/drawing/2014/main" id="{E5104F94-FCF7-8B6C-E302-712D96BCD7D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067173093"/>
                </p:ext>
              </p:extLst>
            </p:nvPr>
          </p:nvGraphicFramePr>
          <p:xfrm>
            <a:off x="3789844" y="4019771"/>
            <a:ext cx="1504247" cy="24540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</p:grpSp>
      <p:graphicFrame>
        <p:nvGraphicFramePr>
          <p:cNvPr id="16" name="Diagramm 15">
            <a:extLst>
              <a:ext uri="{FF2B5EF4-FFF2-40B4-BE49-F238E27FC236}">
                <a16:creationId xmlns:a16="http://schemas.microsoft.com/office/drawing/2014/main" id="{F0F3BB10-6BCE-E8AB-93F6-28CF51F576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7234803"/>
              </p:ext>
            </p:extLst>
          </p:nvPr>
        </p:nvGraphicFramePr>
        <p:xfrm>
          <a:off x="6230599" y="1226079"/>
          <a:ext cx="5498949" cy="1243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17" name="Diagramm 16">
            <a:extLst>
              <a:ext uri="{FF2B5EF4-FFF2-40B4-BE49-F238E27FC236}">
                <a16:creationId xmlns:a16="http://schemas.microsoft.com/office/drawing/2014/main" id="{462223A8-D5CD-537B-09E2-07DEED8748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296720"/>
              </p:ext>
            </p:extLst>
          </p:nvPr>
        </p:nvGraphicFramePr>
        <p:xfrm>
          <a:off x="6176760" y="393171"/>
          <a:ext cx="5552787" cy="10319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18" name="Diagramm 17">
            <a:extLst>
              <a:ext uri="{FF2B5EF4-FFF2-40B4-BE49-F238E27FC236}">
                <a16:creationId xmlns:a16="http://schemas.microsoft.com/office/drawing/2014/main" id="{D29B1DD7-0920-89B0-9330-7D21B86888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602405"/>
              </p:ext>
            </p:extLst>
          </p:nvPr>
        </p:nvGraphicFramePr>
        <p:xfrm>
          <a:off x="7885055" y="3502264"/>
          <a:ext cx="2341502" cy="10319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</p:spTree>
    <p:extLst>
      <p:ext uri="{BB962C8B-B14F-4D97-AF65-F5344CB8AC3E}">
        <p14:creationId xmlns:p14="http://schemas.microsoft.com/office/powerpoint/2010/main" val="1074914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2E3403F-156D-CFDE-4C5E-CFF1881F6247}"/>
              </a:ext>
            </a:extLst>
          </p:cNvPr>
          <p:cNvGrpSpPr/>
          <p:nvPr/>
        </p:nvGrpSpPr>
        <p:grpSpPr>
          <a:xfrm>
            <a:off x="448718" y="1804916"/>
            <a:ext cx="2182456" cy="1431610"/>
            <a:chOff x="352999" y="558908"/>
            <a:chExt cx="2182456" cy="1431610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C8F19313-655B-6878-2D4E-C379FB4B3BD8}"/>
                </a:ext>
              </a:extLst>
            </p:cNvPr>
            <p:cNvSpPr/>
            <p:nvPr/>
          </p:nvSpPr>
          <p:spPr>
            <a:xfrm>
              <a:off x="358221" y="561771"/>
              <a:ext cx="2148840" cy="1428747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/>
                <a:ea typeface="+mn-ea"/>
                <a:cs typeface="+mn-cs"/>
              </a:endParaRPr>
            </a:p>
          </p:txBody>
        </p:sp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7C0C4207-B3C2-1687-0502-CCFF95FA6C64}"/>
                </a:ext>
              </a:extLst>
            </p:cNvPr>
            <p:cNvGrpSpPr/>
            <p:nvPr/>
          </p:nvGrpSpPr>
          <p:grpSpPr>
            <a:xfrm>
              <a:off x="352999" y="913452"/>
              <a:ext cx="2182456" cy="991373"/>
              <a:chOff x="6186920" y="1276144"/>
              <a:chExt cx="2182456" cy="991373"/>
            </a:xfrm>
          </p:grpSpPr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4E10185-3E6B-ECD8-5467-52AB45C7916A}"/>
                  </a:ext>
                </a:extLst>
              </p:cNvPr>
              <p:cNvSpPr txBox="1"/>
              <p:nvPr/>
            </p:nvSpPr>
            <p:spPr>
              <a:xfrm>
                <a:off x="6186920" y="1276144"/>
                <a:ext cx="21824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65164"/>
                    </a:solidFill>
                    <a:effectLst/>
                    <a:uLnTx/>
                    <a:uFillTx/>
                    <a:latin typeface="Montserrat Light"/>
                    <a:ea typeface="Cambria Math" panose="02040503050406030204" pitchFamily="18" charset="0"/>
                  </a:rPr>
                  <a:t>- 5% VJ</a:t>
                </a:r>
              </a:p>
            </p:txBody>
          </p:sp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0B574ECC-B2D5-D6B3-D38E-1F84C9B489D4}"/>
                  </a:ext>
                </a:extLst>
              </p:cNvPr>
              <p:cNvSpPr txBox="1"/>
              <p:nvPr/>
            </p:nvSpPr>
            <p:spPr>
              <a:xfrm>
                <a:off x="6413416" y="1990518"/>
                <a:ext cx="84936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ontserrat Light"/>
                    <a:ea typeface="Cambria Math" panose="02040503050406030204" pitchFamily="18" charset="0"/>
                  </a:rPr>
                  <a:t>Ist EUR</a:t>
                </a:r>
              </a:p>
            </p:txBody>
          </p:sp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CEEC1C0E-B25C-3975-AE81-009D48E291D6}"/>
                  </a:ext>
                </a:extLst>
              </p:cNvPr>
              <p:cNvSpPr txBox="1"/>
              <p:nvPr/>
            </p:nvSpPr>
            <p:spPr>
              <a:xfrm>
                <a:off x="7157581" y="1990518"/>
                <a:ext cx="10603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ontserrat Light"/>
                    <a:ea typeface="Cambria Math" panose="02040503050406030204" pitchFamily="18" charset="0"/>
                  </a:rPr>
                  <a:t>Plan  EUR</a:t>
                </a:r>
              </a:p>
            </p:txBody>
          </p:sp>
        </p:grp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020BEF01-ECD0-475F-07FD-2CB974ADE3B4}"/>
                </a:ext>
              </a:extLst>
            </p:cNvPr>
            <p:cNvSpPr txBox="1"/>
            <p:nvPr/>
          </p:nvSpPr>
          <p:spPr>
            <a:xfrm>
              <a:off x="352999" y="558908"/>
              <a:ext cx="8629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</a:rPr>
                <a:t>Umsatz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9147394-D5FC-B68B-96E1-D40831BFFD5C}"/>
              </a:ext>
            </a:extLst>
          </p:cNvPr>
          <p:cNvGrpSpPr/>
          <p:nvPr/>
        </p:nvGrpSpPr>
        <p:grpSpPr>
          <a:xfrm>
            <a:off x="448718" y="3897420"/>
            <a:ext cx="2223750" cy="1557949"/>
            <a:chOff x="3144665" y="4035952"/>
            <a:chExt cx="2223750" cy="1557949"/>
          </a:xfrm>
        </p:grpSpPr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2B0699F0-82FD-9BF5-5694-5DC7E4A94797}"/>
                </a:ext>
              </a:extLst>
            </p:cNvPr>
            <p:cNvGrpSpPr/>
            <p:nvPr/>
          </p:nvGrpSpPr>
          <p:grpSpPr>
            <a:xfrm>
              <a:off x="3144665" y="4035952"/>
              <a:ext cx="2223750" cy="1444128"/>
              <a:chOff x="3192896" y="557400"/>
              <a:chExt cx="2223750" cy="1444128"/>
            </a:xfrm>
          </p:grpSpPr>
          <p:grpSp>
            <p:nvGrpSpPr>
              <p:cNvPr id="14" name="Gruppieren 13">
                <a:extLst>
                  <a:ext uri="{FF2B5EF4-FFF2-40B4-BE49-F238E27FC236}">
                    <a16:creationId xmlns:a16="http://schemas.microsoft.com/office/drawing/2014/main" id="{74B6B554-475C-D60A-64EA-38D5A70F4EB7}"/>
                  </a:ext>
                </a:extLst>
              </p:cNvPr>
              <p:cNvGrpSpPr/>
              <p:nvPr/>
            </p:nvGrpSpPr>
            <p:grpSpPr>
              <a:xfrm>
                <a:off x="3199377" y="561771"/>
                <a:ext cx="2217269" cy="1439757"/>
                <a:chOff x="3199377" y="561771"/>
                <a:chExt cx="2217269" cy="1439757"/>
              </a:xfrm>
            </p:grpSpPr>
            <p:grpSp>
              <p:nvGrpSpPr>
                <p:cNvPr id="16" name="Gruppieren 15">
                  <a:extLst>
                    <a:ext uri="{FF2B5EF4-FFF2-40B4-BE49-F238E27FC236}">
                      <a16:creationId xmlns:a16="http://schemas.microsoft.com/office/drawing/2014/main" id="{7B50C95F-7080-C544-AFEF-52A2D736054D}"/>
                    </a:ext>
                  </a:extLst>
                </p:cNvPr>
                <p:cNvGrpSpPr/>
                <p:nvPr/>
              </p:nvGrpSpPr>
              <p:grpSpPr>
                <a:xfrm>
                  <a:off x="3261325" y="561771"/>
                  <a:ext cx="2153919" cy="1439757"/>
                  <a:chOff x="3222414" y="2711873"/>
                  <a:chExt cx="2153919" cy="1439757"/>
                </a:xfrm>
              </p:grpSpPr>
              <p:cxnSp>
                <p:nvCxnSpPr>
                  <p:cNvPr id="21" name="Gerader Verbinder 20">
                    <a:extLst>
                      <a:ext uri="{FF2B5EF4-FFF2-40B4-BE49-F238E27FC236}">
                        <a16:creationId xmlns:a16="http://schemas.microsoft.com/office/drawing/2014/main" id="{40A3866B-6FC2-6D53-31AB-520D3D62C5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22414" y="2711873"/>
                    <a:ext cx="2153919" cy="0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37374F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22" name="Gerader Verbinder 21">
                    <a:extLst>
                      <a:ext uri="{FF2B5EF4-FFF2-40B4-BE49-F238E27FC236}">
                        <a16:creationId xmlns:a16="http://schemas.microsoft.com/office/drawing/2014/main" id="{80F68F79-84F2-A3D7-C51D-4D3DC8C7FC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22414" y="4151630"/>
                    <a:ext cx="2148840" cy="0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37374F"/>
                    </a:solidFill>
                    <a:prstDash val="solid"/>
                    <a:miter lim="800000"/>
                  </a:ln>
                  <a:effectLst/>
                </p:spPr>
              </p:cxnSp>
            </p:grpSp>
            <p:grpSp>
              <p:nvGrpSpPr>
                <p:cNvPr id="17" name="Gruppieren 16">
                  <a:extLst>
                    <a:ext uri="{FF2B5EF4-FFF2-40B4-BE49-F238E27FC236}">
                      <a16:creationId xmlns:a16="http://schemas.microsoft.com/office/drawing/2014/main" id="{33998FCD-A806-D203-804F-E4C60BFABA86}"/>
                    </a:ext>
                  </a:extLst>
                </p:cNvPr>
                <p:cNvGrpSpPr/>
                <p:nvPr/>
              </p:nvGrpSpPr>
              <p:grpSpPr>
                <a:xfrm>
                  <a:off x="3199377" y="784618"/>
                  <a:ext cx="2217269" cy="660649"/>
                  <a:chOff x="6130194" y="1147310"/>
                  <a:chExt cx="2217269" cy="660649"/>
                </a:xfrm>
              </p:grpSpPr>
              <p:sp>
                <p:nvSpPr>
                  <p:cNvPr id="18" name="Textfeld 17">
                    <a:extLst>
                      <a:ext uri="{FF2B5EF4-FFF2-40B4-BE49-F238E27FC236}">
                        <a16:creationId xmlns:a16="http://schemas.microsoft.com/office/drawing/2014/main" id="{30EFE52D-F7A9-8BBD-B0DF-28066BA9B73F}"/>
                      </a:ext>
                    </a:extLst>
                  </p:cNvPr>
                  <p:cNvSpPr txBox="1"/>
                  <p:nvPr/>
                </p:nvSpPr>
                <p:spPr>
                  <a:xfrm>
                    <a:off x="6906906" y="1147310"/>
                    <a:ext cx="144055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de-DE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1CD783"/>
                        </a:solidFill>
                        <a:effectLst/>
                        <a:uLnTx/>
                        <a:uFillTx/>
                        <a:latin typeface="Montserrat Light"/>
                        <a:ea typeface="Cambria Math" panose="02040503050406030204" pitchFamily="18" charset="0"/>
                      </a:rPr>
                      <a:t>12,3  M VJ</a:t>
                    </a:r>
                  </a:p>
                </p:txBody>
              </p:sp>
              <p:sp>
                <p:nvSpPr>
                  <p:cNvPr id="19" name="Textfeld 18">
                    <a:extLst>
                      <a:ext uri="{FF2B5EF4-FFF2-40B4-BE49-F238E27FC236}">
                        <a16:creationId xmlns:a16="http://schemas.microsoft.com/office/drawing/2014/main" id="{02BF5E70-887A-78CE-089C-5DBE5FF98FFC}"/>
                      </a:ext>
                    </a:extLst>
                  </p:cNvPr>
                  <p:cNvSpPr txBox="1"/>
                  <p:nvPr/>
                </p:nvSpPr>
                <p:spPr>
                  <a:xfrm>
                    <a:off x="6130194" y="1530960"/>
                    <a:ext cx="900894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de-DE" sz="12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ontserrat Light"/>
                        <a:ea typeface="Cambria Math" panose="02040503050406030204" pitchFamily="18" charset="0"/>
                      </a:rPr>
                      <a:t>Ist EUR</a:t>
                    </a:r>
                  </a:p>
                </p:txBody>
              </p:sp>
              <p:sp>
                <p:nvSpPr>
                  <p:cNvPr id="20" name="Textfeld 19">
                    <a:extLst>
                      <a:ext uri="{FF2B5EF4-FFF2-40B4-BE49-F238E27FC236}">
                        <a16:creationId xmlns:a16="http://schemas.microsoft.com/office/drawing/2014/main" id="{A6B9F10E-0EB2-11D7-D876-76C786F9C282}"/>
                      </a:ext>
                    </a:extLst>
                  </p:cNvPr>
                  <p:cNvSpPr txBox="1"/>
                  <p:nvPr/>
                </p:nvSpPr>
                <p:spPr>
                  <a:xfrm>
                    <a:off x="7356087" y="1525342"/>
                    <a:ext cx="980327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de-DE" sz="12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ontserrat Light"/>
                        <a:ea typeface="Cambria Math" panose="02040503050406030204" pitchFamily="18" charset="0"/>
                      </a:rPr>
                      <a:t>Plan</a:t>
                    </a:r>
                    <a:r>
                      <a:rPr kumimoji="0" lang="de-DE" sz="12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65164"/>
                        </a:solidFill>
                        <a:effectLst/>
                        <a:uLnTx/>
                        <a:uFillTx/>
                        <a:latin typeface="Montserrat Light"/>
                        <a:ea typeface="Cambria Math" panose="02040503050406030204" pitchFamily="18" charset="0"/>
                      </a:rPr>
                      <a:t>  </a:t>
                    </a:r>
                    <a:r>
                      <a:rPr kumimoji="0" lang="de-DE" sz="12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ontserrat Light"/>
                        <a:ea typeface="Cambria Math" panose="02040503050406030204" pitchFamily="18" charset="0"/>
                      </a:rPr>
                      <a:t>EUR</a:t>
                    </a:r>
                  </a:p>
                </p:txBody>
              </p:sp>
            </p:grpSp>
          </p:grpSp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A8E808FF-47D1-5D19-4ED3-A4503F5259A4}"/>
                  </a:ext>
                </a:extLst>
              </p:cNvPr>
              <p:cNvSpPr txBox="1"/>
              <p:nvPr/>
            </p:nvSpPr>
            <p:spPr>
              <a:xfrm>
                <a:off x="3192896" y="557400"/>
                <a:ext cx="86295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ontserrat Light"/>
                    <a:ea typeface="Cambria Math" panose="02040503050406030204" pitchFamily="18" charset="0"/>
                  </a:rPr>
                  <a:t>Ertrag</a:t>
                </a:r>
              </a:p>
            </p:txBody>
          </p:sp>
        </p:grpSp>
        <p:graphicFrame>
          <p:nvGraphicFramePr>
            <p:cNvPr id="13" name="Diagramm 12">
              <a:extLst>
                <a:ext uri="{FF2B5EF4-FFF2-40B4-BE49-F238E27FC236}">
                  <a16:creationId xmlns:a16="http://schemas.microsoft.com/office/drawing/2014/main" id="{844ADC5C-CBEE-C4A3-5997-94FCA1DC15A6}"/>
                </a:ext>
              </a:extLst>
            </p:cNvPr>
            <p:cNvGraphicFramePr/>
            <p:nvPr/>
          </p:nvGraphicFramePr>
          <p:xfrm>
            <a:off x="3219574" y="4904747"/>
            <a:ext cx="2133225" cy="68915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7CBAA762-DC81-09E5-9E36-5B86B685A372}"/>
              </a:ext>
            </a:extLst>
          </p:cNvPr>
          <p:cNvGrpSpPr/>
          <p:nvPr/>
        </p:nvGrpSpPr>
        <p:grpSpPr>
          <a:xfrm>
            <a:off x="3223859" y="1804916"/>
            <a:ext cx="2164892" cy="1523398"/>
            <a:chOff x="6120085" y="1276221"/>
            <a:chExt cx="2164892" cy="1523398"/>
          </a:xfrm>
        </p:grpSpPr>
        <p:graphicFrame>
          <p:nvGraphicFramePr>
            <p:cNvPr id="24" name="Diagramm 23">
              <a:extLst>
                <a:ext uri="{FF2B5EF4-FFF2-40B4-BE49-F238E27FC236}">
                  <a16:creationId xmlns:a16="http://schemas.microsoft.com/office/drawing/2014/main" id="{93DB3F2C-9451-22E6-4183-C3B6136D8C9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120573211"/>
                </p:ext>
              </p:extLst>
            </p:nvPr>
          </p:nvGraphicFramePr>
          <p:xfrm>
            <a:off x="6136137" y="2066392"/>
            <a:ext cx="2148840" cy="73322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D60D0D3D-1DEA-9005-490D-9D1F6B559930}"/>
                </a:ext>
              </a:extLst>
            </p:cNvPr>
            <p:cNvSpPr/>
            <p:nvPr/>
          </p:nvSpPr>
          <p:spPr>
            <a:xfrm>
              <a:off x="6125307" y="1300438"/>
              <a:ext cx="2148840" cy="1428747"/>
            </a:xfrm>
            <a:prstGeom prst="rect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miter lim="800000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148840"/>
                        <a:gd name="connsiteY0" fmla="*/ 0 h 1428747"/>
                        <a:gd name="connsiteX1" fmla="*/ 515722 w 2148840"/>
                        <a:gd name="connsiteY1" fmla="*/ 0 h 1428747"/>
                        <a:gd name="connsiteX2" fmla="*/ 988466 w 2148840"/>
                        <a:gd name="connsiteY2" fmla="*/ 0 h 1428747"/>
                        <a:gd name="connsiteX3" fmla="*/ 1568653 w 2148840"/>
                        <a:gd name="connsiteY3" fmla="*/ 0 h 1428747"/>
                        <a:gd name="connsiteX4" fmla="*/ 2148840 w 2148840"/>
                        <a:gd name="connsiteY4" fmla="*/ 0 h 1428747"/>
                        <a:gd name="connsiteX5" fmla="*/ 2148840 w 2148840"/>
                        <a:gd name="connsiteY5" fmla="*/ 461962 h 1428747"/>
                        <a:gd name="connsiteX6" fmla="*/ 2148840 w 2148840"/>
                        <a:gd name="connsiteY6" fmla="*/ 909636 h 1428747"/>
                        <a:gd name="connsiteX7" fmla="*/ 2148840 w 2148840"/>
                        <a:gd name="connsiteY7" fmla="*/ 1428747 h 1428747"/>
                        <a:gd name="connsiteX8" fmla="*/ 1611630 w 2148840"/>
                        <a:gd name="connsiteY8" fmla="*/ 1428747 h 1428747"/>
                        <a:gd name="connsiteX9" fmla="*/ 1138885 w 2148840"/>
                        <a:gd name="connsiteY9" fmla="*/ 1428747 h 1428747"/>
                        <a:gd name="connsiteX10" fmla="*/ 601675 w 2148840"/>
                        <a:gd name="connsiteY10" fmla="*/ 1428747 h 1428747"/>
                        <a:gd name="connsiteX11" fmla="*/ 0 w 2148840"/>
                        <a:gd name="connsiteY11" fmla="*/ 1428747 h 1428747"/>
                        <a:gd name="connsiteX12" fmla="*/ 0 w 2148840"/>
                        <a:gd name="connsiteY12" fmla="*/ 966785 h 1428747"/>
                        <a:gd name="connsiteX13" fmla="*/ 0 w 2148840"/>
                        <a:gd name="connsiteY13" fmla="*/ 504824 h 1428747"/>
                        <a:gd name="connsiteX14" fmla="*/ 0 w 2148840"/>
                        <a:gd name="connsiteY14" fmla="*/ 0 h 142874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2148840" h="1428747" extrusionOk="0">
                          <a:moveTo>
                            <a:pt x="0" y="0"/>
                          </a:moveTo>
                          <a:cubicBezTo>
                            <a:pt x="209063" y="-35849"/>
                            <a:pt x="412495" y="54416"/>
                            <a:pt x="515722" y="0"/>
                          </a:cubicBezTo>
                          <a:cubicBezTo>
                            <a:pt x="618949" y="-54416"/>
                            <a:pt x="785267" y="50952"/>
                            <a:pt x="988466" y="0"/>
                          </a:cubicBezTo>
                          <a:cubicBezTo>
                            <a:pt x="1191665" y="-50952"/>
                            <a:pt x="1335822" y="31002"/>
                            <a:pt x="1568653" y="0"/>
                          </a:cubicBezTo>
                          <a:cubicBezTo>
                            <a:pt x="1801484" y="-31002"/>
                            <a:pt x="1918787" y="37580"/>
                            <a:pt x="2148840" y="0"/>
                          </a:cubicBezTo>
                          <a:cubicBezTo>
                            <a:pt x="2189363" y="203150"/>
                            <a:pt x="2134971" y="330533"/>
                            <a:pt x="2148840" y="461962"/>
                          </a:cubicBezTo>
                          <a:cubicBezTo>
                            <a:pt x="2162709" y="593391"/>
                            <a:pt x="2131272" y="777194"/>
                            <a:pt x="2148840" y="909636"/>
                          </a:cubicBezTo>
                          <a:cubicBezTo>
                            <a:pt x="2166408" y="1042078"/>
                            <a:pt x="2119331" y="1179402"/>
                            <a:pt x="2148840" y="1428747"/>
                          </a:cubicBezTo>
                          <a:cubicBezTo>
                            <a:pt x="1914003" y="1489004"/>
                            <a:pt x="1787734" y="1374526"/>
                            <a:pt x="1611630" y="1428747"/>
                          </a:cubicBezTo>
                          <a:cubicBezTo>
                            <a:pt x="1435526" y="1482968"/>
                            <a:pt x="1265920" y="1422036"/>
                            <a:pt x="1138885" y="1428747"/>
                          </a:cubicBezTo>
                          <a:cubicBezTo>
                            <a:pt x="1011850" y="1435458"/>
                            <a:pt x="823455" y="1392519"/>
                            <a:pt x="601675" y="1428747"/>
                          </a:cubicBezTo>
                          <a:cubicBezTo>
                            <a:pt x="379895" y="1464975"/>
                            <a:pt x="151811" y="1375915"/>
                            <a:pt x="0" y="1428747"/>
                          </a:cubicBezTo>
                          <a:cubicBezTo>
                            <a:pt x="-28324" y="1215676"/>
                            <a:pt x="53171" y="1062743"/>
                            <a:pt x="0" y="966785"/>
                          </a:cubicBezTo>
                          <a:cubicBezTo>
                            <a:pt x="-53171" y="870827"/>
                            <a:pt x="50490" y="625496"/>
                            <a:pt x="0" y="504824"/>
                          </a:cubicBezTo>
                          <a:cubicBezTo>
                            <a:pt x="-50490" y="384152"/>
                            <a:pt x="11310" y="236509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/>
                <a:ea typeface="+mn-ea"/>
                <a:cs typeface="+mn-cs"/>
              </a:endParaRPr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FBE3399A-1641-88E2-2978-EFBBB5E6C479}"/>
                </a:ext>
              </a:extLst>
            </p:cNvPr>
            <p:cNvSpPr txBox="1"/>
            <p:nvPr/>
          </p:nvSpPr>
          <p:spPr>
            <a:xfrm>
              <a:off x="6136137" y="1725541"/>
              <a:ext cx="1219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1800" b="0" i="0" u="none" strike="noStrike" kern="0" cap="none" spc="0" normalizeH="0" baseline="0" noProof="0">
                  <a:ln>
                    <a:noFill/>
                  </a:ln>
                  <a:solidFill>
                    <a:srgbClr val="F65164"/>
                  </a:solidFill>
                  <a:effectLst/>
                  <a:uLnTx/>
                  <a:uFillTx/>
                  <a:ea typeface="Cambria Math" panose="02040503050406030204" pitchFamily="18" charset="0"/>
                </a:rPr>
                <a:t>∆</a:t>
              </a:r>
              <a:r>
                <a:rPr kumimoji="0" lang="de-DE" sz="1800" b="0" i="0" u="none" strike="noStrike" kern="0" cap="none" spc="0" normalizeH="0" baseline="0" noProof="0">
                  <a:ln>
                    <a:noFill/>
                  </a:ln>
                  <a:solidFill>
                    <a:srgbClr val="F65164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</a:rPr>
                <a:t> - 5% VJ</a:t>
              </a: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2F878983-BF9F-4A4C-6F0C-B0E4D663A9ED}"/>
                </a:ext>
              </a:extLst>
            </p:cNvPr>
            <p:cNvSpPr txBox="1"/>
            <p:nvPr/>
          </p:nvSpPr>
          <p:spPr>
            <a:xfrm>
              <a:off x="6120085" y="1276221"/>
              <a:ext cx="8629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</a:rPr>
                <a:t>Umsatz</a:t>
              </a:r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95F59EB9-7187-497F-4EF7-4DC170E3EA86}"/>
                </a:ext>
              </a:extLst>
            </p:cNvPr>
            <p:cNvSpPr txBox="1"/>
            <p:nvPr/>
          </p:nvSpPr>
          <p:spPr>
            <a:xfrm>
              <a:off x="7199727" y="1604726"/>
              <a:ext cx="9987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</a:rPr>
                <a:t>Ist EUR</a:t>
              </a:r>
            </a:p>
          </p:txBody>
        </p: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C92A59A3-50D0-9E69-98AC-5D5E08E578B8}"/>
                </a:ext>
              </a:extLst>
            </p:cNvPr>
            <p:cNvSpPr txBox="1"/>
            <p:nvPr/>
          </p:nvSpPr>
          <p:spPr>
            <a:xfrm>
              <a:off x="7199727" y="1912503"/>
              <a:ext cx="10594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</a:rPr>
                <a:t>Plan  EUR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6D38BADC-CFC7-3523-3FEB-31770AA27C72}"/>
              </a:ext>
            </a:extLst>
          </p:cNvPr>
          <p:cNvGrpSpPr/>
          <p:nvPr/>
        </p:nvGrpSpPr>
        <p:grpSpPr>
          <a:xfrm>
            <a:off x="3223859" y="3934934"/>
            <a:ext cx="2330414" cy="1689470"/>
            <a:chOff x="6120085" y="3036961"/>
            <a:chExt cx="2330414" cy="1689470"/>
          </a:xfrm>
        </p:grpSpPr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3833547A-47C6-6401-6391-2F16861FF14F}"/>
                </a:ext>
              </a:extLst>
            </p:cNvPr>
            <p:cNvSpPr/>
            <p:nvPr/>
          </p:nvSpPr>
          <p:spPr>
            <a:xfrm>
              <a:off x="6125307" y="3036961"/>
              <a:ext cx="2159670" cy="1435390"/>
            </a:xfrm>
            <a:prstGeom prst="rect">
              <a:avLst/>
            </a:prstGeom>
            <a:noFill/>
            <a:ln w="19050" cap="flat" cmpd="sng" algn="ctr">
              <a:solidFill>
                <a:srgbClr val="37374F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/>
                <a:ea typeface="+mn-ea"/>
                <a:cs typeface="+mn-cs"/>
              </a:endParaRP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4F02E12B-56E6-9CE0-82B4-9E20AB83E120}"/>
                </a:ext>
              </a:extLst>
            </p:cNvPr>
            <p:cNvSpPr txBox="1"/>
            <p:nvPr/>
          </p:nvSpPr>
          <p:spPr>
            <a:xfrm>
              <a:off x="6276594" y="3414316"/>
              <a:ext cx="1219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1800" b="0" i="0" u="none" strike="noStrike" kern="0" cap="none" spc="0" normalizeH="0" baseline="0" noProof="0">
                  <a:ln>
                    <a:noFill/>
                  </a:ln>
                  <a:solidFill>
                    <a:srgbClr val="F65164"/>
                  </a:solidFill>
                  <a:effectLst/>
                  <a:uLnTx/>
                  <a:uFillTx/>
                  <a:ea typeface="Cambria Math" panose="02040503050406030204" pitchFamily="18" charset="0"/>
                </a:rPr>
                <a:t>∆</a:t>
              </a:r>
              <a:r>
                <a:rPr kumimoji="0" lang="de-DE" sz="1800" b="0" i="0" u="none" strike="noStrike" kern="0" cap="none" spc="0" normalizeH="0" baseline="0" noProof="0">
                  <a:ln>
                    <a:noFill/>
                  </a:ln>
                  <a:solidFill>
                    <a:srgbClr val="F65164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</a:rPr>
                <a:t> - 5% VJ</a:t>
              </a:r>
            </a:p>
          </p:txBody>
        </p: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439C52EE-568A-CA3C-591C-7ECDD163B87C}"/>
                </a:ext>
              </a:extLst>
            </p:cNvPr>
            <p:cNvSpPr txBox="1"/>
            <p:nvPr/>
          </p:nvSpPr>
          <p:spPr>
            <a:xfrm>
              <a:off x="6120085" y="3057281"/>
              <a:ext cx="8629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</a:rPr>
                <a:t>Umsatz</a:t>
              </a:r>
            </a:p>
          </p:txBody>
        </p:sp>
        <p:graphicFrame>
          <p:nvGraphicFramePr>
            <p:cNvPr id="34" name="Diagramm 33">
              <a:extLst>
                <a:ext uri="{FF2B5EF4-FFF2-40B4-BE49-F238E27FC236}">
                  <a16:creationId xmlns:a16="http://schemas.microsoft.com/office/drawing/2014/main" id="{D9570031-A9DF-1FBB-EA2D-AA19337E3DD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676677176"/>
                </p:ext>
              </p:extLst>
            </p:nvPr>
          </p:nvGraphicFramePr>
          <p:xfrm>
            <a:off x="6141887" y="3623800"/>
            <a:ext cx="2154062" cy="110263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60AD6CC5-E5F5-CB20-7FA4-8D1396FA387E}"/>
                </a:ext>
              </a:extLst>
            </p:cNvPr>
            <p:cNvSpPr txBox="1"/>
            <p:nvPr/>
          </p:nvSpPr>
          <p:spPr>
            <a:xfrm>
              <a:off x="7391072" y="3189305"/>
              <a:ext cx="9987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</a:rPr>
                <a:t>Ist EUR</a:t>
              </a:r>
            </a:p>
          </p:txBody>
        </p: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2FE2CCEF-2B42-B034-F63E-6E3363A311C2}"/>
                </a:ext>
              </a:extLst>
            </p:cNvPr>
            <p:cNvSpPr txBox="1"/>
            <p:nvPr/>
          </p:nvSpPr>
          <p:spPr>
            <a:xfrm>
              <a:off x="7391072" y="3497082"/>
              <a:ext cx="10594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</a:rPr>
                <a:t>Plan  EUR</a:t>
              </a:r>
            </a:p>
          </p:txBody>
        </p:sp>
      </p:grpSp>
      <p:sp>
        <p:nvSpPr>
          <p:cNvPr id="37" name="Rechteck 36">
            <a:extLst>
              <a:ext uri="{FF2B5EF4-FFF2-40B4-BE49-F238E27FC236}">
                <a16:creationId xmlns:a16="http://schemas.microsoft.com/office/drawing/2014/main" id="{12D61FD8-FDE4-4ED5-B10F-69224D4D698A}"/>
              </a:ext>
            </a:extLst>
          </p:cNvPr>
          <p:cNvSpPr/>
          <p:nvPr/>
        </p:nvSpPr>
        <p:spPr>
          <a:xfrm>
            <a:off x="6129060" y="1834244"/>
            <a:ext cx="2159670" cy="1435390"/>
          </a:xfrm>
          <a:prstGeom prst="rect">
            <a:avLst/>
          </a:prstGeom>
          <a:noFill/>
          <a:ln w="19050" cap="flat" cmpd="sng" algn="ctr">
            <a:solidFill>
              <a:srgbClr val="37374F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Light"/>
              <a:ea typeface="+mn-ea"/>
              <a:cs typeface="+mn-cs"/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DECF5320-B587-AA77-803D-22A65EEF31B8}"/>
              </a:ext>
            </a:extLst>
          </p:cNvPr>
          <p:cNvSpPr txBox="1"/>
          <p:nvPr/>
        </p:nvSpPr>
        <p:spPr>
          <a:xfrm>
            <a:off x="9973645" y="2284644"/>
            <a:ext cx="1219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>
                <a:solidFill>
                  <a:srgbClr val="F65164"/>
                </a:solidFill>
                <a:ea typeface="Cambria Math" panose="02040503050406030204" pitchFamily="18" charset="0"/>
              </a:rPr>
              <a:t>∆</a:t>
            </a:r>
            <a:r>
              <a:rPr lang="de-DE">
                <a:solidFill>
                  <a:srgbClr val="F65164"/>
                </a:solidFill>
                <a:latin typeface="Montserrat Light"/>
                <a:ea typeface="Cambria Math" panose="02040503050406030204" pitchFamily="18" charset="0"/>
              </a:rPr>
              <a:t> - 5% VJ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3BB723C3-3405-7CC9-8433-C4AADBEB13CF}"/>
              </a:ext>
            </a:extLst>
          </p:cNvPr>
          <p:cNvSpPr txBox="1"/>
          <p:nvPr/>
        </p:nvSpPr>
        <p:spPr>
          <a:xfrm>
            <a:off x="10583617" y="2658136"/>
            <a:ext cx="998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rgbClr val="000000"/>
                </a:solidFill>
                <a:latin typeface="Montserrat Light"/>
                <a:ea typeface="Cambria Math" panose="02040503050406030204" pitchFamily="18" charset="0"/>
              </a:rPr>
              <a:t>Ist EUR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ACFC117A-DF40-E9B0-FD32-D1CABBB40760}"/>
              </a:ext>
            </a:extLst>
          </p:cNvPr>
          <p:cNvSpPr txBox="1"/>
          <p:nvPr/>
        </p:nvSpPr>
        <p:spPr>
          <a:xfrm>
            <a:off x="9584883" y="2658136"/>
            <a:ext cx="998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rgbClr val="000000"/>
                </a:solidFill>
                <a:latin typeface="Montserrat Light"/>
                <a:ea typeface="Cambria Math" panose="02040503050406030204" pitchFamily="18" charset="0"/>
              </a:rPr>
              <a:t>Plan  EUR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806A8FFD-93D4-1F49-135B-15B359CAE1F0}"/>
              </a:ext>
            </a:extLst>
          </p:cNvPr>
          <p:cNvSpPr txBox="1"/>
          <p:nvPr/>
        </p:nvSpPr>
        <p:spPr>
          <a:xfrm>
            <a:off x="9863340" y="1851551"/>
            <a:ext cx="1440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1CD783"/>
                </a:solidFill>
                <a:effectLst/>
                <a:uLnTx/>
                <a:uFillTx/>
                <a:latin typeface="Montserrat Light"/>
                <a:ea typeface="Cambria Math" panose="02040503050406030204" pitchFamily="18" charset="0"/>
              </a:rPr>
              <a:t>12,3  M VJ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13BE6E2-DEFC-093D-54B9-64F7A204A426}"/>
              </a:ext>
            </a:extLst>
          </p:cNvPr>
          <p:cNvSpPr txBox="1"/>
          <p:nvPr/>
        </p:nvSpPr>
        <p:spPr>
          <a:xfrm>
            <a:off x="8848237" y="1126121"/>
            <a:ext cx="1735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Cambria Math" panose="02040503050406030204" pitchFamily="18" charset="0"/>
              </a:rPr>
              <a:t>Dummy  Zahlen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41B85B16-1D84-9BA6-B75B-E0638132C131}"/>
              </a:ext>
            </a:extLst>
          </p:cNvPr>
          <p:cNvSpPr txBox="1"/>
          <p:nvPr/>
        </p:nvSpPr>
        <p:spPr>
          <a:xfrm>
            <a:off x="260129" y="1126121"/>
            <a:ext cx="19111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Cambria Math" panose="02040503050406030204" pitchFamily="18" charset="0"/>
              </a:rPr>
              <a:t>Dummy - Kacheln</a:t>
            </a:r>
          </a:p>
        </p:txBody>
      </p: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C2A5EA80-9934-591A-94A4-D384AD12048E}"/>
              </a:ext>
            </a:extLst>
          </p:cNvPr>
          <p:cNvGrpSpPr/>
          <p:nvPr/>
        </p:nvGrpSpPr>
        <p:grpSpPr>
          <a:xfrm>
            <a:off x="6129060" y="3897420"/>
            <a:ext cx="2182456" cy="1431610"/>
            <a:chOff x="352999" y="558908"/>
            <a:chExt cx="2182456" cy="1431610"/>
          </a:xfrm>
        </p:grpSpPr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DA369243-D4AB-510A-C638-03B031B775F9}"/>
                </a:ext>
              </a:extLst>
            </p:cNvPr>
            <p:cNvSpPr/>
            <p:nvPr/>
          </p:nvSpPr>
          <p:spPr>
            <a:xfrm>
              <a:off x="358221" y="561771"/>
              <a:ext cx="2148840" cy="1428747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/>
                <a:ea typeface="+mn-ea"/>
                <a:cs typeface="+mn-cs"/>
              </a:endParaRPr>
            </a:p>
          </p:txBody>
        </p:sp>
        <p:grpSp>
          <p:nvGrpSpPr>
            <p:cNvPr id="46" name="Gruppieren 45">
              <a:extLst>
                <a:ext uri="{FF2B5EF4-FFF2-40B4-BE49-F238E27FC236}">
                  <a16:creationId xmlns:a16="http://schemas.microsoft.com/office/drawing/2014/main" id="{38D8A06D-5273-E2CF-2551-9E94E95FC72F}"/>
                </a:ext>
              </a:extLst>
            </p:cNvPr>
            <p:cNvGrpSpPr/>
            <p:nvPr/>
          </p:nvGrpSpPr>
          <p:grpSpPr>
            <a:xfrm>
              <a:off x="352999" y="913452"/>
              <a:ext cx="2182456" cy="991373"/>
              <a:chOff x="6186920" y="1276144"/>
              <a:chExt cx="2182456" cy="991373"/>
            </a:xfrm>
          </p:grpSpPr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6454D0FC-4665-459B-8437-1A650802B97F}"/>
                  </a:ext>
                </a:extLst>
              </p:cNvPr>
              <p:cNvSpPr txBox="1"/>
              <p:nvPr/>
            </p:nvSpPr>
            <p:spPr>
              <a:xfrm>
                <a:off x="6186920" y="1276144"/>
                <a:ext cx="21824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65164"/>
                    </a:solidFill>
                    <a:effectLst/>
                    <a:uLnTx/>
                    <a:uFillTx/>
                    <a:latin typeface="Montserrat Light"/>
                    <a:ea typeface="Cambria Math" panose="02040503050406030204" pitchFamily="18" charset="0"/>
                  </a:rPr>
                  <a:t>- 5% VJ</a:t>
                </a:r>
              </a:p>
            </p:txBody>
          </p:sp>
          <p:sp>
            <p:nvSpPr>
              <p:cNvPr id="49" name="Textfeld 48">
                <a:extLst>
                  <a:ext uri="{FF2B5EF4-FFF2-40B4-BE49-F238E27FC236}">
                    <a16:creationId xmlns:a16="http://schemas.microsoft.com/office/drawing/2014/main" id="{7F69675D-9B1F-9B6E-FB2B-63AB5E868CAA}"/>
                  </a:ext>
                </a:extLst>
              </p:cNvPr>
              <p:cNvSpPr txBox="1"/>
              <p:nvPr/>
            </p:nvSpPr>
            <p:spPr>
              <a:xfrm>
                <a:off x="6413416" y="1990518"/>
                <a:ext cx="84936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ontserrat Light"/>
                    <a:ea typeface="Cambria Math" panose="02040503050406030204" pitchFamily="18" charset="0"/>
                  </a:rPr>
                  <a:t>Ist EUR</a:t>
                </a:r>
              </a:p>
            </p:txBody>
          </p:sp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FB7B0F86-5FF0-786E-F126-1B48F4160FEA}"/>
                  </a:ext>
                </a:extLst>
              </p:cNvPr>
              <p:cNvSpPr txBox="1"/>
              <p:nvPr/>
            </p:nvSpPr>
            <p:spPr>
              <a:xfrm>
                <a:off x="7157581" y="1990518"/>
                <a:ext cx="106031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ontserrat Light"/>
                    <a:ea typeface="Cambria Math" panose="02040503050406030204" pitchFamily="18" charset="0"/>
                  </a:rPr>
                  <a:t>Plan  EUR</a:t>
                </a:r>
              </a:p>
            </p:txBody>
          </p:sp>
        </p:grp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204A64B2-35F3-12AC-D447-B44091B16B40}"/>
                </a:ext>
              </a:extLst>
            </p:cNvPr>
            <p:cNvSpPr txBox="1"/>
            <p:nvPr/>
          </p:nvSpPr>
          <p:spPr>
            <a:xfrm>
              <a:off x="352999" y="558908"/>
              <a:ext cx="86295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</a:rPr>
                <a:t>Umsatz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9428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nhaltsplatzhalter 13" descr="Zurück mit einfarbiger Füllung">
            <a:extLst>
              <a:ext uri="{FF2B5EF4-FFF2-40B4-BE49-F238E27FC236}">
                <a16:creationId xmlns:a16="http://schemas.microsoft.com/office/drawing/2014/main" id="{19F745F3-98D8-D536-C37A-B89EDD0E54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46" y="877816"/>
            <a:ext cx="399173" cy="399173"/>
          </a:xfrm>
          <a:prstGeom prst="rect">
            <a:avLst/>
          </a:prstGeom>
        </p:spPr>
      </p:pic>
      <p:pic>
        <p:nvPicPr>
          <p:cNvPr id="14" name="Grafik 13" descr="Zurück mit einfarbiger Füllung">
            <a:extLst>
              <a:ext uri="{FF2B5EF4-FFF2-40B4-BE49-F238E27FC236}">
                <a16:creationId xmlns:a16="http://schemas.microsoft.com/office/drawing/2014/main" id="{A97ED43F-0824-0A02-843A-4F882A0C8C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49830" y="879833"/>
            <a:ext cx="395139" cy="395139"/>
          </a:xfrm>
          <a:prstGeom prst="rect">
            <a:avLst/>
          </a:prstGeom>
        </p:spPr>
      </p:pic>
      <p:pic>
        <p:nvPicPr>
          <p:cNvPr id="15" name="Grafik 14" descr="Start mit einfarbiger Füllung">
            <a:extLst>
              <a:ext uri="{FF2B5EF4-FFF2-40B4-BE49-F238E27FC236}">
                <a16:creationId xmlns:a16="http://schemas.microsoft.com/office/drawing/2014/main" id="{97232572-7371-BDC9-EF9C-85D1FD4A3B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5729" y="877816"/>
            <a:ext cx="399173" cy="399173"/>
          </a:xfrm>
          <a:prstGeom prst="rect">
            <a:avLst/>
          </a:prstGeom>
        </p:spPr>
      </p:pic>
      <p:pic>
        <p:nvPicPr>
          <p:cNvPr id="16" name="Grafik 15" descr="Informationen mit einfarbiger Füllung">
            <a:extLst>
              <a:ext uri="{FF2B5EF4-FFF2-40B4-BE49-F238E27FC236}">
                <a16:creationId xmlns:a16="http://schemas.microsoft.com/office/drawing/2014/main" id="{AD29B1BB-8131-680E-E1EB-0C0611FF0F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36137" y="878208"/>
            <a:ext cx="398388" cy="398388"/>
          </a:xfrm>
          <a:prstGeom prst="rect">
            <a:avLst/>
          </a:prstGeom>
        </p:spPr>
      </p:pic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F27BD22B-8B49-0BCF-EF6F-7908AF20CBF6}"/>
              </a:ext>
            </a:extLst>
          </p:cNvPr>
          <p:cNvGrpSpPr/>
          <p:nvPr/>
        </p:nvGrpSpPr>
        <p:grpSpPr>
          <a:xfrm>
            <a:off x="2084674" y="877816"/>
            <a:ext cx="398388" cy="399173"/>
            <a:chOff x="5638800" y="2971800"/>
            <a:chExt cx="914400" cy="914400"/>
          </a:xfrm>
          <a:solidFill>
            <a:srgbClr val="6EC7D7"/>
          </a:solidFill>
        </p:grpSpPr>
        <p:pic>
          <p:nvPicPr>
            <p:cNvPr id="18" name="Grafik 17" descr="Tabelle mit einfarbiger Füllung">
              <a:extLst>
                <a:ext uri="{FF2B5EF4-FFF2-40B4-BE49-F238E27FC236}">
                  <a16:creationId xmlns:a16="http://schemas.microsoft.com/office/drawing/2014/main" id="{940A64FB-FCE4-0F1C-F4F7-5D608E96E1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859294" y="3158322"/>
              <a:ext cx="473412" cy="473412"/>
            </a:xfrm>
            <a:prstGeom prst="rect">
              <a:avLst/>
            </a:prstGeom>
          </p:spPr>
        </p:pic>
        <p:pic>
          <p:nvPicPr>
            <p:cNvPr id="19" name="Grafik 18" descr="Laptop mit einfarbiger Füllung">
              <a:extLst>
                <a:ext uri="{FF2B5EF4-FFF2-40B4-BE49-F238E27FC236}">
                  <a16:creationId xmlns:a16="http://schemas.microsoft.com/office/drawing/2014/main" id="{13C4426D-DFA0-35B9-C40F-80C9B551F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638800" y="2971800"/>
              <a:ext cx="914400" cy="914400"/>
            </a:xfrm>
            <a:prstGeom prst="rect">
              <a:avLst/>
            </a:prstGeom>
          </p:spPr>
        </p:pic>
      </p:grpSp>
      <p:pic>
        <p:nvPicPr>
          <p:cNvPr id="20" name="Grafik 19" descr="Markee nicht mehr folgen mit einfarbiger Füllung">
            <a:extLst>
              <a:ext uri="{FF2B5EF4-FFF2-40B4-BE49-F238E27FC236}">
                <a16:creationId xmlns:a16="http://schemas.microsoft.com/office/drawing/2014/main" id="{660C2C50-4F29-5D8A-45E7-F5DF5EB7BE1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flipV="1">
            <a:off x="2662746" y="929973"/>
            <a:ext cx="294859" cy="294859"/>
          </a:xfrm>
          <a:prstGeom prst="rect">
            <a:avLst/>
          </a:prstGeom>
        </p:spPr>
      </p:pic>
      <p:pic>
        <p:nvPicPr>
          <p:cNvPr id="21" name="Grafik 20" descr="Marke folgen mit einfarbiger Füllung">
            <a:extLst>
              <a:ext uri="{FF2B5EF4-FFF2-40B4-BE49-F238E27FC236}">
                <a16:creationId xmlns:a16="http://schemas.microsoft.com/office/drawing/2014/main" id="{03CD1D03-6037-A5C8-04EC-DC0AF7D5A6E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2992328" y="929973"/>
            <a:ext cx="294859" cy="294859"/>
          </a:xfrm>
          <a:prstGeom prst="rect">
            <a:avLst/>
          </a:prstGeom>
        </p:spPr>
      </p:pic>
      <p:graphicFrame>
        <p:nvGraphicFramePr>
          <p:cNvPr id="22" name="Diagramm 21">
            <a:extLst>
              <a:ext uri="{FF2B5EF4-FFF2-40B4-BE49-F238E27FC236}">
                <a16:creationId xmlns:a16="http://schemas.microsoft.com/office/drawing/2014/main" id="{F299AF18-90EA-D6E4-2B35-F2FDE81EB1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4956470"/>
              </p:ext>
            </p:extLst>
          </p:nvPr>
        </p:nvGraphicFramePr>
        <p:xfrm>
          <a:off x="297106" y="2164368"/>
          <a:ext cx="864752" cy="7489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aphicFrame>
        <p:nvGraphicFramePr>
          <p:cNvPr id="23" name="Diagramm 22">
            <a:extLst>
              <a:ext uri="{FF2B5EF4-FFF2-40B4-BE49-F238E27FC236}">
                <a16:creationId xmlns:a16="http://schemas.microsoft.com/office/drawing/2014/main" id="{BBFBB386-A856-3812-0969-E25EEA617E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6151008"/>
              </p:ext>
            </p:extLst>
          </p:nvPr>
        </p:nvGraphicFramePr>
        <p:xfrm>
          <a:off x="1056530" y="2046063"/>
          <a:ext cx="950897" cy="841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graphicFrame>
        <p:nvGraphicFramePr>
          <p:cNvPr id="24" name="Diagramm 23">
            <a:extLst>
              <a:ext uri="{FF2B5EF4-FFF2-40B4-BE49-F238E27FC236}">
                <a16:creationId xmlns:a16="http://schemas.microsoft.com/office/drawing/2014/main" id="{EAB6C1C4-31F0-3FBC-4C45-3791C95487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4916982"/>
              </p:ext>
            </p:extLst>
          </p:nvPr>
        </p:nvGraphicFramePr>
        <p:xfrm>
          <a:off x="4542318" y="1976317"/>
          <a:ext cx="1329271" cy="1101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25" name="Textfeld 24">
            <a:extLst>
              <a:ext uri="{FF2B5EF4-FFF2-40B4-BE49-F238E27FC236}">
                <a16:creationId xmlns:a16="http://schemas.microsoft.com/office/drawing/2014/main" id="{90C5838A-3283-36B9-C988-2A733FB3B900}"/>
              </a:ext>
            </a:extLst>
          </p:cNvPr>
          <p:cNvSpPr txBox="1"/>
          <p:nvPr/>
        </p:nvSpPr>
        <p:spPr>
          <a:xfrm>
            <a:off x="271612" y="1860745"/>
            <a:ext cx="17709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Microcharts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F89A5EF-0977-7FB4-8421-679060A32E8F}"/>
              </a:ext>
            </a:extLst>
          </p:cNvPr>
          <p:cNvSpPr txBox="1"/>
          <p:nvPr/>
        </p:nvSpPr>
        <p:spPr>
          <a:xfrm>
            <a:off x="271612" y="334300"/>
            <a:ext cx="17709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Icons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2C6B31C2-2172-A02B-293B-91996E6E9CA4}"/>
              </a:ext>
            </a:extLst>
          </p:cNvPr>
          <p:cNvSpPr txBox="1"/>
          <p:nvPr/>
        </p:nvSpPr>
        <p:spPr>
          <a:xfrm>
            <a:off x="6175303" y="5759004"/>
            <a:ext cx="6003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800" b="0" i="0" u="none" strike="noStrike" kern="1200" cap="none" spc="0" normalizeH="0" baseline="0" noProof="0">
                <a:ln>
                  <a:noFill/>
                </a:ln>
                <a:solidFill>
                  <a:srgbClr val="F65164"/>
                </a:solidFill>
                <a:effectLst/>
                <a:uLnTx/>
                <a:uFillTx/>
                <a:ea typeface="Cambria Math" panose="02040503050406030204" pitchFamily="18" charset="0"/>
                <a:cs typeface="+mn-cs"/>
              </a:rPr>
              <a:t>∆</a:t>
            </a: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F65164"/>
                </a:solidFill>
                <a:effectLst/>
                <a:uLnTx/>
                <a:uFillTx/>
                <a:latin typeface="Montserrat Light"/>
                <a:ea typeface="Cambria Math" panose="02040503050406030204" pitchFamily="18" charset="0"/>
                <a:cs typeface="+mn-cs"/>
              </a:rPr>
              <a:t> </a:t>
            </a:r>
            <a:r>
              <a:rPr kumimoji="0" lang="de-DE" sz="800" b="0" i="0" u="none" strike="noStrike" kern="1200" cap="none" spc="0" normalizeH="0" baseline="0" noProof="0" err="1">
                <a:ln>
                  <a:noFill/>
                </a:ln>
                <a:solidFill>
                  <a:srgbClr val="F65164"/>
                </a:solidFill>
                <a:effectLst/>
                <a:uLnTx/>
                <a:uFillTx/>
                <a:latin typeface="Montserrat Light"/>
                <a:ea typeface="Cambria Math" panose="02040503050406030204" pitchFamily="18" charset="0"/>
                <a:cs typeface="+mn-cs"/>
              </a:rPr>
              <a:t>Vj</a:t>
            </a: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F65164"/>
                </a:solidFill>
                <a:effectLst/>
                <a:uLnTx/>
                <a:uFillTx/>
                <a:latin typeface="Montserrat Light"/>
                <a:ea typeface="Cambria Math" panose="02040503050406030204" pitchFamily="18" charset="0"/>
                <a:cs typeface="+mn-cs"/>
              </a:rPr>
              <a:t> Abs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Light"/>
              <a:ea typeface="+mn-ea"/>
              <a:cs typeface="+mn-cs"/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3592D1FE-3A39-E0CC-B0A5-A7E648A7DA68}"/>
              </a:ext>
            </a:extLst>
          </p:cNvPr>
          <p:cNvSpPr txBox="1"/>
          <p:nvPr/>
        </p:nvSpPr>
        <p:spPr>
          <a:xfrm>
            <a:off x="6917670" y="5759004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800" b="0" i="0" u="none" strike="noStrike" kern="1200" cap="none" spc="0" normalizeH="0" baseline="0" noProof="0">
                <a:ln>
                  <a:noFill/>
                </a:ln>
                <a:solidFill>
                  <a:srgbClr val="F65164"/>
                </a:solidFill>
                <a:effectLst/>
                <a:uLnTx/>
                <a:uFillTx/>
                <a:ea typeface="Cambria Math" panose="02040503050406030204" pitchFamily="18" charset="0"/>
                <a:cs typeface="+mn-cs"/>
              </a:rPr>
              <a:t>∆</a:t>
            </a: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F65164"/>
                </a:solidFill>
                <a:effectLst/>
                <a:uLnTx/>
                <a:uFillTx/>
                <a:latin typeface="Montserrat Light"/>
                <a:ea typeface="Cambria Math" panose="02040503050406030204" pitchFamily="18" charset="0"/>
                <a:cs typeface="+mn-cs"/>
              </a:rPr>
              <a:t> VJ %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Light"/>
              <a:ea typeface="+mn-ea"/>
              <a:cs typeface="+mn-cs"/>
            </a:endParaRPr>
          </a:p>
        </p:txBody>
      </p: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BC621660-6D07-A541-0AC1-7A8FF2E642B7}"/>
              </a:ext>
            </a:extLst>
          </p:cNvPr>
          <p:cNvGrpSpPr/>
          <p:nvPr/>
        </p:nvGrpSpPr>
        <p:grpSpPr>
          <a:xfrm>
            <a:off x="1646335" y="3973992"/>
            <a:ext cx="752625" cy="535705"/>
            <a:chOff x="6096000" y="2304933"/>
            <a:chExt cx="2159670" cy="1444129"/>
          </a:xfrm>
        </p:grpSpPr>
        <p:graphicFrame>
          <p:nvGraphicFramePr>
            <p:cNvPr id="38" name="Diagramm 37">
              <a:extLst>
                <a:ext uri="{FF2B5EF4-FFF2-40B4-BE49-F238E27FC236}">
                  <a16:creationId xmlns:a16="http://schemas.microsoft.com/office/drawing/2014/main" id="{AD1DE96E-E543-02FD-1CD9-17BDCB218C23}"/>
                </a:ext>
              </a:extLst>
            </p:cNvPr>
            <p:cNvGraphicFramePr/>
            <p:nvPr/>
          </p:nvGraphicFramePr>
          <p:xfrm>
            <a:off x="6394202" y="2304933"/>
            <a:ext cx="1593433" cy="144412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1"/>
            </a:graphicData>
          </a:graphic>
        </p:graphicFrame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5C913C34-B0C6-94BA-1C0F-532CE6F7F6F0}"/>
                </a:ext>
              </a:extLst>
            </p:cNvPr>
            <p:cNvSpPr/>
            <p:nvPr/>
          </p:nvSpPr>
          <p:spPr>
            <a:xfrm>
              <a:off x="6096000" y="2304933"/>
              <a:ext cx="2159670" cy="14397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/>
                <a:ea typeface="+mn-ea"/>
                <a:cs typeface="+mn-cs"/>
              </a:endParaRPr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B3BD43FE-78EC-F7ED-2D5F-EED3A61E44AD}"/>
              </a:ext>
            </a:extLst>
          </p:cNvPr>
          <p:cNvGrpSpPr/>
          <p:nvPr/>
        </p:nvGrpSpPr>
        <p:grpSpPr>
          <a:xfrm>
            <a:off x="2710222" y="3976422"/>
            <a:ext cx="903178" cy="534082"/>
            <a:chOff x="9174556" y="1407720"/>
            <a:chExt cx="903178" cy="534082"/>
          </a:xfrm>
        </p:grpSpPr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0455DCD3-BE2F-7D1D-2394-EBBF74D4ECE9}"/>
                </a:ext>
              </a:extLst>
            </p:cNvPr>
            <p:cNvSpPr/>
            <p:nvPr/>
          </p:nvSpPr>
          <p:spPr>
            <a:xfrm>
              <a:off x="9247846" y="1407720"/>
              <a:ext cx="752625" cy="5340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/>
                <a:ea typeface="+mn-ea"/>
                <a:cs typeface="+mn-cs"/>
              </a:endParaRPr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374A8F58-7C09-9DC9-FB66-2C4C33D9DE23}"/>
                </a:ext>
              </a:extLst>
            </p:cNvPr>
            <p:cNvSpPr txBox="1"/>
            <p:nvPr/>
          </p:nvSpPr>
          <p:spPr>
            <a:xfrm>
              <a:off x="9174556" y="1529844"/>
              <a:ext cx="9031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1200" b="0" i="0" u="none" strike="noStrike" kern="1200" cap="none" spc="0" normalizeH="0" baseline="0" noProof="0">
                  <a:ln>
                    <a:noFill/>
                  </a:ln>
                  <a:solidFill>
                    <a:srgbClr val="F65164"/>
                  </a:solidFill>
                  <a:effectLst/>
                  <a:uLnTx/>
                  <a:uFillTx/>
                  <a:ea typeface="Cambria Math" panose="02040503050406030204" pitchFamily="18" charset="0"/>
                  <a:cs typeface="+mn-cs"/>
                </a:rPr>
                <a:t>∆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srgbClr val="F65164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  <a:cs typeface="+mn-cs"/>
                </a:rPr>
                <a:t> - 5% VJ</a:t>
              </a:r>
            </a:p>
          </p:txBody>
        </p:sp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AEBB9462-65FE-E524-1031-346F96E07C53}"/>
              </a:ext>
            </a:extLst>
          </p:cNvPr>
          <p:cNvGrpSpPr/>
          <p:nvPr/>
        </p:nvGrpSpPr>
        <p:grpSpPr>
          <a:xfrm>
            <a:off x="441845" y="3971925"/>
            <a:ext cx="894179" cy="534082"/>
            <a:chOff x="10092625" y="1404374"/>
            <a:chExt cx="894179" cy="534082"/>
          </a:xfrm>
        </p:grpSpPr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F307C24D-92DA-0CDA-CFA0-05CC666E1CD4}"/>
                </a:ext>
              </a:extLst>
            </p:cNvPr>
            <p:cNvSpPr/>
            <p:nvPr/>
          </p:nvSpPr>
          <p:spPr>
            <a:xfrm>
              <a:off x="10106827" y="1404374"/>
              <a:ext cx="752625" cy="5340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/>
                <a:ea typeface="+mn-ea"/>
                <a:cs typeface="+mn-cs"/>
              </a:endParaRPr>
            </a:p>
          </p:txBody>
        </p: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E16CE893-F879-B365-3053-CDEBA2F524A6}"/>
                </a:ext>
              </a:extLst>
            </p:cNvPr>
            <p:cNvSpPr txBox="1"/>
            <p:nvPr/>
          </p:nvSpPr>
          <p:spPr>
            <a:xfrm>
              <a:off x="10092625" y="1544054"/>
              <a:ext cx="8941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rgbClr val="1CD783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  <a:cs typeface="+mn-cs"/>
                </a:rPr>
                <a:t>12,3  M VJ</a:t>
              </a:r>
            </a:p>
          </p:txBody>
        </p:sp>
      </p:grpSp>
      <p:sp>
        <p:nvSpPr>
          <p:cNvPr id="46" name="Textfeld 45">
            <a:extLst>
              <a:ext uri="{FF2B5EF4-FFF2-40B4-BE49-F238E27FC236}">
                <a16:creationId xmlns:a16="http://schemas.microsoft.com/office/drawing/2014/main" id="{CDB46DEB-65D0-06E8-C2FB-6A22F4D6138A}"/>
              </a:ext>
            </a:extLst>
          </p:cNvPr>
          <p:cNvSpPr txBox="1"/>
          <p:nvPr/>
        </p:nvSpPr>
        <p:spPr>
          <a:xfrm>
            <a:off x="271612" y="3425610"/>
            <a:ext cx="2260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>
                <a:latin typeface="Montserrat Light" panose="00000400000000000000" pitchFamily="2" charset="0"/>
              </a:rPr>
              <a:t>Anzeigeelemente</a:t>
            </a:r>
          </a:p>
        </p:txBody>
      </p:sp>
      <p:graphicFrame>
        <p:nvGraphicFramePr>
          <p:cNvPr id="47" name="Diagramm 46">
            <a:extLst>
              <a:ext uri="{FF2B5EF4-FFF2-40B4-BE49-F238E27FC236}">
                <a16:creationId xmlns:a16="http://schemas.microsoft.com/office/drawing/2014/main" id="{E1D6C249-3EE7-1B17-D95F-82FC4D784E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903164"/>
              </p:ext>
            </p:extLst>
          </p:nvPr>
        </p:nvGraphicFramePr>
        <p:xfrm>
          <a:off x="2097889" y="2212126"/>
          <a:ext cx="2232331" cy="629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48" name="Textfeld 47">
            <a:extLst>
              <a:ext uri="{FF2B5EF4-FFF2-40B4-BE49-F238E27FC236}">
                <a16:creationId xmlns:a16="http://schemas.microsoft.com/office/drawing/2014/main" id="{D132B5ED-B2AE-E6C0-3837-D224FDF0C217}"/>
              </a:ext>
            </a:extLst>
          </p:cNvPr>
          <p:cNvSpPr txBox="1"/>
          <p:nvPr/>
        </p:nvSpPr>
        <p:spPr>
          <a:xfrm>
            <a:off x="345729" y="5649922"/>
            <a:ext cx="2525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Was I Einheit I Zeit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C7D11BDD-320A-5C97-CD91-78FD86001CE2}"/>
              </a:ext>
            </a:extLst>
          </p:cNvPr>
          <p:cNvSpPr txBox="1"/>
          <p:nvPr/>
        </p:nvSpPr>
        <p:spPr>
          <a:xfrm>
            <a:off x="271612" y="5038541"/>
            <a:ext cx="3217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>
                <a:latin typeface="Montserrat Light" panose="00000400000000000000" pitchFamily="2" charset="0"/>
              </a:rPr>
              <a:t>Titelkonzept - Dashboard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71A35943-1E3D-59C8-C80D-7A444F6B6F1F}"/>
              </a:ext>
            </a:extLst>
          </p:cNvPr>
          <p:cNvSpPr txBox="1"/>
          <p:nvPr/>
        </p:nvSpPr>
        <p:spPr>
          <a:xfrm>
            <a:off x="8593973" y="5743615"/>
            <a:ext cx="21114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Bezeichnung (Kunden, Kategorie…)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654EC0F9-EFE0-73D2-DA29-560E19B568C0}"/>
              </a:ext>
            </a:extLst>
          </p:cNvPr>
          <p:cNvSpPr txBox="1"/>
          <p:nvPr/>
        </p:nvSpPr>
        <p:spPr>
          <a:xfrm>
            <a:off x="6175303" y="5038541"/>
            <a:ext cx="3621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>
                <a:latin typeface="Montserrat Light" panose="00000400000000000000" pitchFamily="2" charset="0"/>
              </a:rPr>
              <a:t>Beschriftung Diagrammbereich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73369418-249C-D23E-4701-0D1EBC27AAE7}"/>
              </a:ext>
            </a:extLst>
          </p:cNvPr>
          <p:cNvSpPr/>
          <p:nvPr/>
        </p:nvSpPr>
        <p:spPr>
          <a:xfrm>
            <a:off x="3852369" y="3967674"/>
            <a:ext cx="752625" cy="534082"/>
          </a:xfrm>
          <a:prstGeom prst="rect">
            <a:avLst/>
          </a:prstGeom>
          <a:noFill/>
          <a:ln w="19050" cap="flat" cmpd="sng" algn="ctr">
            <a:solidFill>
              <a:srgbClr val="37374F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Light"/>
              <a:ea typeface="+mn-ea"/>
              <a:cs typeface="+mn-cs"/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Diagramm 3">
                <a:extLst>
                  <a:ext uri="{FF2B5EF4-FFF2-40B4-BE49-F238E27FC236}">
                    <a16:creationId xmlns:a16="http://schemas.microsoft.com/office/drawing/2014/main" id="{D7A58439-73CF-F427-6B3A-B08BB90CF39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33562480"/>
                  </p:ext>
                </p:extLst>
              </p:nvPr>
            </p:nvGraphicFramePr>
            <p:xfrm>
              <a:off x="6111249" y="1860745"/>
              <a:ext cx="2260122" cy="145268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3"/>
              </a:graphicData>
            </a:graphic>
          </p:graphicFrame>
        </mc:Choice>
        <mc:Fallback xmlns="">
          <p:pic>
            <p:nvPicPr>
              <p:cNvPr id="4" name="Diagramm 3">
                <a:extLst>
                  <a:ext uri="{FF2B5EF4-FFF2-40B4-BE49-F238E27FC236}">
                    <a16:creationId xmlns:a16="http://schemas.microsoft.com/office/drawing/2014/main" id="{D7A58439-73CF-F427-6B3A-B08BB90CF39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111249" y="1860745"/>
                <a:ext cx="2260122" cy="145268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4673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E94E1394-DDA7-B529-955B-335E529B5D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5513806"/>
              </p:ext>
            </p:extLst>
          </p:nvPr>
        </p:nvGraphicFramePr>
        <p:xfrm>
          <a:off x="6940294" y="4713803"/>
          <a:ext cx="4542580" cy="9117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13907DD5-D5BB-86B4-04A5-BB2601F03C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4339697"/>
              </p:ext>
            </p:extLst>
          </p:nvPr>
        </p:nvGraphicFramePr>
        <p:xfrm>
          <a:off x="396112" y="245795"/>
          <a:ext cx="5137789" cy="3530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505E40A7-E357-A740-CAB5-DEE719C1B5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0550363"/>
              </p:ext>
            </p:extLst>
          </p:nvPr>
        </p:nvGraphicFramePr>
        <p:xfrm>
          <a:off x="5715990" y="0"/>
          <a:ext cx="6203398" cy="36219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8" name="Diagramm 7">
                <a:extLst>
                  <a:ext uri="{FF2B5EF4-FFF2-40B4-BE49-F238E27FC236}">
                    <a16:creationId xmlns:a16="http://schemas.microsoft.com/office/drawing/2014/main" id="{5A5E26A6-D13E-D1ED-DCD7-00654A0B34F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631091393"/>
                  </p:ext>
                </p:extLst>
              </p:nvPr>
            </p:nvGraphicFramePr>
            <p:xfrm>
              <a:off x="371573" y="3621974"/>
              <a:ext cx="5724427" cy="309544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 xmlns="">
          <p:pic>
            <p:nvPicPr>
              <p:cNvPr id="8" name="Diagramm 7">
                <a:extLst>
                  <a:ext uri="{FF2B5EF4-FFF2-40B4-BE49-F238E27FC236}">
                    <a16:creationId xmlns:a16="http://schemas.microsoft.com/office/drawing/2014/main" id="{5A5E26A6-D13E-D1ED-DCD7-00654A0B34F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1573" y="3621974"/>
                <a:ext cx="5724427" cy="309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5351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6D6189B4-C0E0-1228-76D2-53BF25D5B5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802361"/>
              </p:ext>
            </p:extLst>
          </p:nvPr>
        </p:nvGraphicFramePr>
        <p:xfrm>
          <a:off x="396112" y="245794"/>
          <a:ext cx="5137789" cy="608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0417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hteck 89">
            <a:extLst>
              <a:ext uri="{FF2B5EF4-FFF2-40B4-BE49-F238E27FC236}">
                <a16:creationId xmlns:a16="http://schemas.microsoft.com/office/drawing/2014/main" id="{A15E5920-42A9-474E-B563-E4A89504990A}"/>
              </a:ext>
            </a:extLst>
          </p:cNvPr>
          <p:cNvSpPr/>
          <p:nvPr/>
        </p:nvSpPr>
        <p:spPr>
          <a:xfrm>
            <a:off x="3194551" y="981075"/>
            <a:ext cx="3585760" cy="5509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0" name="Rechteck 109">
            <a:extLst>
              <a:ext uri="{FF2B5EF4-FFF2-40B4-BE49-F238E27FC236}">
                <a16:creationId xmlns:a16="http://schemas.microsoft.com/office/drawing/2014/main" id="{D48B4297-4425-4438-4E60-B053F517623C}"/>
              </a:ext>
            </a:extLst>
          </p:cNvPr>
          <p:cNvSpPr/>
          <p:nvPr/>
        </p:nvSpPr>
        <p:spPr>
          <a:xfrm>
            <a:off x="173039" y="981075"/>
            <a:ext cx="2958454" cy="5508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1" name="Rechteck 110">
            <a:extLst>
              <a:ext uri="{FF2B5EF4-FFF2-40B4-BE49-F238E27FC236}">
                <a16:creationId xmlns:a16="http://schemas.microsoft.com/office/drawing/2014/main" id="{41BA6A7B-B9B2-F590-4C3D-974EA2DF0CB4}"/>
              </a:ext>
            </a:extLst>
          </p:cNvPr>
          <p:cNvSpPr/>
          <p:nvPr/>
        </p:nvSpPr>
        <p:spPr>
          <a:xfrm>
            <a:off x="6838307" y="981075"/>
            <a:ext cx="3181993" cy="3726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9DA099B9-F90D-55C9-ADFA-ABE66D8D680F}"/>
              </a:ext>
            </a:extLst>
          </p:cNvPr>
          <p:cNvCxnSpPr>
            <a:cxnSpLocks/>
          </p:cNvCxnSpPr>
          <p:nvPr/>
        </p:nvCxnSpPr>
        <p:spPr>
          <a:xfrm>
            <a:off x="3365291" y="3908485"/>
            <a:ext cx="315232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F1B1E9E3-0F6A-A50C-4BC0-3A7093F558F5}"/>
              </a:ext>
            </a:extLst>
          </p:cNvPr>
          <p:cNvSpPr txBox="1"/>
          <p:nvPr/>
        </p:nvSpPr>
        <p:spPr>
          <a:xfrm>
            <a:off x="3351436" y="1365269"/>
            <a:ext cx="11416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Z Pattern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7940161-2CA0-C58A-DA33-935653074F4D}"/>
              </a:ext>
            </a:extLst>
          </p:cNvPr>
          <p:cNvSpPr txBox="1"/>
          <p:nvPr/>
        </p:nvSpPr>
        <p:spPr>
          <a:xfrm>
            <a:off x="3484906" y="1762686"/>
            <a:ext cx="106792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700" b="1" cap="all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Leserichtung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75F637E-9205-2156-9C26-06244B3CD1AF}"/>
              </a:ext>
            </a:extLst>
          </p:cNvPr>
          <p:cNvSpPr txBox="1"/>
          <p:nvPr/>
        </p:nvSpPr>
        <p:spPr>
          <a:xfrm>
            <a:off x="5757816" y="1750041"/>
            <a:ext cx="42992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700" b="1" cap="all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von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7DE4EF56-6637-AA6B-A962-CD40EFE51271}"/>
              </a:ext>
            </a:extLst>
          </p:cNvPr>
          <p:cNvSpPr txBox="1"/>
          <p:nvPr/>
        </p:nvSpPr>
        <p:spPr>
          <a:xfrm>
            <a:off x="3511486" y="3600861"/>
            <a:ext cx="9140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Links oben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C557E45-283A-C9BD-337E-EA91D651777B}"/>
              </a:ext>
            </a:extLst>
          </p:cNvPr>
          <p:cNvSpPr txBox="1"/>
          <p:nvPr/>
        </p:nvSpPr>
        <p:spPr>
          <a:xfrm>
            <a:off x="5357177" y="3568286"/>
            <a:ext cx="13564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nach rechts unten</a:t>
            </a:r>
          </a:p>
        </p:txBody>
      </p: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A5694D16-C994-396D-8D0E-93A0F7F3B8F1}"/>
              </a:ext>
            </a:extLst>
          </p:cNvPr>
          <p:cNvGrpSpPr/>
          <p:nvPr/>
        </p:nvGrpSpPr>
        <p:grpSpPr>
          <a:xfrm>
            <a:off x="3583919" y="4259071"/>
            <a:ext cx="1838619" cy="2115196"/>
            <a:chOff x="383405" y="4418841"/>
            <a:chExt cx="1165226" cy="1932347"/>
          </a:xfrm>
        </p:grpSpPr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952F51B0-72DA-5685-2A5A-D85F4D57A751}"/>
                </a:ext>
              </a:extLst>
            </p:cNvPr>
            <p:cNvGrpSpPr/>
            <p:nvPr/>
          </p:nvGrpSpPr>
          <p:grpSpPr>
            <a:xfrm>
              <a:off x="454706" y="4841297"/>
              <a:ext cx="818316" cy="1509891"/>
              <a:chOff x="4444706" y="3927871"/>
              <a:chExt cx="818316" cy="1509891"/>
            </a:xfrm>
          </p:grpSpPr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805EE389-D04E-EDB6-55C7-A308CE6979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44706" y="3927871"/>
                <a:ext cx="0" cy="1509891"/>
              </a:xfrm>
              <a:prstGeom prst="line">
                <a:avLst/>
              </a:prstGeom>
              <a:ln cap="rnd"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35F00036-8E38-F0AE-7BD6-C6E6F0384A14}"/>
                  </a:ext>
                </a:extLst>
              </p:cNvPr>
              <p:cNvCxnSpPr/>
              <p:nvPr/>
            </p:nvCxnSpPr>
            <p:spPr>
              <a:xfrm>
                <a:off x="4444706" y="3927871"/>
                <a:ext cx="818316" cy="0"/>
              </a:xfrm>
              <a:prstGeom prst="line">
                <a:avLst/>
              </a:prstGeom>
              <a:ln cap="rnd"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1294B443-8372-C744-4544-253347540C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44706" y="4737176"/>
                <a:ext cx="681771" cy="0"/>
              </a:xfrm>
              <a:prstGeom prst="line">
                <a:avLst/>
              </a:prstGeom>
              <a:ln cap="rnd"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3A01AD99-6AD9-E9AD-042E-4BFCC18B66AE}"/>
                </a:ext>
              </a:extLst>
            </p:cNvPr>
            <p:cNvSpPr txBox="1"/>
            <p:nvPr/>
          </p:nvSpPr>
          <p:spPr>
            <a:xfrm>
              <a:off x="383405" y="4418841"/>
              <a:ext cx="11652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>
                <a:defRPr sz="16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+mn-ea"/>
                  <a:cs typeface="Arial" panose="020B0604020202020204" pitchFamily="34" charset="0"/>
                </a:rPr>
                <a:t>F Pattern</a:t>
              </a:r>
            </a:p>
          </p:txBody>
        </p:sp>
        <p:cxnSp>
          <p:nvCxnSpPr>
            <p:cNvPr id="35" name="Gerade Verbindung mit Pfeil 34">
              <a:extLst>
                <a:ext uri="{FF2B5EF4-FFF2-40B4-BE49-F238E27FC236}">
                  <a16:creationId xmlns:a16="http://schemas.microsoft.com/office/drawing/2014/main" id="{51154ADF-E0E3-9B69-6A03-927F6888897F}"/>
                </a:ext>
              </a:extLst>
            </p:cNvPr>
            <p:cNvCxnSpPr>
              <a:cxnSpLocks/>
            </p:cNvCxnSpPr>
            <p:nvPr/>
          </p:nvCxnSpPr>
          <p:spPr>
            <a:xfrm>
              <a:off x="550258" y="4943898"/>
              <a:ext cx="0" cy="129506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C008A7F0-B235-686A-CA75-F684404E093B}"/>
                </a:ext>
              </a:extLst>
            </p:cNvPr>
            <p:cNvCxnSpPr>
              <a:cxnSpLocks/>
            </p:cNvCxnSpPr>
            <p:nvPr/>
          </p:nvCxnSpPr>
          <p:spPr>
            <a:xfrm>
              <a:off x="550258" y="4951847"/>
              <a:ext cx="57749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AC4A10E3-3D00-BE8A-5F5F-F5F60AB7625C}"/>
                </a:ext>
              </a:extLst>
            </p:cNvPr>
            <p:cNvCxnSpPr>
              <a:cxnSpLocks/>
            </p:cNvCxnSpPr>
            <p:nvPr/>
          </p:nvCxnSpPr>
          <p:spPr>
            <a:xfrm>
              <a:off x="550258" y="5538275"/>
              <a:ext cx="5862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36675CB1-D963-2C11-77DE-03F96A8B89F7}"/>
                </a:ext>
              </a:extLst>
            </p:cNvPr>
            <p:cNvSpPr/>
            <p:nvPr/>
          </p:nvSpPr>
          <p:spPr>
            <a:xfrm>
              <a:off x="393423" y="5560449"/>
              <a:ext cx="128628" cy="15494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/>
                <a:ea typeface="+mn-ea"/>
                <a:cs typeface="+mn-cs"/>
              </a:endParaRPr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DDE0FCD7-8B6F-A3AE-A940-9DEB8BFA88ED}"/>
                </a:ext>
              </a:extLst>
            </p:cNvPr>
            <p:cNvSpPr/>
            <p:nvPr/>
          </p:nvSpPr>
          <p:spPr>
            <a:xfrm>
              <a:off x="393423" y="4766052"/>
              <a:ext cx="128628" cy="15494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/>
                <a:ea typeface="+mn-ea"/>
                <a:cs typeface="+mn-cs"/>
              </a:endParaRPr>
            </a:p>
          </p:txBody>
        </p:sp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14A8D5E4-944A-27C4-1BA8-F3AC137A6645}"/>
              </a:ext>
            </a:extLst>
          </p:cNvPr>
          <p:cNvGrpSpPr/>
          <p:nvPr/>
        </p:nvGrpSpPr>
        <p:grpSpPr>
          <a:xfrm>
            <a:off x="3610913" y="1853144"/>
            <a:ext cx="2899899" cy="1753701"/>
            <a:chOff x="1003919" y="3371584"/>
            <a:chExt cx="2276333" cy="824965"/>
          </a:xfrm>
        </p:grpSpPr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D2E384DA-3D93-2CA8-12A3-D285A5C183B9}"/>
                </a:ext>
              </a:extLst>
            </p:cNvPr>
            <p:cNvCxnSpPr>
              <a:cxnSpLocks/>
            </p:cNvCxnSpPr>
            <p:nvPr/>
          </p:nvCxnSpPr>
          <p:spPr>
            <a:xfrm>
              <a:off x="1050758" y="3429000"/>
              <a:ext cx="2197973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F3C5B1C6-2050-78E8-433B-FF318D7C9B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758" y="3428227"/>
              <a:ext cx="2113837" cy="719995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3906B668-2B6A-976E-CC61-542EA463E90C}"/>
                </a:ext>
              </a:extLst>
            </p:cNvPr>
            <p:cNvCxnSpPr>
              <a:cxnSpLocks/>
            </p:cNvCxnSpPr>
            <p:nvPr/>
          </p:nvCxnSpPr>
          <p:spPr>
            <a:xfrm>
              <a:off x="1050758" y="4148222"/>
              <a:ext cx="2168567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Ellipse 63">
              <a:extLst>
                <a:ext uri="{FF2B5EF4-FFF2-40B4-BE49-F238E27FC236}">
                  <a16:creationId xmlns:a16="http://schemas.microsoft.com/office/drawing/2014/main" id="{29B03908-CE33-F28A-FED4-207B54142D4C}"/>
                </a:ext>
              </a:extLst>
            </p:cNvPr>
            <p:cNvSpPr/>
            <p:nvPr/>
          </p:nvSpPr>
          <p:spPr>
            <a:xfrm>
              <a:off x="3048939" y="3371584"/>
              <a:ext cx="231313" cy="1238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/>
                <a:ea typeface="+mn-ea"/>
                <a:cs typeface="+mn-cs"/>
              </a:endParaRPr>
            </a:p>
          </p:txBody>
        </p:sp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A459CC14-069E-EA78-75FC-419E0271A196}"/>
                </a:ext>
              </a:extLst>
            </p:cNvPr>
            <p:cNvSpPr/>
            <p:nvPr/>
          </p:nvSpPr>
          <p:spPr>
            <a:xfrm>
              <a:off x="1003919" y="4077104"/>
              <a:ext cx="212021" cy="11944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/>
                <a:ea typeface="+mn-ea"/>
                <a:cs typeface="+mn-cs"/>
              </a:endParaRPr>
            </a:p>
          </p:txBody>
        </p:sp>
      </p:grp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9B58633E-A183-61F2-D5F8-B7F00E832044}"/>
              </a:ext>
            </a:extLst>
          </p:cNvPr>
          <p:cNvCxnSpPr>
            <a:cxnSpLocks/>
          </p:cNvCxnSpPr>
          <p:nvPr/>
        </p:nvCxnSpPr>
        <p:spPr>
          <a:xfrm>
            <a:off x="3783088" y="2116327"/>
            <a:ext cx="2061391" cy="6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9415B8CA-047E-D3CF-F6DF-C40D4A183E9B}"/>
              </a:ext>
            </a:extLst>
          </p:cNvPr>
          <p:cNvCxnSpPr>
            <a:cxnSpLocks/>
          </p:cNvCxnSpPr>
          <p:nvPr/>
        </p:nvCxnSpPr>
        <p:spPr>
          <a:xfrm>
            <a:off x="4414065" y="3376606"/>
            <a:ext cx="19494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3C2B0A40-FF98-0E85-41A7-BE0631935E9D}"/>
              </a:ext>
            </a:extLst>
          </p:cNvPr>
          <p:cNvCxnSpPr>
            <a:cxnSpLocks/>
          </p:cNvCxnSpPr>
          <p:nvPr/>
        </p:nvCxnSpPr>
        <p:spPr>
          <a:xfrm flipH="1">
            <a:off x="4414065" y="2378119"/>
            <a:ext cx="1095137" cy="5801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hteck 76">
            <a:extLst>
              <a:ext uri="{FF2B5EF4-FFF2-40B4-BE49-F238E27FC236}">
                <a16:creationId xmlns:a16="http://schemas.microsoft.com/office/drawing/2014/main" id="{1817497E-E135-A112-180B-1632095765F3}"/>
              </a:ext>
            </a:extLst>
          </p:cNvPr>
          <p:cNvSpPr/>
          <p:nvPr/>
        </p:nvSpPr>
        <p:spPr>
          <a:xfrm>
            <a:off x="367244" y="1427021"/>
            <a:ext cx="2581275" cy="148034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Light"/>
              <a:ea typeface="+mn-ea"/>
              <a:cs typeface="+mn-cs"/>
            </a:endParaRPr>
          </a:p>
        </p:txBody>
      </p:sp>
      <p:sp>
        <p:nvSpPr>
          <p:cNvPr id="79" name="Rechteck 78">
            <a:extLst>
              <a:ext uri="{FF2B5EF4-FFF2-40B4-BE49-F238E27FC236}">
                <a16:creationId xmlns:a16="http://schemas.microsoft.com/office/drawing/2014/main" id="{52928632-1763-D316-9890-1681F967E545}"/>
              </a:ext>
            </a:extLst>
          </p:cNvPr>
          <p:cNvSpPr/>
          <p:nvPr/>
        </p:nvSpPr>
        <p:spPr>
          <a:xfrm>
            <a:off x="365103" y="4858999"/>
            <a:ext cx="2581275" cy="148034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Light"/>
              <a:ea typeface="+mn-ea"/>
              <a:cs typeface="+mn-cs"/>
            </a:endParaRPr>
          </a:p>
        </p:txBody>
      </p: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13990F15-DE18-C934-B43D-59ECB981D4C0}"/>
              </a:ext>
            </a:extLst>
          </p:cNvPr>
          <p:cNvGrpSpPr/>
          <p:nvPr/>
        </p:nvGrpSpPr>
        <p:grpSpPr>
          <a:xfrm>
            <a:off x="367244" y="1530074"/>
            <a:ext cx="903178" cy="534082"/>
            <a:chOff x="9174556" y="1407720"/>
            <a:chExt cx="903178" cy="534082"/>
          </a:xfrm>
          <a:noFill/>
        </p:grpSpPr>
        <p:sp>
          <p:nvSpPr>
            <p:cNvPr id="81" name="Rechteck 80">
              <a:extLst>
                <a:ext uri="{FF2B5EF4-FFF2-40B4-BE49-F238E27FC236}">
                  <a16:creationId xmlns:a16="http://schemas.microsoft.com/office/drawing/2014/main" id="{19F7400E-AF9F-1F9F-3662-A7B82BCE802E}"/>
                </a:ext>
              </a:extLst>
            </p:cNvPr>
            <p:cNvSpPr/>
            <p:nvPr/>
          </p:nvSpPr>
          <p:spPr>
            <a:xfrm>
              <a:off x="9247846" y="1407720"/>
              <a:ext cx="752625" cy="53408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/>
                <a:ea typeface="+mn-ea"/>
                <a:cs typeface="+mn-cs"/>
              </a:endParaRPr>
            </a:p>
          </p:txBody>
        </p: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13B7123B-40CF-B273-EC95-7BCDFA962D2F}"/>
                </a:ext>
              </a:extLst>
            </p:cNvPr>
            <p:cNvSpPr txBox="1"/>
            <p:nvPr/>
          </p:nvSpPr>
          <p:spPr>
            <a:xfrm>
              <a:off x="9174556" y="1529844"/>
              <a:ext cx="903178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1200" b="0" i="0" u="none" strike="noStrike" kern="1200" cap="none" spc="0" normalizeH="0" baseline="0" noProof="0">
                  <a:ln>
                    <a:noFill/>
                  </a:ln>
                  <a:solidFill>
                    <a:srgbClr val="F65164"/>
                  </a:solidFill>
                  <a:effectLst/>
                  <a:uLnTx/>
                  <a:uFillTx/>
                  <a:ea typeface="Cambria Math" panose="02040503050406030204" pitchFamily="18" charset="0"/>
                  <a:cs typeface="+mn-cs"/>
                </a:rPr>
                <a:t>∆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srgbClr val="F65164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  <a:cs typeface="+mn-cs"/>
                </a:rPr>
                <a:t> - 5% VJ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643C5C11-490C-37FA-A551-F7645163685D}"/>
              </a:ext>
            </a:extLst>
          </p:cNvPr>
          <p:cNvGrpSpPr/>
          <p:nvPr/>
        </p:nvGrpSpPr>
        <p:grpSpPr>
          <a:xfrm>
            <a:off x="1255184" y="1523656"/>
            <a:ext cx="894179" cy="534082"/>
            <a:chOff x="10092625" y="1404374"/>
            <a:chExt cx="894179" cy="534082"/>
          </a:xfrm>
          <a:noFill/>
        </p:grpSpPr>
        <p:sp>
          <p:nvSpPr>
            <p:cNvPr id="84" name="Rechteck 83">
              <a:extLst>
                <a:ext uri="{FF2B5EF4-FFF2-40B4-BE49-F238E27FC236}">
                  <a16:creationId xmlns:a16="http://schemas.microsoft.com/office/drawing/2014/main" id="{10631855-58D7-2FD2-C177-58E515E6B731}"/>
                </a:ext>
              </a:extLst>
            </p:cNvPr>
            <p:cNvSpPr/>
            <p:nvPr/>
          </p:nvSpPr>
          <p:spPr>
            <a:xfrm>
              <a:off x="10106827" y="1404374"/>
              <a:ext cx="752625" cy="53408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/>
                <a:ea typeface="+mn-ea"/>
                <a:cs typeface="+mn-cs"/>
              </a:endParaRPr>
            </a:p>
          </p:txBody>
        </p: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A4222B15-D697-B552-39A1-AE1F9A9CFBC3}"/>
                </a:ext>
              </a:extLst>
            </p:cNvPr>
            <p:cNvSpPr txBox="1"/>
            <p:nvPr/>
          </p:nvSpPr>
          <p:spPr>
            <a:xfrm>
              <a:off x="10092625" y="1544054"/>
              <a:ext cx="894179" cy="24622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rgbClr val="1CD783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  <a:cs typeface="+mn-cs"/>
                </a:rPr>
                <a:t>12,3 M VJ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6602D8AC-F4AF-F817-51EC-0CD2FB5E276B}"/>
              </a:ext>
            </a:extLst>
          </p:cNvPr>
          <p:cNvGrpSpPr/>
          <p:nvPr/>
        </p:nvGrpSpPr>
        <p:grpSpPr>
          <a:xfrm>
            <a:off x="2104275" y="1519405"/>
            <a:ext cx="894179" cy="534082"/>
            <a:chOff x="10092625" y="1404374"/>
            <a:chExt cx="894179" cy="534082"/>
          </a:xfrm>
          <a:noFill/>
        </p:grpSpPr>
        <p:sp>
          <p:nvSpPr>
            <p:cNvPr id="87" name="Rechteck 86">
              <a:extLst>
                <a:ext uri="{FF2B5EF4-FFF2-40B4-BE49-F238E27FC236}">
                  <a16:creationId xmlns:a16="http://schemas.microsoft.com/office/drawing/2014/main" id="{0B60078F-5A47-91EB-458F-ED4BFB96B746}"/>
                </a:ext>
              </a:extLst>
            </p:cNvPr>
            <p:cNvSpPr/>
            <p:nvPr/>
          </p:nvSpPr>
          <p:spPr>
            <a:xfrm>
              <a:off x="10106827" y="1404374"/>
              <a:ext cx="752625" cy="53408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/>
                <a:ea typeface="+mn-ea"/>
                <a:cs typeface="+mn-cs"/>
              </a:endParaRPr>
            </a:p>
          </p:txBody>
        </p: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060B3207-C998-F0C1-5FE9-6D4B839CFA70}"/>
                </a:ext>
              </a:extLst>
            </p:cNvPr>
            <p:cNvSpPr txBox="1"/>
            <p:nvPr/>
          </p:nvSpPr>
          <p:spPr>
            <a:xfrm>
              <a:off x="10092625" y="1544054"/>
              <a:ext cx="894179" cy="24622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rgbClr val="1CD783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  <a:cs typeface="+mn-cs"/>
                </a:rPr>
                <a:t>12,3 M VJ</a:t>
              </a:r>
            </a:p>
          </p:txBody>
        </p:sp>
      </p:grp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9D3D9905-26BA-87BE-7CDF-7D0C7A913DBD}"/>
              </a:ext>
            </a:extLst>
          </p:cNvPr>
          <p:cNvGrpSpPr/>
          <p:nvPr/>
        </p:nvGrpSpPr>
        <p:grpSpPr>
          <a:xfrm>
            <a:off x="2043200" y="2167193"/>
            <a:ext cx="903178" cy="534082"/>
            <a:chOff x="9174556" y="1386487"/>
            <a:chExt cx="903178" cy="534082"/>
          </a:xfrm>
          <a:noFill/>
        </p:grpSpPr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3841A91C-A604-82CE-6F0B-DD88E8FC2F45}"/>
                </a:ext>
              </a:extLst>
            </p:cNvPr>
            <p:cNvSpPr/>
            <p:nvPr/>
          </p:nvSpPr>
          <p:spPr>
            <a:xfrm>
              <a:off x="9249832" y="1386487"/>
              <a:ext cx="752625" cy="53408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/>
                <a:ea typeface="+mn-ea"/>
                <a:cs typeface="+mn-cs"/>
              </a:endParaRPr>
            </a:p>
          </p:txBody>
        </p: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AE7B3F8-1390-099D-A88E-826EAEA03FFA}"/>
                </a:ext>
              </a:extLst>
            </p:cNvPr>
            <p:cNvSpPr txBox="1"/>
            <p:nvPr/>
          </p:nvSpPr>
          <p:spPr>
            <a:xfrm>
              <a:off x="9174556" y="1529844"/>
              <a:ext cx="903178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1200" b="0" i="0" u="none" strike="noStrike" kern="1200" cap="none" spc="0" normalizeH="0" baseline="0" noProof="0">
                  <a:ln>
                    <a:noFill/>
                  </a:ln>
                  <a:solidFill>
                    <a:srgbClr val="F65164"/>
                  </a:solidFill>
                  <a:effectLst/>
                  <a:uLnTx/>
                  <a:uFillTx/>
                  <a:ea typeface="Cambria Math" panose="02040503050406030204" pitchFamily="18" charset="0"/>
                  <a:cs typeface="+mn-cs"/>
                </a:rPr>
                <a:t>∆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srgbClr val="F65164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  <a:cs typeface="+mn-cs"/>
                </a:rPr>
                <a:t> - 5% VJ</a:t>
              </a:r>
            </a:p>
          </p:txBody>
        </p:sp>
      </p:grp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3C88169B-6928-6EC9-22F9-A5BCAD68DF5E}"/>
              </a:ext>
            </a:extLst>
          </p:cNvPr>
          <p:cNvGrpSpPr/>
          <p:nvPr/>
        </p:nvGrpSpPr>
        <p:grpSpPr>
          <a:xfrm>
            <a:off x="367244" y="2170513"/>
            <a:ext cx="903178" cy="534082"/>
            <a:chOff x="9174556" y="1407720"/>
            <a:chExt cx="903178" cy="534082"/>
          </a:xfrm>
          <a:noFill/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B39C826B-C3E7-3458-DEE4-E1E0BAEB2763}"/>
                </a:ext>
              </a:extLst>
            </p:cNvPr>
            <p:cNvSpPr/>
            <p:nvPr/>
          </p:nvSpPr>
          <p:spPr>
            <a:xfrm>
              <a:off x="9247846" y="1407720"/>
              <a:ext cx="752625" cy="53408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/>
                <a:ea typeface="+mn-ea"/>
                <a:cs typeface="+mn-cs"/>
              </a:endParaRPr>
            </a:p>
          </p:txBody>
        </p:sp>
        <p:sp>
          <p:nvSpPr>
            <p:cNvPr id="95" name="Textfeld 94">
              <a:extLst>
                <a:ext uri="{FF2B5EF4-FFF2-40B4-BE49-F238E27FC236}">
                  <a16:creationId xmlns:a16="http://schemas.microsoft.com/office/drawing/2014/main" id="{99F49535-25DE-11F3-48E6-7FC59D8412A8}"/>
                </a:ext>
              </a:extLst>
            </p:cNvPr>
            <p:cNvSpPr txBox="1"/>
            <p:nvPr/>
          </p:nvSpPr>
          <p:spPr>
            <a:xfrm>
              <a:off x="9174556" y="1529844"/>
              <a:ext cx="903178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1200" b="0" i="0" u="none" strike="noStrike" kern="1200" cap="none" spc="0" normalizeH="0" baseline="0" noProof="0">
                  <a:ln>
                    <a:noFill/>
                  </a:ln>
                  <a:solidFill>
                    <a:srgbClr val="F65164"/>
                  </a:solidFill>
                  <a:effectLst/>
                  <a:uLnTx/>
                  <a:uFillTx/>
                  <a:ea typeface="Cambria Math" panose="02040503050406030204" pitchFamily="18" charset="0"/>
                  <a:cs typeface="+mn-cs"/>
                </a:rPr>
                <a:t>∆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srgbClr val="F65164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  <a:cs typeface="+mn-cs"/>
                </a:rPr>
                <a:t> - 5% VJ</a:t>
              </a:r>
            </a:p>
          </p:txBody>
        </p:sp>
      </p:grpSp>
      <p:grpSp>
        <p:nvGrpSpPr>
          <p:cNvPr id="96" name="Gruppieren 95">
            <a:extLst>
              <a:ext uri="{FF2B5EF4-FFF2-40B4-BE49-F238E27FC236}">
                <a16:creationId xmlns:a16="http://schemas.microsoft.com/office/drawing/2014/main" id="{9C6C2A38-F27E-B8AB-A78B-734A6F18DC32}"/>
              </a:ext>
            </a:extLst>
          </p:cNvPr>
          <p:cNvGrpSpPr/>
          <p:nvPr/>
        </p:nvGrpSpPr>
        <p:grpSpPr>
          <a:xfrm>
            <a:off x="1255184" y="2170513"/>
            <a:ext cx="894179" cy="534082"/>
            <a:chOff x="10092625" y="1404374"/>
            <a:chExt cx="894179" cy="534082"/>
          </a:xfrm>
          <a:noFill/>
        </p:grpSpPr>
        <p:sp>
          <p:nvSpPr>
            <p:cNvPr id="97" name="Rechteck 96">
              <a:extLst>
                <a:ext uri="{FF2B5EF4-FFF2-40B4-BE49-F238E27FC236}">
                  <a16:creationId xmlns:a16="http://schemas.microsoft.com/office/drawing/2014/main" id="{760E3C86-1052-4969-37E0-26C5C2B75562}"/>
                </a:ext>
              </a:extLst>
            </p:cNvPr>
            <p:cNvSpPr/>
            <p:nvPr/>
          </p:nvSpPr>
          <p:spPr>
            <a:xfrm>
              <a:off x="10106827" y="1404374"/>
              <a:ext cx="752625" cy="53408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/>
                <a:ea typeface="+mn-ea"/>
                <a:cs typeface="+mn-cs"/>
              </a:endParaRPr>
            </a:p>
          </p:txBody>
        </p:sp>
        <p:sp>
          <p:nvSpPr>
            <p:cNvPr id="98" name="Textfeld 97">
              <a:extLst>
                <a:ext uri="{FF2B5EF4-FFF2-40B4-BE49-F238E27FC236}">
                  <a16:creationId xmlns:a16="http://schemas.microsoft.com/office/drawing/2014/main" id="{F1229F5F-12A0-FB0E-7E17-0BF3425D9D33}"/>
                </a:ext>
              </a:extLst>
            </p:cNvPr>
            <p:cNvSpPr txBox="1"/>
            <p:nvPr/>
          </p:nvSpPr>
          <p:spPr>
            <a:xfrm>
              <a:off x="10092625" y="1544054"/>
              <a:ext cx="894179" cy="24622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rgbClr val="1CD783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  <a:cs typeface="+mn-cs"/>
                </a:rPr>
                <a:t>12,3 M VJ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50B02D15-F969-A818-8439-52EE874F68CF}"/>
              </a:ext>
            </a:extLst>
          </p:cNvPr>
          <p:cNvGrpSpPr/>
          <p:nvPr/>
        </p:nvGrpSpPr>
        <p:grpSpPr>
          <a:xfrm>
            <a:off x="359219" y="3142825"/>
            <a:ext cx="2581275" cy="1480344"/>
            <a:chOff x="4915751" y="2838192"/>
            <a:chExt cx="2581275" cy="1480344"/>
          </a:xfrm>
        </p:grpSpPr>
        <p:sp>
          <p:nvSpPr>
            <p:cNvPr id="78" name="Rechteck 77">
              <a:extLst>
                <a:ext uri="{FF2B5EF4-FFF2-40B4-BE49-F238E27FC236}">
                  <a16:creationId xmlns:a16="http://schemas.microsoft.com/office/drawing/2014/main" id="{75B5FD87-8BEC-08E6-90F3-3973338326B3}"/>
                </a:ext>
              </a:extLst>
            </p:cNvPr>
            <p:cNvSpPr/>
            <p:nvPr/>
          </p:nvSpPr>
          <p:spPr>
            <a:xfrm>
              <a:off x="4915751" y="2838192"/>
              <a:ext cx="2581275" cy="1480344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/>
                <a:ea typeface="+mn-ea"/>
                <a:cs typeface="+mn-cs"/>
              </a:endParaRPr>
            </a:p>
          </p:txBody>
        </p:sp>
        <p:graphicFrame>
          <p:nvGraphicFramePr>
            <p:cNvPr id="99" name="Diagramm 98">
              <a:extLst>
                <a:ext uri="{FF2B5EF4-FFF2-40B4-BE49-F238E27FC236}">
                  <a16:creationId xmlns:a16="http://schemas.microsoft.com/office/drawing/2014/main" id="{952ECC73-143D-D866-7848-02318BE99235}"/>
                </a:ext>
              </a:extLst>
            </p:cNvPr>
            <p:cNvGraphicFramePr/>
            <p:nvPr/>
          </p:nvGraphicFramePr>
          <p:xfrm>
            <a:off x="5014930" y="2927458"/>
            <a:ext cx="1234198" cy="67064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101" name="Diagramm 100">
              <a:extLst>
                <a:ext uri="{FF2B5EF4-FFF2-40B4-BE49-F238E27FC236}">
                  <a16:creationId xmlns:a16="http://schemas.microsoft.com/office/drawing/2014/main" id="{430395AF-BDCF-5BBA-D1A2-CD594F7DA905}"/>
                </a:ext>
              </a:extLst>
            </p:cNvPr>
            <p:cNvGraphicFramePr/>
            <p:nvPr/>
          </p:nvGraphicFramePr>
          <p:xfrm>
            <a:off x="6213417" y="3616660"/>
            <a:ext cx="1206588" cy="68331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102" name="Diagramm 101">
              <a:extLst>
                <a:ext uri="{FF2B5EF4-FFF2-40B4-BE49-F238E27FC236}">
                  <a16:creationId xmlns:a16="http://schemas.microsoft.com/office/drawing/2014/main" id="{DFACF75C-7FE1-BA33-E2AC-0BBC1CDF246E}"/>
                </a:ext>
              </a:extLst>
            </p:cNvPr>
            <p:cNvGraphicFramePr/>
            <p:nvPr/>
          </p:nvGraphicFramePr>
          <p:xfrm>
            <a:off x="5088533" y="3489300"/>
            <a:ext cx="879087" cy="72251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103" name="Diagramm 102">
              <a:extLst>
                <a:ext uri="{FF2B5EF4-FFF2-40B4-BE49-F238E27FC236}">
                  <a16:creationId xmlns:a16="http://schemas.microsoft.com/office/drawing/2014/main" id="{ADC55F35-FB74-0657-ED87-46E0E51DC0F2}"/>
                </a:ext>
              </a:extLst>
            </p:cNvPr>
            <p:cNvGraphicFramePr/>
            <p:nvPr/>
          </p:nvGraphicFramePr>
          <p:xfrm>
            <a:off x="6332254" y="2875581"/>
            <a:ext cx="879087" cy="72251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</p:grpSp>
      <p:pic>
        <p:nvPicPr>
          <p:cNvPr id="106" name="Grafik 105">
            <a:extLst>
              <a:ext uri="{FF2B5EF4-FFF2-40B4-BE49-F238E27FC236}">
                <a16:creationId xmlns:a16="http://schemas.microsoft.com/office/drawing/2014/main" id="{80C35F73-E0CA-702F-FCAF-888F715460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54" y="4939069"/>
            <a:ext cx="2235666" cy="1275234"/>
          </a:xfrm>
          <a:prstGeom prst="rect">
            <a:avLst/>
          </a:prstGeom>
        </p:spPr>
      </p:pic>
      <p:pic>
        <p:nvPicPr>
          <p:cNvPr id="107" name="Grafik 106" descr="Pfeil: Nach rechts drehen mit einfarbiger Füllung">
            <a:extLst>
              <a:ext uri="{FF2B5EF4-FFF2-40B4-BE49-F238E27FC236}">
                <a16:creationId xmlns:a16="http://schemas.microsoft.com/office/drawing/2014/main" id="{055BE668-487A-EB93-3EEF-6535809C53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2104275" y="2737193"/>
            <a:ext cx="470219" cy="470219"/>
          </a:xfrm>
          <a:prstGeom prst="rect">
            <a:avLst/>
          </a:prstGeom>
        </p:spPr>
      </p:pic>
      <p:sp>
        <p:nvSpPr>
          <p:cNvPr id="114" name="Titel 1">
            <a:extLst>
              <a:ext uri="{FF2B5EF4-FFF2-40B4-BE49-F238E27FC236}">
                <a16:creationId xmlns:a16="http://schemas.microsoft.com/office/drawing/2014/main" id="{3FFBD898-3138-4FA7-4F96-8C0BA40FCD0E}"/>
              </a:ext>
            </a:extLst>
          </p:cNvPr>
          <p:cNvSpPr txBox="1">
            <a:spLocks/>
          </p:cNvSpPr>
          <p:nvPr/>
        </p:nvSpPr>
        <p:spPr>
          <a:xfrm>
            <a:off x="180997" y="290104"/>
            <a:ext cx="10515600" cy="52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 err="1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ontserrat Medium"/>
                <a:ea typeface="+mj-ea"/>
                <a:cs typeface="Arial" panose="020B0604020202020204" pitchFamily="34" charset="0"/>
              </a:rPr>
              <a:t>One</a:t>
            </a:r>
            <a:r>
              <a:rPr lang="de-DE" sz="2800">
                <a:solidFill>
                  <a:srgbClr val="E8E8E8"/>
                </a:solidFill>
                <a:latin typeface="Montserrat Medium"/>
              </a:rPr>
              <a:t> </a:t>
            </a: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ontserrat Medium"/>
                <a:ea typeface="+mj-ea"/>
                <a:cs typeface="Arial" panose="020B0604020202020204" pitchFamily="34" charset="0"/>
              </a:rPr>
              <a:t>Pager Layout - Dashboard</a:t>
            </a:r>
          </a:p>
        </p:txBody>
      </p:sp>
      <p:pic>
        <p:nvPicPr>
          <p:cNvPr id="5" name="Grafik 4" descr="Pfeil: Nach rechts drehen mit einfarbiger Füllung">
            <a:extLst>
              <a:ext uri="{FF2B5EF4-FFF2-40B4-BE49-F238E27FC236}">
                <a16:creationId xmlns:a16="http://schemas.microsoft.com/office/drawing/2014/main" id="{9ED5A137-E3FB-E360-7445-722725C6A9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2095247" y="4468129"/>
            <a:ext cx="470219" cy="470219"/>
          </a:xfrm>
          <a:prstGeom prst="rect">
            <a:avLst/>
          </a:prstGeom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4C82D5D8-5666-E400-10D4-737A2A0596D0}"/>
              </a:ext>
            </a:extLst>
          </p:cNvPr>
          <p:cNvGrpSpPr/>
          <p:nvPr/>
        </p:nvGrpSpPr>
        <p:grpSpPr>
          <a:xfrm>
            <a:off x="8529962" y="2561374"/>
            <a:ext cx="1395876" cy="950459"/>
            <a:chOff x="333458" y="1258974"/>
            <a:chExt cx="1395876" cy="950459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509F97C8-1071-3DB7-F933-41B43015C8F8}"/>
                </a:ext>
              </a:extLst>
            </p:cNvPr>
            <p:cNvSpPr/>
            <p:nvPr/>
          </p:nvSpPr>
          <p:spPr>
            <a:xfrm>
              <a:off x="337804" y="1258974"/>
              <a:ext cx="1331621" cy="95045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/>
                <a:ea typeface="+mn-ea"/>
                <a:cs typeface="+mn-cs"/>
              </a:endParaRP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5B3D1320-1E05-6BCA-E777-2951C97554F9}"/>
                </a:ext>
              </a:extLst>
            </p:cNvPr>
            <p:cNvSpPr txBox="1"/>
            <p:nvPr/>
          </p:nvSpPr>
          <p:spPr>
            <a:xfrm>
              <a:off x="346839" y="1610746"/>
              <a:ext cx="1331621" cy="244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rgbClr val="F65164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  <a:cs typeface="+mn-cs"/>
                </a:rPr>
                <a:t>- 5% VJ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D585AF20-75E8-7E62-0C8D-4C6D4EE16F9D}"/>
                </a:ext>
              </a:extLst>
            </p:cNvPr>
            <p:cNvSpPr txBox="1"/>
            <p:nvPr/>
          </p:nvSpPr>
          <p:spPr>
            <a:xfrm>
              <a:off x="337804" y="1901321"/>
              <a:ext cx="6723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  <a:cs typeface="+mn-cs"/>
                </a:rPr>
                <a:t>Ist EUR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7A0EB87E-16C2-D248-08CC-3581DCFEEAB2}"/>
                </a:ext>
              </a:extLst>
            </p:cNvPr>
            <p:cNvSpPr txBox="1"/>
            <p:nvPr/>
          </p:nvSpPr>
          <p:spPr>
            <a:xfrm>
              <a:off x="890361" y="1901321"/>
              <a:ext cx="83897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  <a:cs typeface="+mn-cs"/>
                </a:rPr>
                <a:t>Plan EUR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62ED1B45-0E88-9A28-5664-258B8DBD5277}"/>
                </a:ext>
              </a:extLst>
            </p:cNvPr>
            <p:cNvSpPr txBox="1"/>
            <p:nvPr/>
          </p:nvSpPr>
          <p:spPr>
            <a:xfrm>
              <a:off x="333458" y="1276837"/>
              <a:ext cx="132258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  <a:cs typeface="+mn-cs"/>
                </a:rPr>
                <a:t>Umsatz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FD28DB3-7D64-C538-7687-2095499673F3}"/>
              </a:ext>
            </a:extLst>
          </p:cNvPr>
          <p:cNvGrpSpPr/>
          <p:nvPr/>
        </p:nvGrpSpPr>
        <p:grpSpPr>
          <a:xfrm>
            <a:off x="8462558" y="3645885"/>
            <a:ext cx="1505844" cy="947584"/>
            <a:chOff x="3171781" y="561769"/>
            <a:chExt cx="2378383" cy="1439759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EE58D7DB-3F30-CB0B-E770-43FE980DAE56}"/>
                </a:ext>
              </a:extLst>
            </p:cNvPr>
            <p:cNvGrpSpPr/>
            <p:nvPr/>
          </p:nvGrpSpPr>
          <p:grpSpPr>
            <a:xfrm>
              <a:off x="3189461" y="561771"/>
              <a:ext cx="2360703" cy="1439757"/>
              <a:chOff x="3189461" y="561771"/>
              <a:chExt cx="2360703" cy="1439757"/>
            </a:xfrm>
          </p:grpSpPr>
          <p:grpSp>
            <p:nvGrpSpPr>
              <p:cNvPr id="17" name="Gruppieren 16">
                <a:extLst>
                  <a:ext uri="{FF2B5EF4-FFF2-40B4-BE49-F238E27FC236}">
                    <a16:creationId xmlns:a16="http://schemas.microsoft.com/office/drawing/2014/main" id="{B8BEC280-A3BA-E34D-5DDC-3247817A63EF}"/>
                  </a:ext>
                </a:extLst>
              </p:cNvPr>
              <p:cNvGrpSpPr/>
              <p:nvPr/>
            </p:nvGrpSpPr>
            <p:grpSpPr>
              <a:xfrm>
                <a:off x="3312034" y="561771"/>
                <a:ext cx="2103210" cy="1439757"/>
                <a:chOff x="3273123" y="2711873"/>
                <a:chExt cx="2103210" cy="1439757"/>
              </a:xfrm>
            </p:grpSpPr>
            <p:cxnSp>
              <p:nvCxnSpPr>
                <p:cNvPr id="24" name="Gerader Verbinder 23">
                  <a:extLst>
                    <a:ext uri="{FF2B5EF4-FFF2-40B4-BE49-F238E27FC236}">
                      <a16:creationId xmlns:a16="http://schemas.microsoft.com/office/drawing/2014/main" id="{50B2D22B-376E-E136-64B7-C55894A238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73123" y="2711873"/>
                  <a:ext cx="2103210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Gerader Verbinder 25">
                  <a:extLst>
                    <a:ext uri="{FF2B5EF4-FFF2-40B4-BE49-F238E27FC236}">
                      <a16:creationId xmlns:a16="http://schemas.microsoft.com/office/drawing/2014/main" id="{DAF72568-B630-6EC5-ED7D-CA53DE3187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47284" y="4151630"/>
                  <a:ext cx="2023969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" name="Gruppieren 17">
                <a:extLst>
                  <a:ext uri="{FF2B5EF4-FFF2-40B4-BE49-F238E27FC236}">
                    <a16:creationId xmlns:a16="http://schemas.microsoft.com/office/drawing/2014/main" id="{2690556A-0BBD-DFAA-3B2C-46EE4ED33A55}"/>
                  </a:ext>
                </a:extLst>
              </p:cNvPr>
              <p:cNvGrpSpPr/>
              <p:nvPr/>
            </p:nvGrpSpPr>
            <p:grpSpPr>
              <a:xfrm>
                <a:off x="3189461" y="1136897"/>
                <a:ext cx="2360703" cy="849487"/>
                <a:chOff x="6120278" y="1499589"/>
                <a:chExt cx="2360703" cy="849487"/>
              </a:xfrm>
            </p:grpSpPr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4567A26B-8968-D8C6-FE7A-C972EE5C5124}"/>
                    </a:ext>
                  </a:extLst>
                </p:cNvPr>
                <p:cNvSpPr txBox="1"/>
                <p:nvPr/>
              </p:nvSpPr>
              <p:spPr>
                <a:xfrm>
                  <a:off x="6120278" y="1499589"/>
                  <a:ext cx="2148841" cy="374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l-GR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1CD783"/>
                      </a:solidFill>
                      <a:effectLst/>
                      <a:uLnTx/>
                      <a:uFillTx/>
                      <a:ea typeface="Cambria Math" panose="02040503050406030204" pitchFamily="18" charset="0"/>
                      <a:cs typeface="+mn-cs"/>
                    </a:rPr>
                    <a:t>∆</a:t>
                  </a:r>
                  <a:r>
                    <a:rPr kumimoji="0" lang="de-DE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1CD783"/>
                      </a:solidFill>
                      <a:effectLst/>
                      <a:uLnTx/>
                      <a:uFillTx/>
                      <a:latin typeface="Montserrat Light"/>
                      <a:ea typeface="Cambria Math" panose="02040503050406030204" pitchFamily="18" charset="0"/>
                      <a:cs typeface="+mn-cs"/>
                    </a:rPr>
                    <a:t> 12,3 M VJ</a:t>
                  </a:r>
                </a:p>
              </p:txBody>
            </p:sp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E5364F41-FE81-729C-FA1B-3E6FCA4D712B}"/>
                    </a:ext>
                  </a:extLst>
                </p:cNvPr>
                <p:cNvSpPr txBox="1"/>
                <p:nvPr/>
              </p:nvSpPr>
              <p:spPr>
                <a:xfrm>
                  <a:off x="6228581" y="1974968"/>
                  <a:ext cx="1200502" cy="374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Montserrat Light"/>
                      <a:ea typeface="Cambria Math" panose="02040503050406030204" pitchFamily="18" charset="0"/>
                      <a:cs typeface="+mn-cs"/>
                    </a:rPr>
                    <a:t>Ist EUR</a:t>
                  </a:r>
                </a:p>
              </p:txBody>
            </p:sp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6E386B28-BF12-0841-3B98-D4D7AAF70DF0}"/>
                    </a:ext>
                  </a:extLst>
                </p:cNvPr>
                <p:cNvSpPr txBox="1"/>
                <p:nvPr/>
              </p:nvSpPr>
              <p:spPr>
                <a:xfrm>
                  <a:off x="7155879" y="1959824"/>
                  <a:ext cx="1325102" cy="374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Montserrat Light"/>
                      <a:ea typeface="Cambria Math" panose="02040503050406030204" pitchFamily="18" charset="0"/>
                      <a:cs typeface="+mn-cs"/>
                    </a:rPr>
                    <a:t>Plan</a:t>
                  </a:r>
                  <a:r>
                    <a:rPr kumimoji="0" lang="de-DE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65164"/>
                      </a:solidFill>
                      <a:effectLst/>
                      <a:uLnTx/>
                      <a:uFillTx/>
                      <a:latin typeface="Montserrat Light"/>
                      <a:ea typeface="Cambria Math" panose="02040503050406030204" pitchFamily="18" charset="0"/>
                      <a:cs typeface="+mn-cs"/>
                    </a:rPr>
                    <a:t> </a:t>
                  </a:r>
                  <a:r>
                    <a:rPr kumimoji="0" lang="de-DE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Montserrat Light"/>
                      <a:ea typeface="Cambria Math" panose="02040503050406030204" pitchFamily="18" charset="0"/>
                      <a:cs typeface="+mn-cs"/>
                    </a:rPr>
                    <a:t>EUR</a:t>
                  </a:r>
                </a:p>
              </p:txBody>
            </p:sp>
          </p:grpSp>
        </p:grp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70A1FFA8-B30A-F1AE-1B06-6D190707893D}"/>
                </a:ext>
              </a:extLst>
            </p:cNvPr>
            <p:cNvSpPr txBox="1"/>
            <p:nvPr/>
          </p:nvSpPr>
          <p:spPr>
            <a:xfrm>
              <a:off x="3171781" y="561769"/>
              <a:ext cx="2229193" cy="374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  <a:cs typeface="+mn-cs"/>
                </a:rPr>
                <a:t>Ertrag</a:t>
              </a:r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45136452-1B93-8036-8AB2-B380E3954A14}"/>
              </a:ext>
            </a:extLst>
          </p:cNvPr>
          <p:cNvGrpSpPr/>
          <p:nvPr/>
        </p:nvGrpSpPr>
        <p:grpSpPr>
          <a:xfrm>
            <a:off x="6886968" y="3627937"/>
            <a:ext cx="1374041" cy="902606"/>
            <a:chOff x="8712998" y="1210429"/>
            <a:chExt cx="2253089" cy="1475556"/>
          </a:xfrm>
        </p:grpSpPr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38D800AD-BDE5-FEFE-C66A-D15652A824C4}"/>
                </a:ext>
              </a:extLst>
            </p:cNvPr>
            <p:cNvGrpSpPr/>
            <p:nvPr/>
          </p:nvGrpSpPr>
          <p:grpSpPr>
            <a:xfrm>
              <a:off x="8775799" y="1700466"/>
              <a:ext cx="2190288" cy="985519"/>
              <a:chOff x="5949628" y="1342140"/>
              <a:chExt cx="2190288" cy="985519"/>
            </a:xfrm>
          </p:grpSpPr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2B1772E1-D31C-1F0F-D865-F7A57494476D}"/>
                  </a:ext>
                </a:extLst>
              </p:cNvPr>
              <p:cNvSpPr txBox="1"/>
              <p:nvPr/>
            </p:nvSpPr>
            <p:spPr>
              <a:xfrm>
                <a:off x="5949628" y="1342140"/>
                <a:ext cx="2148840" cy="220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l-GR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F65164"/>
                    </a:solidFill>
                    <a:effectLst/>
                    <a:uLnTx/>
                    <a:uFillTx/>
                    <a:ea typeface="Cambria Math" panose="02040503050406030204" pitchFamily="18" charset="0"/>
                    <a:cs typeface="+mn-cs"/>
                  </a:rPr>
                  <a:t>∆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F65164"/>
                    </a:solidFill>
                    <a:effectLst/>
                    <a:uLnTx/>
                    <a:uFillTx/>
                    <a:latin typeface="Montserrat Light"/>
                    <a:ea typeface="Cambria Math" panose="02040503050406030204" pitchFamily="18" charset="0"/>
                    <a:cs typeface="+mn-cs"/>
                  </a:rPr>
                  <a:t> - 5% VJ</a:t>
                </a:r>
              </a:p>
            </p:txBody>
          </p:sp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85D9BDDA-D5C9-7F30-7CC9-9D57F594F5DE}"/>
                  </a:ext>
                </a:extLst>
              </p:cNvPr>
              <p:cNvSpPr txBox="1"/>
              <p:nvPr/>
            </p:nvSpPr>
            <p:spPr>
              <a:xfrm>
                <a:off x="5983868" y="1919872"/>
                <a:ext cx="1209963" cy="402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ontserrat Light"/>
                    <a:ea typeface="Cambria Math" panose="02040503050406030204" pitchFamily="18" charset="0"/>
                    <a:cs typeface="+mn-cs"/>
                  </a:rPr>
                  <a:t>Ist EUR</a:t>
                </a:r>
              </a:p>
            </p:txBody>
          </p:sp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B172C028-0D80-C412-987B-686F3BAAB355}"/>
                  </a:ext>
                </a:extLst>
              </p:cNvPr>
              <p:cNvSpPr txBox="1"/>
              <p:nvPr/>
            </p:nvSpPr>
            <p:spPr>
              <a:xfrm>
                <a:off x="6798289" y="1925144"/>
                <a:ext cx="1341627" cy="402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ontserrat Light"/>
                    <a:ea typeface="Cambria Math" panose="02040503050406030204" pitchFamily="18" charset="0"/>
                    <a:cs typeface="+mn-cs"/>
                  </a:rPr>
                  <a:t>Plan EUR</a:t>
                </a:r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CAE5D23B-31A5-5926-2E8C-0AF0BCB97D5E}"/>
                </a:ext>
              </a:extLst>
            </p:cNvPr>
            <p:cNvSpPr txBox="1"/>
            <p:nvPr/>
          </p:nvSpPr>
          <p:spPr>
            <a:xfrm>
              <a:off x="8712998" y="1210429"/>
              <a:ext cx="1221920" cy="402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  <a:cs typeface="+mn-cs"/>
                </a:rPr>
                <a:t>Umsatz</a:t>
              </a:r>
            </a:p>
          </p:txBody>
        </p:sp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C26ACA9C-EE33-C131-1A8F-359F6F841742}"/>
              </a:ext>
            </a:extLst>
          </p:cNvPr>
          <p:cNvGrpSpPr/>
          <p:nvPr/>
        </p:nvGrpSpPr>
        <p:grpSpPr>
          <a:xfrm>
            <a:off x="6953479" y="1394907"/>
            <a:ext cx="1449904" cy="982866"/>
            <a:chOff x="6120085" y="1276221"/>
            <a:chExt cx="2367829" cy="1523398"/>
          </a:xfrm>
        </p:grpSpPr>
        <p:graphicFrame>
          <p:nvGraphicFramePr>
            <p:cNvPr id="48" name="Diagramm 47">
              <a:extLst>
                <a:ext uri="{FF2B5EF4-FFF2-40B4-BE49-F238E27FC236}">
                  <a16:creationId xmlns:a16="http://schemas.microsoft.com/office/drawing/2014/main" id="{4F50EE21-05DB-BC2C-0FF5-256F54B10D38}"/>
                </a:ext>
              </a:extLst>
            </p:cNvPr>
            <p:cNvGraphicFramePr/>
            <p:nvPr/>
          </p:nvGraphicFramePr>
          <p:xfrm>
            <a:off x="6136137" y="2066392"/>
            <a:ext cx="2148840" cy="73322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06A1551C-1D40-E1B2-DAAD-C01DBD1AF438}"/>
                </a:ext>
              </a:extLst>
            </p:cNvPr>
            <p:cNvSpPr/>
            <p:nvPr/>
          </p:nvSpPr>
          <p:spPr>
            <a:xfrm>
              <a:off x="6125307" y="1300438"/>
              <a:ext cx="2148840" cy="1428747"/>
            </a:xfrm>
            <a:prstGeom prst="rect">
              <a:avLst/>
            </a:prstGeom>
            <a:noFill/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148840"/>
                        <a:gd name="connsiteY0" fmla="*/ 0 h 1428747"/>
                        <a:gd name="connsiteX1" fmla="*/ 515722 w 2148840"/>
                        <a:gd name="connsiteY1" fmla="*/ 0 h 1428747"/>
                        <a:gd name="connsiteX2" fmla="*/ 988466 w 2148840"/>
                        <a:gd name="connsiteY2" fmla="*/ 0 h 1428747"/>
                        <a:gd name="connsiteX3" fmla="*/ 1568653 w 2148840"/>
                        <a:gd name="connsiteY3" fmla="*/ 0 h 1428747"/>
                        <a:gd name="connsiteX4" fmla="*/ 2148840 w 2148840"/>
                        <a:gd name="connsiteY4" fmla="*/ 0 h 1428747"/>
                        <a:gd name="connsiteX5" fmla="*/ 2148840 w 2148840"/>
                        <a:gd name="connsiteY5" fmla="*/ 461962 h 1428747"/>
                        <a:gd name="connsiteX6" fmla="*/ 2148840 w 2148840"/>
                        <a:gd name="connsiteY6" fmla="*/ 909636 h 1428747"/>
                        <a:gd name="connsiteX7" fmla="*/ 2148840 w 2148840"/>
                        <a:gd name="connsiteY7" fmla="*/ 1428747 h 1428747"/>
                        <a:gd name="connsiteX8" fmla="*/ 1611630 w 2148840"/>
                        <a:gd name="connsiteY8" fmla="*/ 1428747 h 1428747"/>
                        <a:gd name="connsiteX9" fmla="*/ 1138885 w 2148840"/>
                        <a:gd name="connsiteY9" fmla="*/ 1428747 h 1428747"/>
                        <a:gd name="connsiteX10" fmla="*/ 601675 w 2148840"/>
                        <a:gd name="connsiteY10" fmla="*/ 1428747 h 1428747"/>
                        <a:gd name="connsiteX11" fmla="*/ 0 w 2148840"/>
                        <a:gd name="connsiteY11" fmla="*/ 1428747 h 1428747"/>
                        <a:gd name="connsiteX12" fmla="*/ 0 w 2148840"/>
                        <a:gd name="connsiteY12" fmla="*/ 966785 h 1428747"/>
                        <a:gd name="connsiteX13" fmla="*/ 0 w 2148840"/>
                        <a:gd name="connsiteY13" fmla="*/ 504824 h 1428747"/>
                        <a:gd name="connsiteX14" fmla="*/ 0 w 2148840"/>
                        <a:gd name="connsiteY14" fmla="*/ 0 h 142874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2148840" h="1428747" extrusionOk="0">
                          <a:moveTo>
                            <a:pt x="0" y="0"/>
                          </a:moveTo>
                          <a:cubicBezTo>
                            <a:pt x="209063" y="-35849"/>
                            <a:pt x="412495" y="54416"/>
                            <a:pt x="515722" y="0"/>
                          </a:cubicBezTo>
                          <a:cubicBezTo>
                            <a:pt x="618949" y="-54416"/>
                            <a:pt x="785267" y="50952"/>
                            <a:pt x="988466" y="0"/>
                          </a:cubicBezTo>
                          <a:cubicBezTo>
                            <a:pt x="1191665" y="-50952"/>
                            <a:pt x="1335822" y="31002"/>
                            <a:pt x="1568653" y="0"/>
                          </a:cubicBezTo>
                          <a:cubicBezTo>
                            <a:pt x="1801484" y="-31002"/>
                            <a:pt x="1918787" y="37580"/>
                            <a:pt x="2148840" y="0"/>
                          </a:cubicBezTo>
                          <a:cubicBezTo>
                            <a:pt x="2189363" y="203150"/>
                            <a:pt x="2134971" y="330533"/>
                            <a:pt x="2148840" y="461962"/>
                          </a:cubicBezTo>
                          <a:cubicBezTo>
                            <a:pt x="2162709" y="593391"/>
                            <a:pt x="2131272" y="777194"/>
                            <a:pt x="2148840" y="909636"/>
                          </a:cubicBezTo>
                          <a:cubicBezTo>
                            <a:pt x="2166408" y="1042078"/>
                            <a:pt x="2119331" y="1179402"/>
                            <a:pt x="2148840" y="1428747"/>
                          </a:cubicBezTo>
                          <a:cubicBezTo>
                            <a:pt x="1914003" y="1489004"/>
                            <a:pt x="1787734" y="1374526"/>
                            <a:pt x="1611630" y="1428747"/>
                          </a:cubicBezTo>
                          <a:cubicBezTo>
                            <a:pt x="1435526" y="1482968"/>
                            <a:pt x="1265920" y="1422036"/>
                            <a:pt x="1138885" y="1428747"/>
                          </a:cubicBezTo>
                          <a:cubicBezTo>
                            <a:pt x="1011850" y="1435458"/>
                            <a:pt x="823455" y="1392519"/>
                            <a:pt x="601675" y="1428747"/>
                          </a:cubicBezTo>
                          <a:cubicBezTo>
                            <a:pt x="379895" y="1464975"/>
                            <a:pt x="151811" y="1375915"/>
                            <a:pt x="0" y="1428747"/>
                          </a:cubicBezTo>
                          <a:cubicBezTo>
                            <a:pt x="-28324" y="1215676"/>
                            <a:pt x="53171" y="1062743"/>
                            <a:pt x="0" y="966785"/>
                          </a:cubicBezTo>
                          <a:cubicBezTo>
                            <a:pt x="-53171" y="870827"/>
                            <a:pt x="50490" y="625496"/>
                            <a:pt x="0" y="504824"/>
                          </a:cubicBezTo>
                          <a:cubicBezTo>
                            <a:pt x="-50490" y="384152"/>
                            <a:pt x="11310" y="236509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/>
                <a:ea typeface="+mn-ea"/>
                <a:cs typeface="+mn-cs"/>
              </a:endParaRPr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6B6B38FB-6C4B-5F2C-971D-6D789B7E3E63}"/>
                </a:ext>
              </a:extLst>
            </p:cNvPr>
            <p:cNvSpPr txBox="1"/>
            <p:nvPr/>
          </p:nvSpPr>
          <p:spPr>
            <a:xfrm>
              <a:off x="6136137" y="1725542"/>
              <a:ext cx="1219944" cy="3921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1000" b="0" i="0" u="none" strike="noStrike" kern="1200" cap="none" spc="0" normalizeH="0" baseline="0" noProof="0">
                  <a:ln>
                    <a:noFill/>
                  </a:ln>
                  <a:solidFill>
                    <a:srgbClr val="F65164"/>
                  </a:solidFill>
                  <a:effectLst/>
                  <a:uLnTx/>
                  <a:uFillTx/>
                  <a:ea typeface="Cambria Math" panose="02040503050406030204" pitchFamily="18" charset="0"/>
                  <a:cs typeface="+mn-cs"/>
                </a:rPr>
                <a:t>∆</a:t>
              </a: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rgbClr val="F65164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  <a:cs typeface="+mn-cs"/>
                </a:rPr>
                <a:t> - 5% VJ</a:t>
              </a:r>
            </a:p>
          </p:txBody>
        </p: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B841A44D-703C-6BCB-6576-15CF3ACE8E83}"/>
                </a:ext>
              </a:extLst>
            </p:cNvPr>
            <p:cNvSpPr txBox="1"/>
            <p:nvPr/>
          </p:nvSpPr>
          <p:spPr>
            <a:xfrm>
              <a:off x="6120085" y="1276221"/>
              <a:ext cx="1106772" cy="3921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  <a:cs typeface="+mn-cs"/>
                </a:rPr>
                <a:t>Umsatz</a:t>
              </a:r>
            </a:p>
          </p:txBody>
        </p:sp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50E79766-EB14-312D-E012-BF317A391D4D}"/>
                </a:ext>
              </a:extLst>
            </p:cNvPr>
            <p:cNvSpPr txBox="1"/>
            <p:nvPr/>
          </p:nvSpPr>
          <p:spPr>
            <a:xfrm>
              <a:off x="7199727" y="1604725"/>
              <a:ext cx="998733" cy="367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  <a:cs typeface="+mn-cs"/>
                </a:rPr>
                <a:t>Ist EUR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ABF2BCAF-E80B-36CD-FFF7-A651B0691867}"/>
                </a:ext>
              </a:extLst>
            </p:cNvPr>
            <p:cNvSpPr txBox="1"/>
            <p:nvPr/>
          </p:nvSpPr>
          <p:spPr>
            <a:xfrm>
              <a:off x="7199726" y="1912503"/>
              <a:ext cx="1288188" cy="367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  <a:cs typeface="+mn-cs"/>
                </a:rPr>
                <a:t>Plan EUR</a:t>
              </a:r>
            </a:p>
          </p:txBody>
        </p:sp>
      </p:grp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03A1BFC9-A5D7-E7CD-D57C-FBFB9880FE67}"/>
              </a:ext>
            </a:extLst>
          </p:cNvPr>
          <p:cNvGrpSpPr/>
          <p:nvPr/>
        </p:nvGrpSpPr>
        <p:grpSpPr>
          <a:xfrm>
            <a:off x="6906979" y="2552240"/>
            <a:ext cx="1448430" cy="921799"/>
            <a:chOff x="5913718" y="3191192"/>
            <a:chExt cx="1448430" cy="921799"/>
          </a:xfrm>
        </p:grpSpPr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11FDA713-DA2A-47E7-7E4B-F4A7E2A85AC0}"/>
                </a:ext>
              </a:extLst>
            </p:cNvPr>
            <p:cNvGrpSpPr/>
            <p:nvPr/>
          </p:nvGrpSpPr>
          <p:grpSpPr>
            <a:xfrm>
              <a:off x="5913718" y="3538548"/>
              <a:ext cx="1448430" cy="514103"/>
              <a:chOff x="7534803" y="1123986"/>
              <a:chExt cx="1594718" cy="576437"/>
            </a:xfrm>
          </p:grpSpPr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FEBB2738-684A-9600-D1A4-3B1417FC2E86}"/>
                  </a:ext>
                </a:extLst>
              </p:cNvPr>
              <p:cNvSpPr txBox="1"/>
              <p:nvPr/>
            </p:nvSpPr>
            <p:spPr>
              <a:xfrm>
                <a:off x="7602221" y="1123986"/>
                <a:ext cx="1440557" cy="27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1CD783"/>
                    </a:solidFill>
                    <a:effectLst/>
                    <a:uLnTx/>
                    <a:uFillTx/>
                    <a:latin typeface="Montserrat Light"/>
                    <a:ea typeface="Cambria Math" panose="02040503050406030204" pitchFamily="18" charset="0"/>
                    <a:cs typeface="+mn-cs"/>
                  </a:rPr>
                  <a:t>12,3 M VJ</a:t>
                </a:r>
              </a:p>
            </p:txBody>
          </p:sp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64787E07-DFBE-CFAE-2227-5C0EFF9969F6}"/>
                  </a:ext>
                </a:extLst>
              </p:cNvPr>
              <p:cNvSpPr txBox="1"/>
              <p:nvPr/>
            </p:nvSpPr>
            <p:spPr>
              <a:xfrm>
                <a:off x="7534803" y="1424348"/>
                <a:ext cx="744164" cy="27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ontserrat Light"/>
                    <a:ea typeface="Cambria Math" panose="02040503050406030204" pitchFamily="18" charset="0"/>
                    <a:cs typeface="+mn-cs"/>
                  </a:rPr>
                  <a:t>Ist EUR</a:t>
                </a:r>
              </a:p>
            </p:txBody>
          </p:sp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56ACEF4E-1D77-3E42-2CA5-34820FD87050}"/>
                  </a:ext>
                </a:extLst>
              </p:cNvPr>
              <p:cNvSpPr txBox="1"/>
              <p:nvPr/>
            </p:nvSpPr>
            <p:spPr>
              <a:xfrm>
                <a:off x="8200450" y="1424347"/>
                <a:ext cx="929071" cy="27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ontserrat Light"/>
                    <a:ea typeface="Cambria Math" panose="02040503050406030204" pitchFamily="18" charset="0"/>
                    <a:cs typeface="+mn-cs"/>
                  </a:rPr>
                  <a:t>Plan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F65164"/>
                    </a:solidFill>
                    <a:effectLst/>
                    <a:uLnTx/>
                    <a:uFillTx/>
                    <a:latin typeface="Montserrat Light"/>
                    <a:ea typeface="Cambria Math" panose="02040503050406030204" pitchFamily="18" charset="0"/>
                    <a:cs typeface="+mn-cs"/>
                  </a:rPr>
                  <a:t> 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ontserrat Light"/>
                    <a:ea typeface="Cambria Math" panose="02040503050406030204" pitchFamily="18" charset="0"/>
                    <a:cs typeface="+mn-cs"/>
                  </a:rPr>
                  <a:t>EUR</a:t>
                </a:r>
              </a:p>
            </p:txBody>
          </p:sp>
        </p:grp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0F25EB5C-6508-7160-E573-6CAF45F29EB7}"/>
                </a:ext>
              </a:extLst>
            </p:cNvPr>
            <p:cNvSpPr txBox="1"/>
            <p:nvPr/>
          </p:nvSpPr>
          <p:spPr>
            <a:xfrm>
              <a:off x="6033705" y="3262075"/>
              <a:ext cx="12167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  <a:cs typeface="+mn-cs"/>
                </a:rPr>
                <a:t>Ertrag</a:t>
              </a:r>
            </a:p>
          </p:txBody>
        </p:sp>
        <p:sp>
          <p:nvSpPr>
            <p:cNvPr id="58" name="Rechteck: abgerundete Ecken 57">
              <a:extLst>
                <a:ext uri="{FF2B5EF4-FFF2-40B4-BE49-F238E27FC236}">
                  <a16:creationId xmlns:a16="http://schemas.microsoft.com/office/drawing/2014/main" id="{B27CF8A3-EB4E-E4EF-1E8F-88131D739707}"/>
                </a:ext>
              </a:extLst>
            </p:cNvPr>
            <p:cNvSpPr/>
            <p:nvPr/>
          </p:nvSpPr>
          <p:spPr>
            <a:xfrm>
              <a:off x="5958560" y="3191192"/>
              <a:ext cx="1332269" cy="9217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/>
                <a:ea typeface="+mn-ea"/>
                <a:cs typeface="+mn-cs"/>
              </a:endParaRPr>
            </a:p>
          </p:txBody>
        </p:sp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2E5F7A70-1199-8E65-5A47-A492DA5D61C0}"/>
              </a:ext>
            </a:extLst>
          </p:cNvPr>
          <p:cNvGrpSpPr/>
          <p:nvPr/>
        </p:nvGrpSpPr>
        <p:grpSpPr>
          <a:xfrm>
            <a:off x="8442371" y="1405826"/>
            <a:ext cx="1561271" cy="979128"/>
            <a:chOff x="7943848" y="1823675"/>
            <a:chExt cx="1561271" cy="1002137"/>
          </a:xfrm>
        </p:grpSpPr>
        <p:grpSp>
          <p:nvGrpSpPr>
            <p:cNvPr id="63" name="Gruppieren 62">
              <a:extLst>
                <a:ext uri="{FF2B5EF4-FFF2-40B4-BE49-F238E27FC236}">
                  <a16:creationId xmlns:a16="http://schemas.microsoft.com/office/drawing/2014/main" id="{3B6AF379-AA98-3F1B-6629-39824EA0B51D}"/>
                </a:ext>
              </a:extLst>
            </p:cNvPr>
            <p:cNvGrpSpPr/>
            <p:nvPr/>
          </p:nvGrpSpPr>
          <p:grpSpPr>
            <a:xfrm>
              <a:off x="8014431" y="2055043"/>
              <a:ext cx="1453625" cy="438161"/>
              <a:chOff x="13495951" y="-1691896"/>
              <a:chExt cx="1453625" cy="438161"/>
            </a:xfrm>
          </p:grpSpPr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739E4506-76B1-5C0C-600B-9B057F004349}"/>
                  </a:ext>
                </a:extLst>
              </p:cNvPr>
              <p:cNvSpPr txBox="1"/>
              <p:nvPr/>
            </p:nvSpPr>
            <p:spPr>
              <a:xfrm>
                <a:off x="13495951" y="-1691896"/>
                <a:ext cx="133162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l-GR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F65164"/>
                    </a:solidFill>
                    <a:effectLst/>
                    <a:uLnTx/>
                    <a:uFillTx/>
                    <a:ea typeface="Cambria Math" panose="02040503050406030204" pitchFamily="18" charset="0"/>
                    <a:cs typeface="+mn-cs"/>
                  </a:rPr>
                  <a:t>∆</a:t>
                </a: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F65164"/>
                    </a:solidFill>
                    <a:effectLst/>
                    <a:uLnTx/>
                    <a:uFillTx/>
                    <a:latin typeface="Montserrat Light"/>
                    <a:ea typeface="Cambria Math" panose="02040503050406030204" pitchFamily="18" charset="0"/>
                    <a:cs typeface="+mn-cs"/>
                  </a:rPr>
                  <a:t> - 5% VJ</a:t>
                </a:r>
              </a:p>
            </p:txBody>
          </p:sp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B03DB421-9119-9589-C77A-CB537A04917E}"/>
                  </a:ext>
                </a:extLst>
              </p:cNvPr>
              <p:cNvSpPr txBox="1"/>
              <p:nvPr/>
            </p:nvSpPr>
            <p:spPr>
              <a:xfrm>
                <a:off x="13495951" y="-1508003"/>
                <a:ext cx="67710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ontserrat Light"/>
                    <a:ea typeface="Cambria Math" panose="02040503050406030204" pitchFamily="18" charset="0"/>
                    <a:cs typeface="+mn-cs"/>
                  </a:rPr>
                  <a:t>Ist EUR</a:t>
                </a:r>
              </a:p>
            </p:txBody>
          </p:sp>
          <p:sp>
            <p:nvSpPr>
              <p:cNvPr id="76" name="Textfeld 75">
                <a:extLst>
                  <a:ext uri="{FF2B5EF4-FFF2-40B4-BE49-F238E27FC236}">
                    <a16:creationId xmlns:a16="http://schemas.microsoft.com/office/drawing/2014/main" id="{E504419A-8E9E-EFE1-E5DB-E79D7AB6D2DE}"/>
                  </a:ext>
                </a:extLst>
              </p:cNvPr>
              <p:cNvSpPr txBox="1"/>
              <p:nvPr/>
            </p:nvSpPr>
            <p:spPr>
              <a:xfrm>
                <a:off x="14114592" y="-1505742"/>
                <a:ext cx="834984" cy="252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ontserrat Light"/>
                    <a:ea typeface="Cambria Math" panose="02040503050406030204" pitchFamily="18" charset="0"/>
                    <a:cs typeface="+mn-cs"/>
                  </a:rPr>
                  <a:t>Plan EUR</a:t>
                </a:r>
              </a:p>
            </p:txBody>
          </p:sp>
        </p:grpSp>
        <p:sp>
          <p:nvSpPr>
            <p:cNvPr id="66" name="Textfeld 65">
              <a:extLst>
                <a:ext uri="{FF2B5EF4-FFF2-40B4-BE49-F238E27FC236}">
                  <a16:creationId xmlns:a16="http://schemas.microsoft.com/office/drawing/2014/main" id="{A4DCE2F3-5A2F-6E45-2F2B-E9142B93E714}"/>
                </a:ext>
              </a:extLst>
            </p:cNvPr>
            <p:cNvSpPr txBox="1"/>
            <p:nvPr/>
          </p:nvSpPr>
          <p:spPr>
            <a:xfrm>
              <a:off x="8361340" y="1823675"/>
              <a:ext cx="6892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Cambria Math" panose="02040503050406030204" pitchFamily="18" charset="0"/>
                  <a:cs typeface="+mn-cs"/>
                </a:rPr>
                <a:t>Umsatz</a:t>
              </a:r>
            </a:p>
          </p:txBody>
        </p:sp>
        <p:graphicFrame>
          <p:nvGraphicFramePr>
            <p:cNvPr id="68" name="Diagramm 67">
              <a:extLst>
                <a:ext uri="{FF2B5EF4-FFF2-40B4-BE49-F238E27FC236}">
                  <a16:creationId xmlns:a16="http://schemas.microsoft.com/office/drawing/2014/main" id="{4AEBF535-18F1-509D-D2EF-72160C43F4D9}"/>
                </a:ext>
              </a:extLst>
            </p:cNvPr>
            <p:cNvGraphicFramePr/>
            <p:nvPr/>
          </p:nvGraphicFramePr>
          <p:xfrm>
            <a:off x="7943848" y="2362047"/>
            <a:ext cx="1561271" cy="46376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39F3351B-6AF9-805D-FE6D-0E9726153D8B}"/>
                </a:ext>
              </a:extLst>
            </p:cNvPr>
            <p:cNvSpPr/>
            <p:nvPr/>
          </p:nvSpPr>
          <p:spPr>
            <a:xfrm>
              <a:off x="8040142" y="1823675"/>
              <a:ext cx="1331621" cy="95045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Light"/>
                <a:ea typeface="+mn-ea"/>
                <a:cs typeface="+mn-cs"/>
              </a:endParaRPr>
            </a:p>
          </p:txBody>
        </p:sp>
      </p:grpSp>
      <p:sp>
        <p:nvSpPr>
          <p:cNvPr id="100" name="Rechteck 99">
            <a:extLst>
              <a:ext uri="{FF2B5EF4-FFF2-40B4-BE49-F238E27FC236}">
                <a16:creationId xmlns:a16="http://schemas.microsoft.com/office/drawing/2014/main" id="{1F8820C7-719F-23DE-1667-D569C39652D8}"/>
              </a:ext>
            </a:extLst>
          </p:cNvPr>
          <p:cNvSpPr/>
          <p:nvPr/>
        </p:nvSpPr>
        <p:spPr>
          <a:xfrm rot="5400000">
            <a:off x="8613771" y="3103560"/>
            <a:ext cx="1610675" cy="51616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4" name="Rechteck 103">
            <a:extLst>
              <a:ext uri="{FF2B5EF4-FFF2-40B4-BE49-F238E27FC236}">
                <a16:creationId xmlns:a16="http://schemas.microsoft.com/office/drawing/2014/main" id="{C6A6C75F-E214-4C70-DAF9-4E468E9A2C1F}"/>
              </a:ext>
            </a:extLst>
          </p:cNvPr>
          <p:cNvSpPr/>
          <p:nvPr/>
        </p:nvSpPr>
        <p:spPr>
          <a:xfrm>
            <a:off x="10086257" y="981074"/>
            <a:ext cx="1924746" cy="3726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5" name="Textfeld 104">
            <a:extLst>
              <a:ext uri="{FF2B5EF4-FFF2-40B4-BE49-F238E27FC236}">
                <a16:creationId xmlns:a16="http://schemas.microsoft.com/office/drawing/2014/main" id="{54B354E5-BCFF-E7ED-7C24-7A2ED5CE6DB2}"/>
              </a:ext>
            </a:extLst>
          </p:cNvPr>
          <p:cNvSpPr txBox="1"/>
          <p:nvPr/>
        </p:nvSpPr>
        <p:spPr>
          <a:xfrm>
            <a:off x="7177528" y="4914890"/>
            <a:ext cx="4833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Beachte die Leserichtung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Titelkonzept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Beachte die visuelle Interaktion – Filterübergabe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Nutze gezielt Microcharts als Filterelemente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Setze Icons sinnvoll und sparsam ein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Achte auf eine sinnvolle Schriftgröße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Zielgruppe – welches Dashboard passt</a:t>
            </a:r>
          </a:p>
        </p:txBody>
      </p:sp>
      <p:graphicFrame>
        <p:nvGraphicFramePr>
          <p:cNvPr id="108" name="Diagramm 107">
            <a:extLst>
              <a:ext uri="{FF2B5EF4-FFF2-40B4-BE49-F238E27FC236}">
                <a16:creationId xmlns:a16="http://schemas.microsoft.com/office/drawing/2014/main" id="{13EFFDB0-8632-2E36-563C-F4FE0BB543CC}"/>
              </a:ext>
            </a:extLst>
          </p:cNvPr>
          <p:cNvGraphicFramePr/>
          <p:nvPr/>
        </p:nvGraphicFramePr>
        <p:xfrm>
          <a:off x="10085044" y="1293646"/>
          <a:ext cx="864752" cy="7489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112" name="Diagramm 111">
            <a:extLst>
              <a:ext uri="{FF2B5EF4-FFF2-40B4-BE49-F238E27FC236}">
                <a16:creationId xmlns:a16="http://schemas.microsoft.com/office/drawing/2014/main" id="{C96E51C0-8B22-3AE1-27A0-BC0E0B7AD083}"/>
              </a:ext>
            </a:extLst>
          </p:cNvPr>
          <p:cNvGraphicFramePr/>
          <p:nvPr/>
        </p:nvGraphicFramePr>
        <p:xfrm>
          <a:off x="10043807" y="2048972"/>
          <a:ext cx="950897" cy="841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115" name="Diagramm 114">
            <a:extLst>
              <a:ext uri="{FF2B5EF4-FFF2-40B4-BE49-F238E27FC236}">
                <a16:creationId xmlns:a16="http://schemas.microsoft.com/office/drawing/2014/main" id="{44BC1534-FC54-B2E6-A852-968DA60E3A97}"/>
              </a:ext>
            </a:extLst>
          </p:cNvPr>
          <p:cNvGraphicFramePr/>
          <p:nvPr/>
        </p:nvGraphicFramePr>
        <p:xfrm>
          <a:off x="11093059" y="1150308"/>
          <a:ext cx="887933" cy="1222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116" name="Textfeld 115">
            <a:extLst>
              <a:ext uri="{FF2B5EF4-FFF2-40B4-BE49-F238E27FC236}">
                <a16:creationId xmlns:a16="http://schemas.microsoft.com/office/drawing/2014/main" id="{E9AE5006-715D-A08A-BB29-199853D3EEB4}"/>
              </a:ext>
            </a:extLst>
          </p:cNvPr>
          <p:cNvSpPr txBox="1"/>
          <p:nvPr/>
        </p:nvSpPr>
        <p:spPr>
          <a:xfrm>
            <a:off x="6838960" y="970529"/>
            <a:ext cx="1141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Kacheln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2ED1330A-2356-F881-CB41-BF3DE3166386}"/>
              </a:ext>
            </a:extLst>
          </p:cNvPr>
          <p:cNvSpPr txBox="1"/>
          <p:nvPr/>
        </p:nvSpPr>
        <p:spPr>
          <a:xfrm>
            <a:off x="10078296" y="979494"/>
            <a:ext cx="1770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Microcharts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8B124ECF-C807-BC3F-FA1F-7CD22AF2B3C0}"/>
              </a:ext>
            </a:extLst>
          </p:cNvPr>
          <p:cNvSpPr txBox="1"/>
          <p:nvPr/>
        </p:nvSpPr>
        <p:spPr>
          <a:xfrm>
            <a:off x="3194551" y="970530"/>
            <a:ext cx="3582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Leserichtung</a:t>
            </a:r>
          </a:p>
        </p:txBody>
      </p:sp>
      <p:sp>
        <p:nvSpPr>
          <p:cNvPr id="119" name="Textfeld 118">
            <a:extLst>
              <a:ext uri="{FF2B5EF4-FFF2-40B4-BE49-F238E27FC236}">
                <a16:creationId xmlns:a16="http://schemas.microsoft.com/office/drawing/2014/main" id="{EA6407A6-059D-F6C0-A9E4-C47392110384}"/>
              </a:ext>
            </a:extLst>
          </p:cNvPr>
          <p:cNvSpPr txBox="1"/>
          <p:nvPr/>
        </p:nvSpPr>
        <p:spPr>
          <a:xfrm>
            <a:off x="180997" y="1000108"/>
            <a:ext cx="29653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Shneidermann Mantra</a:t>
            </a:r>
          </a:p>
        </p:txBody>
      </p:sp>
      <p:graphicFrame>
        <p:nvGraphicFramePr>
          <p:cNvPr id="120" name="Diagramm 119">
            <a:extLst>
              <a:ext uri="{FF2B5EF4-FFF2-40B4-BE49-F238E27FC236}">
                <a16:creationId xmlns:a16="http://schemas.microsoft.com/office/drawing/2014/main" id="{AE47FFBC-DAB9-1FF9-C5A2-F225DEB0A6A0}"/>
              </a:ext>
            </a:extLst>
          </p:cNvPr>
          <p:cNvGraphicFramePr/>
          <p:nvPr/>
        </p:nvGraphicFramePr>
        <p:xfrm>
          <a:off x="10975763" y="2326474"/>
          <a:ext cx="1074587" cy="5552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21" name="Textfeld 120">
            <a:extLst>
              <a:ext uri="{FF2B5EF4-FFF2-40B4-BE49-F238E27FC236}">
                <a16:creationId xmlns:a16="http://schemas.microsoft.com/office/drawing/2014/main" id="{730E7B13-3349-A0FC-C98C-247B178277BD}"/>
              </a:ext>
            </a:extLst>
          </p:cNvPr>
          <p:cNvSpPr txBox="1"/>
          <p:nvPr/>
        </p:nvSpPr>
        <p:spPr>
          <a:xfrm>
            <a:off x="10109242" y="3023748"/>
            <a:ext cx="1770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Icons</a:t>
            </a:r>
          </a:p>
        </p:txBody>
      </p:sp>
      <p:pic>
        <p:nvPicPr>
          <p:cNvPr id="122" name="Inhaltsplatzhalter 13" descr="Zurück mit einfarbiger Füllung">
            <a:extLst>
              <a:ext uri="{FF2B5EF4-FFF2-40B4-BE49-F238E27FC236}">
                <a16:creationId xmlns:a16="http://schemas.microsoft.com/office/drawing/2014/main" id="{E1CC559B-9E54-8BB2-9461-B58E31BACB3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779533" y="3476096"/>
            <a:ext cx="399173" cy="399173"/>
          </a:xfrm>
          <a:prstGeom prst="rect">
            <a:avLst/>
          </a:prstGeom>
        </p:spPr>
      </p:pic>
      <p:pic>
        <p:nvPicPr>
          <p:cNvPr id="123" name="Grafik 122" descr="Zurück mit einfarbiger Füllung">
            <a:extLst>
              <a:ext uri="{FF2B5EF4-FFF2-40B4-BE49-F238E27FC236}">
                <a16:creationId xmlns:a16="http://schemas.microsoft.com/office/drawing/2014/main" id="{5CAA9F6C-0A91-1A0A-4EE3-5A46E9CED9D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399517" y="3468573"/>
            <a:ext cx="395139" cy="395139"/>
          </a:xfrm>
          <a:prstGeom prst="rect">
            <a:avLst/>
          </a:prstGeom>
        </p:spPr>
      </p:pic>
      <p:pic>
        <p:nvPicPr>
          <p:cNvPr id="124" name="Grafik 123" descr="Start mit einfarbiger Füllung">
            <a:extLst>
              <a:ext uri="{FF2B5EF4-FFF2-40B4-BE49-F238E27FC236}">
                <a16:creationId xmlns:a16="http://schemas.microsoft.com/office/drawing/2014/main" id="{4A6A21E3-B14E-3D9D-4A78-EE28B72051A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95416" y="3464539"/>
            <a:ext cx="399173" cy="399173"/>
          </a:xfrm>
          <a:prstGeom prst="rect">
            <a:avLst/>
          </a:prstGeom>
        </p:spPr>
      </p:pic>
      <p:pic>
        <p:nvPicPr>
          <p:cNvPr id="125" name="Grafik 124" descr="Informationen mit einfarbiger Füllung">
            <a:extLst>
              <a:ext uri="{FF2B5EF4-FFF2-40B4-BE49-F238E27FC236}">
                <a16:creationId xmlns:a16="http://schemas.microsoft.com/office/drawing/2014/main" id="{83097B38-7421-8A21-9F6E-3298963583E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885047" y="3946768"/>
            <a:ext cx="398388" cy="398388"/>
          </a:xfrm>
          <a:prstGeom prst="rect">
            <a:avLst/>
          </a:prstGeom>
        </p:spPr>
      </p:pic>
      <p:grpSp>
        <p:nvGrpSpPr>
          <p:cNvPr id="126" name="Gruppieren 125">
            <a:extLst>
              <a:ext uri="{FF2B5EF4-FFF2-40B4-BE49-F238E27FC236}">
                <a16:creationId xmlns:a16="http://schemas.microsoft.com/office/drawing/2014/main" id="{C015C33E-CEA4-209D-10B9-EDD27AD4B506}"/>
              </a:ext>
            </a:extLst>
          </p:cNvPr>
          <p:cNvGrpSpPr/>
          <p:nvPr/>
        </p:nvGrpSpPr>
        <p:grpSpPr>
          <a:xfrm>
            <a:off x="11396268" y="3963671"/>
            <a:ext cx="398388" cy="399173"/>
            <a:chOff x="5638800" y="2971800"/>
            <a:chExt cx="914400" cy="914400"/>
          </a:xfrm>
          <a:solidFill>
            <a:schemeClr val="accent5"/>
          </a:solidFill>
        </p:grpSpPr>
        <p:pic>
          <p:nvPicPr>
            <p:cNvPr id="127" name="Grafik 126" descr="Tabelle mit einfarbiger Füllung">
              <a:extLst>
                <a:ext uri="{FF2B5EF4-FFF2-40B4-BE49-F238E27FC236}">
                  <a16:creationId xmlns:a16="http://schemas.microsoft.com/office/drawing/2014/main" id="{C4DF4F2A-B5CC-6EDC-5445-EF4B06E8B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859294" y="3158322"/>
              <a:ext cx="473412" cy="473412"/>
            </a:xfrm>
            <a:prstGeom prst="rect">
              <a:avLst/>
            </a:prstGeom>
          </p:spPr>
        </p:pic>
        <p:pic>
          <p:nvPicPr>
            <p:cNvPr id="128" name="Grafik 127" descr="Laptop mit einfarbiger Füllung">
              <a:extLst>
                <a:ext uri="{FF2B5EF4-FFF2-40B4-BE49-F238E27FC236}">
                  <a16:creationId xmlns:a16="http://schemas.microsoft.com/office/drawing/2014/main" id="{DEED5E69-AD38-1671-EF8E-867DD9C92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5638800" y="2971800"/>
              <a:ext cx="914400" cy="914400"/>
            </a:xfrm>
            <a:prstGeom prst="rect">
              <a:avLst/>
            </a:prstGeom>
          </p:spPr>
        </p:pic>
      </p:grpSp>
      <p:pic>
        <p:nvPicPr>
          <p:cNvPr id="129" name="Grafik 128" descr="Anheften mit einfarbiger Füllung">
            <a:extLst>
              <a:ext uri="{FF2B5EF4-FFF2-40B4-BE49-F238E27FC236}">
                <a16:creationId xmlns:a16="http://schemas.microsoft.com/office/drawing/2014/main" id="{F3653287-1989-26BE-C52C-3A19D43415E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813099" y="4864795"/>
            <a:ext cx="423059" cy="423059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E4F575AD-27F2-C54A-A889-BEFD11B7C880}"/>
              </a:ext>
            </a:extLst>
          </p:cNvPr>
          <p:cNvSpPr/>
          <p:nvPr/>
        </p:nvSpPr>
        <p:spPr>
          <a:xfrm>
            <a:off x="6948774" y="3627296"/>
            <a:ext cx="1330343" cy="950459"/>
          </a:xfrm>
          <a:prstGeom prst="rect">
            <a:avLst/>
          </a:prstGeom>
          <a:noFill/>
          <a:ln w="6350" cmpd="sng"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330343"/>
                      <a:gd name="connsiteY0" fmla="*/ 0 h 950459"/>
                      <a:gd name="connsiteX1" fmla="*/ 1330343 w 1330343"/>
                      <a:gd name="connsiteY1" fmla="*/ 0 h 950459"/>
                      <a:gd name="connsiteX2" fmla="*/ 1330343 w 1330343"/>
                      <a:gd name="connsiteY2" fmla="*/ 950459 h 950459"/>
                      <a:gd name="connsiteX3" fmla="*/ 0 w 1330343"/>
                      <a:gd name="connsiteY3" fmla="*/ 950459 h 950459"/>
                      <a:gd name="connsiteX4" fmla="*/ 0 w 1330343"/>
                      <a:gd name="connsiteY4" fmla="*/ 0 h 9504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30343" h="950459" extrusionOk="0">
                        <a:moveTo>
                          <a:pt x="0" y="0"/>
                        </a:moveTo>
                        <a:cubicBezTo>
                          <a:pt x="457228" y="33249"/>
                          <a:pt x="722301" y="-56158"/>
                          <a:pt x="1330343" y="0"/>
                        </a:cubicBezTo>
                        <a:cubicBezTo>
                          <a:pt x="1302986" y="353769"/>
                          <a:pt x="1360219" y="564625"/>
                          <a:pt x="1330343" y="950459"/>
                        </a:cubicBezTo>
                        <a:cubicBezTo>
                          <a:pt x="878181" y="994232"/>
                          <a:pt x="214328" y="875674"/>
                          <a:pt x="0" y="950459"/>
                        </a:cubicBezTo>
                        <a:cubicBezTo>
                          <a:pt x="-2851" y="749462"/>
                          <a:pt x="-71263" y="30724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Light"/>
              <a:ea typeface="+mn-ea"/>
              <a:cs typeface="+mn-cs"/>
            </a:endParaRPr>
          </a:p>
        </p:txBody>
      </p:sp>
      <p:pic>
        <p:nvPicPr>
          <p:cNvPr id="30" name="Grafik 29" descr="Markee nicht mehr folgen mit einfarbiger Füllung">
            <a:extLst>
              <a:ext uri="{FF2B5EF4-FFF2-40B4-BE49-F238E27FC236}">
                <a16:creationId xmlns:a16="http://schemas.microsoft.com/office/drawing/2014/main" id="{72E8D3A3-855E-D285-2EAE-4CEE871AAD47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flipV="1">
            <a:off x="10475837" y="3997153"/>
            <a:ext cx="294859" cy="294859"/>
          </a:xfrm>
          <a:prstGeom prst="rect">
            <a:avLst/>
          </a:prstGeom>
        </p:spPr>
      </p:pic>
      <p:pic>
        <p:nvPicPr>
          <p:cNvPr id="41" name="Grafik 40" descr="Hinzufügen mit einfarbiger Füllung">
            <a:extLst>
              <a:ext uri="{FF2B5EF4-FFF2-40B4-BE49-F238E27FC236}">
                <a16:creationId xmlns:a16="http://schemas.microsoft.com/office/drawing/2014/main" id="{43CEB4F7-1663-0598-49BE-F6243CF8F24A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235448" y="4038628"/>
            <a:ext cx="219164" cy="219164"/>
          </a:xfrm>
          <a:prstGeom prst="rect">
            <a:avLst/>
          </a:prstGeom>
        </p:spPr>
      </p:pic>
      <p:sp>
        <p:nvSpPr>
          <p:cNvPr id="130" name="Textfeld 129">
            <a:extLst>
              <a:ext uri="{FF2B5EF4-FFF2-40B4-BE49-F238E27FC236}">
                <a16:creationId xmlns:a16="http://schemas.microsoft.com/office/drawing/2014/main" id="{2F67EF0B-15B3-B5AF-FA80-D1A6CF2283D2}"/>
              </a:ext>
            </a:extLst>
          </p:cNvPr>
          <p:cNvSpPr txBox="1"/>
          <p:nvPr/>
        </p:nvSpPr>
        <p:spPr>
          <a:xfrm>
            <a:off x="365255" y="3154112"/>
            <a:ext cx="9936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Titelkonzept</a:t>
            </a:r>
          </a:p>
        </p:txBody>
      </p:sp>
    </p:spTree>
    <p:extLst>
      <p:ext uri="{BB962C8B-B14F-4D97-AF65-F5344CB8AC3E}">
        <p14:creationId xmlns:p14="http://schemas.microsoft.com/office/powerpoint/2010/main" val="1675264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4B9D8C0-8C89-4F80-74B1-4722A6034DD1}"/>
              </a:ext>
            </a:extLst>
          </p:cNvPr>
          <p:cNvSpPr/>
          <p:nvPr/>
        </p:nvSpPr>
        <p:spPr>
          <a:xfrm>
            <a:off x="1923" y="-21565"/>
            <a:ext cx="12190077" cy="10375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Light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417E95-0267-0628-2A1B-E0FDB5158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solidFill>
                  <a:schemeClr val="bg2"/>
                </a:solidFill>
              </a:rPr>
              <a:t>One</a:t>
            </a:r>
            <a:r>
              <a:rPr lang="de-DE">
                <a:solidFill>
                  <a:schemeClr val="bg2"/>
                </a:solidFill>
              </a:rPr>
              <a:t> Pager Standard Diagramme</a:t>
            </a:r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7E6EC91B-6BAF-6D30-3016-F88CE1531248}"/>
              </a:ext>
            </a:extLst>
          </p:cNvPr>
          <p:cNvGraphicFramePr/>
          <p:nvPr/>
        </p:nvGraphicFramePr>
        <p:xfrm>
          <a:off x="457074" y="1822174"/>
          <a:ext cx="2047587" cy="1464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EEDC6ABE-EC56-3F5E-B3A0-0ED698B2FE8B}"/>
              </a:ext>
            </a:extLst>
          </p:cNvPr>
          <p:cNvGraphicFramePr/>
          <p:nvPr/>
        </p:nvGraphicFramePr>
        <p:xfrm>
          <a:off x="2504661" y="1729205"/>
          <a:ext cx="3591339" cy="155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Diagramm 10">
            <a:extLst>
              <a:ext uri="{FF2B5EF4-FFF2-40B4-BE49-F238E27FC236}">
                <a16:creationId xmlns:a16="http://schemas.microsoft.com/office/drawing/2014/main" id="{73B677C0-40D8-1101-33BA-1BB72DA0A223}"/>
              </a:ext>
            </a:extLst>
          </p:cNvPr>
          <p:cNvGraphicFramePr/>
          <p:nvPr/>
        </p:nvGraphicFramePr>
        <p:xfrm>
          <a:off x="6096000" y="1871680"/>
          <a:ext cx="5831082" cy="155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feld 11">
            <a:extLst>
              <a:ext uri="{FF2B5EF4-FFF2-40B4-BE49-F238E27FC236}">
                <a16:creationId xmlns:a16="http://schemas.microsoft.com/office/drawing/2014/main" id="{55437441-C6D9-C854-C37C-BD2E41C03365}"/>
              </a:ext>
            </a:extLst>
          </p:cNvPr>
          <p:cNvSpPr txBox="1"/>
          <p:nvPr/>
        </p:nvSpPr>
        <p:spPr>
          <a:xfrm>
            <a:off x="337804" y="1234421"/>
            <a:ext cx="662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Zeit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92FBFE8-517C-103A-77EE-1A93DDE4B276}"/>
              </a:ext>
            </a:extLst>
          </p:cNvPr>
          <p:cNvSpPr txBox="1"/>
          <p:nvPr/>
        </p:nvSpPr>
        <p:spPr>
          <a:xfrm>
            <a:off x="337803" y="3571476"/>
            <a:ext cx="1146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Struktur</a:t>
            </a:r>
          </a:p>
        </p:txBody>
      </p:sp>
      <p:graphicFrame>
        <p:nvGraphicFramePr>
          <p:cNvPr id="14" name="Diagramm 13">
            <a:extLst>
              <a:ext uri="{FF2B5EF4-FFF2-40B4-BE49-F238E27FC236}">
                <a16:creationId xmlns:a16="http://schemas.microsoft.com/office/drawing/2014/main" id="{08C758E4-275B-4B3B-2E33-7AE58394142A}"/>
              </a:ext>
            </a:extLst>
          </p:cNvPr>
          <p:cNvGraphicFramePr/>
          <p:nvPr/>
        </p:nvGraphicFramePr>
        <p:xfrm>
          <a:off x="337803" y="4092699"/>
          <a:ext cx="2869096" cy="2454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Textfeld 14">
            <a:extLst>
              <a:ext uri="{FF2B5EF4-FFF2-40B4-BE49-F238E27FC236}">
                <a16:creationId xmlns:a16="http://schemas.microsoft.com/office/drawing/2014/main" id="{DBC73D31-AA3A-3EC9-EE72-529111E6AC36}"/>
              </a:ext>
            </a:extLst>
          </p:cNvPr>
          <p:cNvSpPr txBox="1"/>
          <p:nvPr/>
        </p:nvSpPr>
        <p:spPr>
          <a:xfrm>
            <a:off x="3727110" y="3571476"/>
            <a:ext cx="1146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Anteil</a:t>
            </a:r>
          </a:p>
        </p:txBody>
      </p:sp>
      <p:graphicFrame>
        <p:nvGraphicFramePr>
          <p:cNvPr id="16" name="Diagramm 15">
            <a:extLst>
              <a:ext uri="{FF2B5EF4-FFF2-40B4-BE49-F238E27FC236}">
                <a16:creationId xmlns:a16="http://schemas.microsoft.com/office/drawing/2014/main" id="{573DA69F-0BED-92F5-F226-40C1DB698118}"/>
              </a:ext>
            </a:extLst>
          </p:cNvPr>
          <p:cNvGraphicFramePr/>
          <p:nvPr/>
        </p:nvGraphicFramePr>
        <p:xfrm>
          <a:off x="3206899" y="4092699"/>
          <a:ext cx="2908979" cy="2454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" name="Textfeld 16">
            <a:extLst>
              <a:ext uri="{FF2B5EF4-FFF2-40B4-BE49-F238E27FC236}">
                <a16:creationId xmlns:a16="http://schemas.microsoft.com/office/drawing/2014/main" id="{A3C441DD-0138-7423-A02E-CCEDD3155EB6}"/>
              </a:ext>
            </a:extLst>
          </p:cNvPr>
          <p:cNvSpPr txBox="1"/>
          <p:nvPr/>
        </p:nvSpPr>
        <p:spPr>
          <a:xfrm>
            <a:off x="5486272" y="5838245"/>
            <a:ext cx="8634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Produkt A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5CF710E-8811-8FB8-0A3F-0F4331E6EEE3}"/>
              </a:ext>
            </a:extLst>
          </p:cNvPr>
          <p:cNvSpPr txBox="1"/>
          <p:nvPr/>
        </p:nvSpPr>
        <p:spPr>
          <a:xfrm>
            <a:off x="3019456" y="4844332"/>
            <a:ext cx="836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Produkt B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7472BCD-751F-DCDE-87F5-E8DCC487F338}"/>
              </a:ext>
            </a:extLst>
          </p:cNvPr>
          <p:cNvSpPr txBox="1"/>
          <p:nvPr/>
        </p:nvSpPr>
        <p:spPr>
          <a:xfrm>
            <a:off x="6296695" y="3565487"/>
            <a:ext cx="3808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Kombi-Diagramm mit Abweichung</a:t>
            </a:r>
          </a:p>
        </p:txBody>
      </p:sp>
      <p:graphicFrame>
        <p:nvGraphicFramePr>
          <p:cNvPr id="21" name="Diagramm 20">
            <a:extLst>
              <a:ext uri="{FF2B5EF4-FFF2-40B4-BE49-F238E27FC236}">
                <a16:creationId xmlns:a16="http://schemas.microsoft.com/office/drawing/2014/main" id="{A4FB7F99-9E2B-DE0F-C00C-D7B9A9D5C664}"/>
              </a:ext>
            </a:extLst>
          </p:cNvPr>
          <p:cNvGraphicFramePr/>
          <p:nvPr/>
        </p:nvGraphicFramePr>
        <p:xfrm>
          <a:off x="6420361" y="4411362"/>
          <a:ext cx="1996808" cy="1112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2" name="Diagramm 21">
            <a:extLst>
              <a:ext uri="{FF2B5EF4-FFF2-40B4-BE49-F238E27FC236}">
                <a16:creationId xmlns:a16="http://schemas.microsoft.com/office/drawing/2014/main" id="{CFEF6418-7F17-0237-2306-9175894C4D7E}"/>
              </a:ext>
            </a:extLst>
          </p:cNvPr>
          <p:cNvGraphicFramePr/>
          <p:nvPr/>
        </p:nvGraphicFramePr>
        <p:xfrm>
          <a:off x="6394972" y="5082398"/>
          <a:ext cx="2047587" cy="1464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3" name="Diagramm 22">
            <a:extLst>
              <a:ext uri="{FF2B5EF4-FFF2-40B4-BE49-F238E27FC236}">
                <a16:creationId xmlns:a16="http://schemas.microsoft.com/office/drawing/2014/main" id="{BC1BF0FF-C93D-C691-733C-77126D20E11B}"/>
              </a:ext>
            </a:extLst>
          </p:cNvPr>
          <p:cNvGraphicFramePr/>
          <p:nvPr/>
        </p:nvGraphicFramePr>
        <p:xfrm>
          <a:off x="8629077" y="4092699"/>
          <a:ext cx="2324959" cy="2454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4" name="Diagramm 23">
            <a:extLst>
              <a:ext uri="{FF2B5EF4-FFF2-40B4-BE49-F238E27FC236}">
                <a16:creationId xmlns:a16="http://schemas.microsoft.com/office/drawing/2014/main" id="{DABFDF57-1CF3-3D8A-2925-6DC8832C34ED}"/>
              </a:ext>
            </a:extLst>
          </p:cNvPr>
          <p:cNvGraphicFramePr/>
          <p:nvPr/>
        </p:nvGraphicFramePr>
        <p:xfrm>
          <a:off x="10422834" y="4092699"/>
          <a:ext cx="1504247" cy="2454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8FB2A875-C90B-3329-FF6E-9B326664CD03}"/>
              </a:ext>
            </a:extLst>
          </p:cNvPr>
          <p:cNvSpPr txBox="1"/>
          <p:nvPr/>
        </p:nvSpPr>
        <p:spPr>
          <a:xfrm>
            <a:off x="337803" y="1546174"/>
            <a:ext cx="1757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z. B. Umsatz über die Zeit; Tage, Wochen, Monate, etc.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3ED3161-4C30-376F-23CA-671F7DECDFF8}"/>
              </a:ext>
            </a:extLst>
          </p:cNvPr>
          <p:cNvSpPr txBox="1"/>
          <p:nvPr/>
        </p:nvSpPr>
        <p:spPr>
          <a:xfrm>
            <a:off x="337804" y="3856427"/>
            <a:ext cx="21668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z. B. Produkte im Vergleich zueinander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054B91F-EEDC-96E2-1FD1-FDA2AB1F5B43}"/>
              </a:ext>
            </a:extLst>
          </p:cNvPr>
          <p:cNvSpPr txBox="1"/>
          <p:nvPr/>
        </p:nvSpPr>
        <p:spPr>
          <a:xfrm>
            <a:off x="6296695" y="3856427"/>
            <a:ext cx="23844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„Die Abweichung ist deine beste Freundin!“</a:t>
            </a: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9A5BC0F-6ABF-DBF4-A7F8-A7FFAF60AF71}"/>
              </a:ext>
            </a:extLst>
          </p:cNvPr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81C4DD63-6F5A-C012-4E94-CE88D12DD91A}"/>
              </a:ext>
            </a:extLst>
          </p:cNvPr>
          <p:cNvSpPr txBox="1"/>
          <p:nvPr/>
        </p:nvSpPr>
        <p:spPr>
          <a:xfrm>
            <a:off x="6195264" y="1540178"/>
            <a:ext cx="3319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ab 13 Werten empfiehlt es sich ein </a:t>
            </a:r>
            <a:r>
              <a:rPr kumimoji="0" lang="de-DE" sz="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Liniendiargamm</a:t>
            </a: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 zu nutzen; ggf. ist auch eine Trendlinie hilfreich.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B278CDED-8A8C-6011-5B3C-41574E5BCD7F}"/>
              </a:ext>
            </a:extLst>
          </p:cNvPr>
          <p:cNvSpPr txBox="1"/>
          <p:nvPr/>
        </p:nvSpPr>
        <p:spPr>
          <a:xfrm>
            <a:off x="3727110" y="3857492"/>
            <a:ext cx="1598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+mn-cs"/>
              </a:rPr>
              <a:t>Anteil vom Ganzen, 2 Werte</a:t>
            </a:r>
          </a:p>
        </p:txBody>
      </p:sp>
    </p:spTree>
    <p:extLst>
      <p:ext uri="{BB962C8B-B14F-4D97-AF65-F5344CB8AC3E}">
        <p14:creationId xmlns:p14="http://schemas.microsoft.com/office/powerpoint/2010/main" val="2928694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990A5F-79FE-2049-00F3-0DA9FCAEB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7214" y="3863604"/>
            <a:ext cx="5543510" cy="2296471"/>
          </a:xfrm>
        </p:spPr>
        <p:txBody>
          <a:bodyPr>
            <a:normAutofit/>
          </a:bodyPr>
          <a:lstStyle/>
          <a:p>
            <a:r>
              <a:rPr lang="de-DE" sz="1600"/>
              <a:t>Standard </a:t>
            </a:r>
            <a:r>
              <a:rPr lang="de-DE" sz="1600" err="1"/>
              <a:t>Farbset</a:t>
            </a:r>
            <a:r>
              <a:rPr lang="de-DE" sz="1600"/>
              <a:t> Definieren</a:t>
            </a:r>
          </a:p>
          <a:p>
            <a:r>
              <a:rPr lang="de-DE" sz="1600" err="1"/>
              <a:t>Json</a:t>
            </a:r>
            <a:r>
              <a:rPr lang="de-DE" sz="1600"/>
              <a:t> Datei hinterlegen</a:t>
            </a:r>
          </a:p>
          <a:p>
            <a:r>
              <a:rPr lang="de-DE" sz="1600"/>
              <a:t>CI Design Farben sind oft ungeeignet </a:t>
            </a:r>
            <a:br>
              <a:rPr lang="de-DE" sz="1600"/>
            </a:br>
            <a:r>
              <a:rPr lang="de-DE" sz="1400"/>
              <a:t>(siehe Navigation &amp; Icons)</a:t>
            </a:r>
          </a:p>
          <a:p>
            <a:r>
              <a:rPr lang="de-DE" sz="1600"/>
              <a:t>Möglichst keine Farbverläufe</a:t>
            </a:r>
          </a:p>
          <a:p>
            <a:r>
              <a:rPr lang="de-DE" sz="1600"/>
              <a:t>Nutze die Standard Schrift im Tool </a:t>
            </a:r>
            <a:br>
              <a:rPr lang="de-DE" sz="1600"/>
            </a:br>
            <a:r>
              <a:rPr lang="de-DE" sz="1400"/>
              <a:t>(</a:t>
            </a:r>
            <a:r>
              <a:rPr lang="de-DE" sz="1400" err="1"/>
              <a:t>PowerBI</a:t>
            </a:r>
            <a:r>
              <a:rPr lang="de-DE" sz="1400"/>
              <a:t> Segoe UI) 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CB544AF-83AE-1435-EB2C-D9C764C5E586}"/>
              </a:ext>
            </a:extLst>
          </p:cNvPr>
          <p:cNvSpPr txBox="1"/>
          <p:nvPr/>
        </p:nvSpPr>
        <p:spPr>
          <a:xfrm>
            <a:off x="250854" y="1260672"/>
            <a:ext cx="21771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Diagramme Primär</a:t>
            </a:r>
          </a:p>
        </p:txBody>
      </p:sp>
      <p:sp>
        <p:nvSpPr>
          <p:cNvPr id="5" name="Textfeld 7">
            <a:extLst>
              <a:ext uri="{FF2B5EF4-FFF2-40B4-BE49-F238E27FC236}">
                <a16:creationId xmlns:a16="http://schemas.microsoft.com/office/drawing/2014/main" id="{41D84AFA-4136-6124-E659-30C63ED95919}"/>
              </a:ext>
            </a:extLst>
          </p:cNvPr>
          <p:cNvSpPr txBox="1"/>
          <p:nvPr/>
        </p:nvSpPr>
        <p:spPr>
          <a:xfrm>
            <a:off x="2619338" y="1508317"/>
            <a:ext cx="10550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#37374F</a:t>
            </a:r>
          </a:p>
        </p:txBody>
      </p:sp>
      <p:sp>
        <p:nvSpPr>
          <p:cNvPr id="6" name="Textfeld 32">
            <a:extLst>
              <a:ext uri="{FF2B5EF4-FFF2-40B4-BE49-F238E27FC236}">
                <a16:creationId xmlns:a16="http://schemas.microsoft.com/office/drawing/2014/main" id="{E6F15DD4-68C4-2660-5352-65D80A215E3C}"/>
              </a:ext>
            </a:extLst>
          </p:cNvPr>
          <p:cNvSpPr txBox="1"/>
          <p:nvPr/>
        </p:nvSpPr>
        <p:spPr>
          <a:xfrm>
            <a:off x="2627352" y="1260672"/>
            <a:ext cx="1037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#717A90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4DC6C71-CEB5-EBB1-7BC2-35337D4A5C3B}"/>
              </a:ext>
            </a:extLst>
          </p:cNvPr>
          <p:cNvSpPr txBox="1"/>
          <p:nvPr/>
        </p:nvSpPr>
        <p:spPr>
          <a:xfrm>
            <a:off x="250854" y="1508318"/>
            <a:ext cx="24593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Diagramme Sekundär</a:t>
            </a:r>
          </a:p>
        </p:txBody>
      </p:sp>
      <p:graphicFrame>
        <p:nvGraphicFramePr>
          <p:cNvPr id="8" name="Diagramm 7">
            <a:extLst>
              <a:ext uri="{FF2B5EF4-FFF2-40B4-BE49-F238E27FC236}">
                <a16:creationId xmlns:a16="http://schemas.microsoft.com/office/drawing/2014/main" id="{5632ADB1-E01D-03A9-B7D9-B999434A57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5169248"/>
              </p:ext>
            </p:extLst>
          </p:nvPr>
        </p:nvGraphicFramePr>
        <p:xfrm>
          <a:off x="250859" y="1785316"/>
          <a:ext cx="1890256" cy="1362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E2852D00-A5E1-3140-7151-65A3128130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0961776"/>
              </p:ext>
            </p:extLst>
          </p:nvPr>
        </p:nvGraphicFramePr>
        <p:xfrm>
          <a:off x="2141115" y="2032963"/>
          <a:ext cx="1593318" cy="1114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Diagramm 9">
            <a:extLst>
              <a:ext uri="{FF2B5EF4-FFF2-40B4-BE49-F238E27FC236}">
                <a16:creationId xmlns:a16="http://schemas.microsoft.com/office/drawing/2014/main" id="{179A934D-8675-3C73-601E-3675AAFEB034}"/>
              </a:ext>
            </a:extLst>
          </p:cNvPr>
          <p:cNvGraphicFramePr/>
          <p:nvPr/>
        </p:nvGraphicFramePr>
        <p:xfrm>
          <a:off x="3576757" y="2032963"/>
          <a:ext cx="2397310" cy="1114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feld 10">
            <a:extLst>
              <a:ext uri="{FF2B5EF4-FFF2-40B4-BE49-F238E27FC236}">
                <a16:creationId xmlns:a16="http://schemas.microsoft.com/office/drawing/2014/main" id="{1768D2FD-191D-0E57-4101-6AE1171295F9}"/>
              </a:ext>
            </a:extLst>
          </p:cNvPr>
          <p:cNvSpPr txBox="1"/>
          <p:nvPr/>
        </p:nvSpPr>
        <p:spPr>
          <a:xfrm>
            <a:off x="304063" y="3874634"/>
            <a:ext cx="23278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Positive Abweichung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0E4D63A-761C-9E2C-0530-E6A86D908257}"/>
              </a:ext>
            </a:extLst>
          </p:cNvPr>
          <p:cNvSpPr txBox="1"/>
          <p:nvPr/>
        </p:nvSpPr>
        <p:spPr>
          <a:xfrm>
            <a:off x="304063" y="4129672"/>
            <a:ext cx="2451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Negative Abweichung</a:t>
            </a:r>
          </a:p>
        </p:txBody>
      </p:sp>
      <p:sp>
        <p:nvSpPr>
          <p:cNvPr id="13" name="Textfeld 16">
            <a:extLst>
              <a:ext uri="{FF2B5EF4-FFF2-40B4-BE49-F238E27FC236}">
                <a16:creationId xmlns:a16="http://schemas.microsoft.com/office/drawing/2014/main" id="{335716A2-366C-5000-6B84-0E75BF77AB72}"/>
              </a:ext>
            </a:extLst>
          </p:cNvPr>
          <p:cNvSpPr txBox="1"/>
          <p:nvPr/>
        </p:nvSpPr>
        <p:spPr>
          <a:xfrm>
            <a:off x="2672547" y="3863604"/>
            <a:ext cx="1077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#1CD783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0970181-3FDE-CD8F-3972-56926AFD4EFF}"/>
              </a:ext>
            </a:extLst>
          </p:cNvPr>
          <p:cNvSpPr txBox="1"/>
          <p:nvPr/>
        </p:nvSpPr>
        <p:spPr>
          <a:xfrm>
            <a:off x="2672547" y="4153784"/>
            <a:ext cx="10230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#F65164</a:t>
            </a:r>
          </a:p>
        </p:txBody>
      </p:sp>
      <p:graphicFrame>
        <p:nvGraphicFramePr>
          <p:cNvPr id="15" name="Diagramm 14">
            <a:extLst>
              <a:ext uri="{FF2B5EF4-FFF2-40B4-BE49-F238E27FC236}">
                <a16:creationId xmlns:a16="http://schemas.microsoft.com/office/drawing/2014/main" id="{E324EEED-4EE6-DEEE-2EB3-B4FEC59C8F74}"/>
              </a:ext>
            </a:extLst>
          </p:cNvPr>
          <p:cNvGraphicFramePr/>
          <p:nvPr/>
        </p:nvGraphicFramePr>
        <p:xfrm>
          <a:off x="250855" y="4507856"/>
          <a:ext cx="2694902" cy="18061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6" name="Diagramm 15">
            <a:extLst>
              <a:ext uri="{FF2B5EF4-FFF2-40B4-BE49-F238E27FC236}">
                <a16:creationId xmlns:a16="http://schemas.microsoft.com/office/drawing/2014/main" id="{BF6781AB-C01C-24E9-B5A0-0ADFAD9D3CA8}"/>
              </a:ext>
            </a:extLst>
          </p:cNvPr>
          <p:cNvGraphicFramePr/>
          <p:nvPr/>
        </p:nvGraphicFramePr>
        <p:xfrm>
          <a:off x="3479950" y="4468226"/>
          <a:ext cx="1887055" cy="20785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D82AA82F-5BE5-4DFB-B607-FEA5C87BEC13}"/>
              </a:ext>
            </a:extLst>
          </p:cNvPr>
          <p:cNvGrpSpPr/>
          <p:nvPr/>
        </p:nvGrpSpPr>
        <p:grpSpPr>
          <a:xfrm>
            <a:off x="6525569" y="954771"/>
            <a:ext cx="2329484" cy="1441902"/>
            <a:chOff x="6117793" y="361907"/>
            <a:chExt cx="2329484" cy="1441902"/>
          </a:xfrm>
        </p:grpSpPr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480A4E7-2C57-D61B-0F7B-1F9CABFDF8DD}"/>
                </a:ext>
              </a:extLst>
            </p:cNvPr>
            <p:cNvSpPr txBox="1"/>
            <p:nvPr/>
          </p:nvSpPr>
          <p:spPr>
            <a:xfrm>
              <a:off x="6137411" y="361907"/>
              <a:ext cx="189025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Historic" panose="020B0502040204020203" pitchFamily="34" charset="0"/>
                  <a:ea typeface="Segoe UI Historic" panose="020B0502040204020203" pitchFamily="34" charset="0"/>
                  <a:cs typeface="Segoe UI Historic" panose="020B0502040204020203" pitchFamily="34" charset="0"/>
                </a:rPr>
                <a:t>1 2 3 4 5 6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Historic" panose="020B0502040204020203" pitchFamily="34" charset="0"/>
                  <a:ea typeface="Segoe UI Historic" panose="020B0502040204020203" pitchFamily="34" charset="0"/>
                  <a:cs typeface="Segoe UI Historic" panose="020B0502040204020203" pitchFamily="34" charset="0"/>
                </a:rPr>
                <a:t>A B C D E </a:t>
              </a: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0BA32C8A-797D-F4F0-4487-21513E963DEC}"/>
                </a:ext>
              </a:extLst>
            </p:cNvPr>
            <p:cNvSpPr txBox="1"/>
            <p:nvPr/>
          </p:nvSpPr>
          <p:spPr>
            <a:xfrm>
              <a:off x="6117793" y="1199292"/>
              <a:ext cx="23294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+mn-ea"/>
                  <a:cs typeface="Arial" panose="020B0604020202020204" pitchFamily="34" charset="0"/>
                </a:rPr>
                <a:t>Beschriftung</a:t>
              </a:r>
              <a:r>
                <a:rPr kumimoji="0" lang="de-DE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+mn-ea"/>
                  <a:cs typeface="Arial" panose="020B0604020202020204" pitchFamily="34" charset="0"/>
                </a:rPr>
                <a:t> / Zahlen</a:t>
              </a:r>
            </a:p>
          </p:txBody>
        </p:sp>
        <p:sp>
          <p:nvSpPr>
            <p:cNvPr id="19" name="Textfeld 32">
              <a:extLst>
                <a:ext uri="{FF2B5EF4-FFF2-40B4-BE49-F238E27FC236}">
                  <a16:creationId xmlns:a16="http://schemas.microsoft.com/office/drawing/2014/main" id="{A83A0E2B-351F-5F60-98CF-1F623C7ADB6C}"/>
                </a:ext>
              </a:extLst>
            </p:cNvPr>
            <p:cNvSpPr txBox="1"/>
            <p:nvPr/>
          </p:nvSpPr>
          <p:spPr>
            <a:xfrm>
              <a:off x="6137411" y="1465255"/>
              <a:ext cx="15840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+mn-ea"/>
                  <a:cs typeface="Arial" panose="020B0604020202020204" pitchFamily="34" charset="0"/>
                </a:rPr>
                <a:t>HEX #</a:t>
              </a: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+mn-ea"/>
                  <a:cs typeface="Arial" panose="020B0604020202020204" pitchFamily="34" charset="0"/>
                </a:rPr>
                <a:t>000000</a:t>
              </a:r>
            </a:p>
          </p:txBody>
        </p:sp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E5C66EBD-F3FC-5502-1AD2-EA64D988ECD1}"/>
              </a:ext>
            </a:extLst>
          </p:cNvPr>
          <p:cNvGrpSpPr/>
          <p:nvPr/>
        </p:nvGrpSpPr>
        <p:grpSpPr>
          <a:xfrm>
            <a:off x="9078969" y="1229754"/>
            <a:ext cx="2539325" cy="891405"/>
            <a:chOff x="8788460" y="736985"/>
            <a:chExt cx="2968576" cy="891405"/>
          </a:xfrm>
        </p:grpSpPr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34B9F004-D039-EE82-A9F0-7D4841F3C01E}"/>
                </a:ext>
              </a:extLst>
            </p:cNvPr>
            <p:cNvSpPr txBox="1"/>
            <p:nvPr/>
          </p:nvSpPr>
          <p:spPr>
            <a:xfrm>
              <a:off x="8788460" y="736985"/>
              <a:ext cx="28900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+mn-ea"/>
                  <a:cs typeface="Arial" panose="020B0604020202020204" pitchFamily="34" charset="0"/>
                </a:rPr>
                <a:t>Schrift – Fett &amp; Normal</a:t>
              </a: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96AA55EA-503E-451B-42C0-1A956993A860}"/>
                </a:ext>
              </a:extLst>
            </p:cNvPr>
            <p:cNvSpPr txBox="1"/>
            <p:nvPr/>
          </p:nvSpPr>
          <p:spPr>
            <a:xfrm>
              <a:off x="8788460" y="1019012"/>
              <a:ext cx="29685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+mn-ea"/>
                  <a:cs typeface="Arial" panose="020B0604020202020204" pitchFamily="34" charset="0"/>
                </a:rPr>
                <a:t>Standard-Schriftart</a:t>
              </a:r>
            </a:p>
          </p:txBody>
        </p:sp>
        <p:sp>
          <p:nvSpPr>
            <p:cNvPr id="24" name="Textfeld 32">
              <a:extLst>
                <a:ext uri="{FF2B5EF4-FFF2-40B4-BE49-F238E27FC236}">
                  <a16:creationId xmlns:a16="http://schemas.microsoft.com/office/drawing/2014/main" id="{F15CE6EE-17EB-48C4-9781-D63EFEF54067}"/>
                </a:ext>
              </a:extLst>
            </p:cNvPr>
            <p:cNvSpPr txBox="1"/>
            <p:nvPr/>
          </p:nvSpPr>
          <p:spPr>
            <a:xfrm>
              <a:off x="8788460" y="1289836"/>
              <a:ext cx="13252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+mn-ea"/>
                  <a:cs typeface="Arial" panose="020B0604020202020204" pitchFamily="34" charset="0"/>
                </a:rPr>
                <a:t>#000000</a:t>
              </a:r>
            </a:p>
          </p:txBody>
        </p:sp>
      </p:grpSp>
      <p:sp>
        <p:nvSpPr>
          <p:cNvPr id="34" name="Textfeld 33">
            <a:extLst>
              <a:ext uri="{FF2B5EF4-FFF2-40B4-BE49-F238E27FC236}">
                <a16:creationId xmlns:a16="http://schemas.microsoft.com/office/drawing/2014/main" id="{482F4FA9-A346-5596-3CBB-E989BEFDC16D}"/>
              </a:ext>
            </a:extLst>
          </p:cNvPr>
          <p:cNvSpPr txBox="1"/>
          <p:nvPr/>
        </p:nvSpPr>
        <p:spPr>
          <a:xfrm>
            <a:off x="8990483" y="2449022"/>
            <a:ext cx="14478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Schriftgröße</a:t>
            </a:r>
          </a:p>
        </p:txBody>
      </p:sp>
      <p:sp>
        <p:nvSpPr>
          <p:cNvPr id="35" name="Textfeld 32">
            <a:extLst>
              <a:ext uri="{FF2B5EF4-FFF2-40B4-BE49-F238E27FC236}">
                <a16:creationId xmlns:a16="http://schemas.microsoft.com/office/drawing/2014/main" id="{31BDF02D-C9D5-535E-1901-36DF8E892201}"/>
              </a:ext>
            </a:extLst>
          </p:cNvPr>
          <p:cNvSpPr txBox="1"/>
          <p:nvPr/>
        </p:nvSpPr>
        <p:spPr>
          <a:xfrm>
            <a:off x="10511672" y="2521365"/>
            <a:ext cx="8274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10+ bis 20 </a:t>
            </a:r>
          </a:p>
        </p:txBody>
      </p:sp>
      <p:sp>
        <p:nvSpPr>
          <p:cNvPr id="39" name="Titel 1">
            <a:extLst>
              <a:ext uri="{FF2B5EF4-FFF2-40B4-BE49-F238E27FC236}">
                <a16:creationId xmlns:a16="http://schemas.microsoft.com/office/drawing/2014/main" id="{97D54080-1E72-1F1D-51C7-719876F5D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804" y="311251"/>
            <a:ext cx="11526344" cy="526126"/>
          </a:xfrm>
        </p:spPr>
        <p:txBody>
          <a:bodyPr>
            <a:normAutofit/>
          </a:bodyPr>
          <a:lstStyle/>
          <a:p>
            <a:r>
              <a:rPr lang="de-DE"/>
              <a:t>Farben und Schrift</a:t>
            </a:r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945AF2AD-1748-2F41-50BB-1595DBC11327}"/>
              </a:ext>
            </a:extLst>
          </p:cNvPr>
          <p:cNvGrpSpPr/>
          <p:nvPr/>
        </p:nvGrpSpPr>
        <p:grpSpPr>
          <a:xfrm>
            <a:off x="6525569" y="2590344"/>
            <a:ext cx="1882629" cy="698943"/>
            <a:chOff x="6053027" y="2402348"/>
            <a:chExt cx="1882629" cy="698943"/>
          </a:xfrm>
        </p:grpSpPr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4AE6B4D0-BE83-9302-725A-E68077F684B1}"/>
                </a:ext>
              </a:extLst>
            </p:cNvPr>
            <p:cNvSpPr txBox="1"/>
            <p:nvPr/>
          </p:nvSpPr>
          <p:spPr>
            <a:xfrm>
              <a:off x="6072645" y="2456480"/>
              <a:ext cx="18630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+mn-ea"/>
                  <a:cs typeface="Arial" panose="020B0604020202020204" pitchFamily="34" charset="0"/>
                </a:rPr>
                <a:t>Rahmen / Linien</a:t>
              </a:r>
            </a:p>
          </p:txBody>
        </p:sp>
        <p:sp>
          <p:nvSpPr>
            <p:cNvPr id="21" name="Textfeld 32">
              <a:extLst>
                <a:ext uri="{FF2B5EF4-FFF2-40B4-BE49-F238E27FC236}">
                  <a16:creationId xmlns:a16="http://schemas.microsoft.com/office/drawing/2014/main" id="{1C0D097E-D8E8-B82D-AADA-7688584E6F33}"/>
                </a:ext>
              </a:extLst>
            </p:cNvPr>
            <p:cNvSpPr txBox="1"/>
            <p:nvPr/>
          </p:nvSpPr>
          <p:spPr>
            <a:xfrm>
              <a:off x="6096000" y="2762737"/>
              <a:ext cx="11336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ea typeface="+mn-ea"/>
                  <a:cs typeface="Arial" panose="020B0604020202020204" pitchFamily="34" charset="0"/>
                </a:rPr>
                <a:t>#000000</a:t>
              </a:r>
            </a:p>
          </p:txBody>
        </p: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50CE9BEC-86E2-327E-48B2-F4866EDF0D82}"/>
                </a:ext>
              </a:extLst>
            </p:cNvPr>
            <p:cNvCxnSpPr>
              <a:cxnSpLocks/>
            </p:cNvCxnSpPr>
            <p:nvPr/>
          </p:nvCxnSpPr>
          <p:spPr>
            <a:xfrm>
              <a:off x="6053027" y="2402348"/>
              <a:ext cx="17816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A0854169-146D-99F9-5EE6-924B631A2A15}"/>
              </a:ext>
            </a:extLst>
          </p:cNvPr>
          <p:cNvCxnSpPr>
            <a:cxnSpLocks/>
          </p:cNvCxnSpPr>
          <p:nvPr/>
        </p:nvCxnSpPr>
        <p:spPr>
          <a:xfrm>
            <a:off x="6166470" y="2466520"/>
            <a:ext cx="561385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9E391196-DA1F-C08E-6C68-8C365346D713}"/>
              </a:ext>
            </a:extLst>
          </p:cNvPr>
          <p:cNvCxnSpPr>
            <a:cxnSpLocks/>
          </p:cNvCxnSpPr>
          <p:nvPr/>
        </p:nvCxnSpPr>
        <p:spPr>
          <a:xfrm flipV="1">
            <a:off x="8904288" y="1041215"/>
            <a:ext cx="0" cy="238778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206B91E9-8F4D-D6E2-5321-A09E9D75D346}"/>
              </a:ext>
            </a:extLst>
          </p:cNvPr>
          <p:cNvSpPr txBox="1"/>
          <p:nvPr/>
        </p:nvSpPr>
        <p:spPr>
          <a:xfrm>
            <a:off x="8979318" y="2738329"/>
            <a:ext cx="13195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Überschrift</a:t>
            </a:r>
          </a:p>
        </p:txBody>
      </p:sp>
      <p:sp>
        <p:nvSpPr>
          <p:cNvPr id="45" name="Textfeld 32">
            <a:extLst>
              <a:ext uri="{FF2B5EF4-FFF2-40B4-BE49-F238E27FC236}">
                <a16:creationId xmlns:a16="http://schemas.microsoft.com/office/drawing/2014/main" id="{6AD5EDFF-84E4-387C-CF94-9E8E043E463F}"/>
              </a:ext>
            </a:extLst>
          </p:cNvPr>
          <p:cNvSpPr txBox="1"/>
          <p:nvPr/>
        </p:nvSpPr>
        <p:spPr>
          <a:xfrm>
            <a:off x="10524509" y="2790144"/>
            <a:ext cx="7184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14 bis 20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10E47655-AAF9-6E20-566F-4C9D315657C9}"/>
              </a:ext>
            </a:extLst>
          </p:cNvPr>
          <p:cNvSpPr txBox="1"/>
          <p:nvPr/>
        </p:nvSpPr>
        <p:spPr>
          <a:xfrm>
            <a:off x="8973396" y="3020025"/>
            <a:ext cx="127631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Beschriftungen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(Diagramme, etc.)</a:t>
            </a:r>
          </a:p>
        </p:txBody>
      </p:sp>
      <p:sp>
        <p:nvSpPr>
          <p:cNvPr id="48" name="Textfeld 32">
            <a:extLst>
              <a:ext uri="{FF2B5EF4-FFF2-40B4-BE49-F238E27FC236}">
                <a16:creationId xmlns:a16="http://schemas.microsoft.com/office/drawing/2014/main" id="{6B743C63-ADA2-17EC-92E5-8CB7886ABC1B}"/>
              </a:ext>
            </a:extLst>
          </p:cNvPr>
          <p:cNvSpPr txBox="1"/>
          <p:nvPr/>
        </p:nvSpPr>
        <p:spPr>
          <a:xfrm>
            <a:off x="10519679" y="3047539"/>
            <a:ext cx="6367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ea typeface="+mn-ea"/>
                <a:cs typeface="Arial" panose="020B0604020202020204" pitchFamily="34" charset="0"/>
              </a:rPr>
              <a:t>8 bis 16</a:t>
            </a:r>
          </a:p>
        </p:txBody>
      </p:sp>
    </p:spTree>
    <p:extLst>
      <p:ext uri="{BB962C8B-B14F-4D97-AF65-F5344CB8AC3E}">
        <p14:creationId xmlns:p14="http://schemas.microsoft.com/office/powerpoint/2010/main" val="4180655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Datenpioniere_Dashboardkonzept_04.24.">
      <a:dk1>
        <a:srgbClr val="000000"/>
      </a:dk1>
      <a:lt1>
        <a:sysClr val="window" lastClr="FFFFFF"/>
      </a:lt1>
      <a:dk2>
        <a:srgbClr val="000000"/>
      </a:dk2>
      <a:lt2>
        <a:srgbClr val="E8E8E8"/>
      </a:lt2>
      <a:accent1>
        <a:srgbClr val="37374F"/>
      </a:accent1>
      <a:accent2>
        <a:srgbClr val="717A90"/>
      </a:accent2>
      <a:accent3>
        <a:srgbClr val="37374F"/>
      </a:accent3>
      <a:accent4>
        <a:srgbClr val="1CD783"/>
      </a:accent4>
      <a:accent5>
        <a:srgbClr val="F65164"/>
      </a:accent5>
      <a:accent6>
        <a:srgbClr val="83A6D3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">
  <a:themeElements>
    <a:clrScheme name="Datenpioniere_Set_Visualisierung">
      <a:dk1>
        <a:srgbClr val="000000"/>
      </a:dk1>
      <a:lt1>
        <a:sysClr val="window" lastClr="FFFFFF"/>
      </a:lt1>
      <a:dk2>
        <a:srgbClr val="000000"/>
      </a:dk2>
      <a:lt2>
        <a:srgbClr val="E8E8E8"/>
      </a:lt2>
      <a:accent1>
        <a:srgbClr val="37374F"/>
      </a:accent1>
      <a:accent2>
        <a:srgbClr val="717A90"/>
      </a:accent2>
      <a:accent3>
        <a:srgbClr val="1CD783"/>
      </a:accent3>
      <a:accent4>
        <a:srgbClr val="F65164"/>
      </a:accent4>
      <a:accent5>
        <a:srgbClr val="7699DE"/>
      </a:accent5>
      <a:accent6>
        <a:srgbClr val="7699DE"/>
      </a:accent6>
      <a:hlink>
        <a:srgbClr val="467886"/>
      </a:hlink>
      <a:folHlink>
        <a:srgbClr val="96607D"/>
      </a:folHlink>
    </a:clrScheme>
    <a:fontScheme name="Benutzerdefiniert 1">
      <a:majorFont>
        <a:latin typeface="Montserrat Medium"/>
        <a:ea typeface=""/>
        <a:cs typeface=""/>
      </a:majorFont>
      <a:minorFont>
        <a:latin typeface="Montserra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Office">
  <a:themeElements>
    <a:clrScheme name="Datenpioniere_Set_Visualisierung">
      <a:dk1>
        <a:srgbClr val="000000"/>
      </a:dk1>
      <a:lt1>
        <a:sysClr val="window" lastClr="FFFFFF"/>
      </a:lt1>
      <a:dk2>
        <a:srgbClr val="000000"/>
      </a:dk2>
      <a:lt2>
        <a:srgbClr val="E8E8E8"/>
      </a:lt2>
      <a:accent1>
        <a:srgbClr val="37374F"/>
      </a:accent1>
      <a:accent2>
        <a:srgbClr val="9193A1"/>
      </a:accent2>
      <a:accent3>
        <a:srgbClr val="1CD783"/>
      </a:accent3>
      <a:accent4>
        <a:srgbClr val="F65164"/>
      </a:accent4>
      <a:accent5>
        <a:srgbClr val="6078BF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1">
      <a:majorFont>
        <a:latin typeface="Montserrat Medium"/>
        <a:ea typeface=""/>
        <a:cs typeface=""/>
      </a:majorFont>
      <a:minorFont>
        <a:latin typeface="Montserra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3_Office">
  <a:themeElements>
    <a:clrScheme name="Datenpioniere_Set_Visualisierung">
      <a:dk1>
        <a:srgbClr val="000000"/>
      </a:dk1>
      <a:lt1>
        <a:sysClr val="window" lastClr="FFFFFF"/>
      </a:lt1>
      <a:dk2>
        <a:srgbClr val="000000"/>
      </a:dk2>
      <a:lt2>
        <a:srgbClr val="E8E8E8"/>
      </a:lt2>
      <a:accent1>
        <a:srgbClr val="37374F"/>
      </a:accent1>
      <a:accent2>
        <a:srgbClr val="9193A1"/>
      </a:accent2>
      <a:accent3>
        <a:srgbClr val="1CD783"/>
      </a:accent3>
      <a:accent4>
        <a:srgbClr val="F65164"/>
      </a:accent4>
      <a:accent5>
        <a:srgbClr val="6078BF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Datenpioniere_Set_Visualisierung">
    <a:dk1>
      <a:srgbClr val="000000"/>
    </a:dk1>
    <a:lt1>
      <a:sysClr val="window" lastClr="FFFFFF"/>
    </a:lt1>
    <a:dk2>
      <a:srgbClr val="000000"/>
    </a:dk2>
    <a:lt2>
      <a:srgbClr val="E8E8E8"/>
    </a:lt2>
    <a:accent1>
      <a:srgbClr val="37374F"/>
    </a:accent1>
    <a:accent2>
      <a:srgbClr val="9193A1"/>
    </a:accent2>
    <a:accent3>
      <a:srgbClr val="1CD783"/>
    </a:accent3>
    <a:accent4>
      <a:srgbClr val="F65164"/>
    </a:accent4>
    <a:accent5>
      <a:srgbClr val="6EC7D7"/>
    </a:accent5>
    <a:accent6>
      <a:srgbClr val="7699DE"/>
    </a:accent6>
    <a:hlink>
      <a:srgbClr val="467886"/>
    </a:hlink>
    <a:folHlink>
      <a:srgbClr val="96607D"/>
    </a:folHlink>
  </a:clrScheme>
  <a:fontScheme name="Benutzerdefiniert 1">
    <a:majorFont>
      <a:latin typeface="Montserrat Medium"/>
      <a:ea typeface=""/>
      <a:cs typeface=""/>
    </a:majorFont>
    <a:minorFont>
      <a:latin typeface="Montserrat Ligh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Datenpioniere_Set_Visualisierung">
    <a:dk1>
      <a:srgbClr val="000000"/>
    </a:dk1>
    <a:lt1>
      <a:sysClr val="window" lastClr="FFFFFF"/>
    </a:lt1>
    <a:dk2>
      <a:srgbClr val="000000"/>
    </a:dk2>
    <a:lt2>
      <a:srgbClr val="E8E8E8"/>
    </a:lt2>
    <a:accent1>
      <a:srgbClr val="37374F"/>
    </a:accent1>
    <a:accent2>
      <a:srgbClr val="9193A1"/>
    </a:accent2>
    <a:accent3>
      <a:srgbClr val="1CD783"/>
    </a:accent3>
    <a:accent4>
      <a:srgbClr val="F65164"/>
    </a:accent4>
    <a:accent5>
      <a:srgbClr val="6EC7D7"/>
    </a:accent5>
    <a:accent6>
      <a:srgbClr val="7699DE"/>
    </a:accent6>
    <a:hlink>
      <a:srgbClr val="467886"/>
    </a:hlink>
    <a:folHlink>
      <a:srgbClr val="96607D"/>
    </a:folHlink>
  </a:clrScheme>
  <a:fontScheme name="Benutzerdefiniert 1">
    <a:majorFont>
      <a:latin typeface="Montserrat Medium"/>
      <a:ea typeface=""/>
      <a:cs typeface=""/>
    </a:majorFont>
    <a:minorFont>
      <a:latin typeface="Montserrat Ligh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Datenpioniere_Set_Visualisierung">
    <a:dk1>
      <a:srgbClr val="000000"/>
    </a:dk1>
    <a:lt1>
      <a:sysClr val="window" lastClr="FFFFFF"/>
    </a:lt1>
    <a:dk2>
      <a:srgbClr val="000000"/>
    </a:dk2>
    <a:lt2>
      <a:srgbClr val="E8E8E8"/>
    </a:lt2>
    <a:accent1>
      <a:srgbClr val="37374F"/>
    </a:accent1>
    <a:accent2>
      <a:srgbClr val="9193A1"/>
    </a:accent2>
    <a:accent3>
      <a:srgbClr val="1CD783"/>
    </a:accent3>
    <a:accent4>
      <a:srgbClr val="F65164"/>
    </a:accent4>
    <a:accent5>
      <a:srgbClr val="6EC7D7"/>
    </a:accent5>
    <a:accent6>
      <a:srgbClr val="7699DE"/>
    </a:accent6>
    <a:hlink>
      <a:srgbClr val="467886"/>
    </a:hlink>
    <a:folHlink>
      <a:srgbClr val="96607D"/>
    </a:folHlink>
  </a:clrScheme>
  <a:fontScheme name="Benutzerdefiniert 1">
    <a:majorFont>
      <a:latin typeface="Montserrat Medium"/>
      <a:ea typeface=""/>
      <a:cs typeface=""/>
    </a:majorFont>
    <a:minorFont>
      <a:latin typeface="Montserrat Ligh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Datenpioniere_Set_Visualisierung">
    <a:dk1>
      <a:srgbClr val="000000"/>
    </a:dk1>
    <a:lt1>
      <a:sysClr val="window" lastClr="FFFFFF"/>
    </a:lt1>
    <a:dk2>
      <a:srgbClr val="000000"/>
    </a:dk2>
    <a:lt2>
      <a:srgbClr val="E8E8E8"/>
    </a:lt2>
    <a:accent1>
      <a:srgbClr val="37374F"/>
    </a:accent1>
    <a:accent2>
      <a:srgbClr val="9193A1"/>
    </a:accent2>
    <a:accent3>
      <a:srgbClr val="1CD783"/>
    </a:accent3>
    <a:accent4>
      <a:srgbClr val="F65164"/>
    </a:accent4>
    <a:accent5>
      <a:srgbClr val="6EC7D7"/>
    </a:accent5>
    <a:accent6>
      <a:srgbClr val="7699DE"/>
    </a:accent6>
    <a:hlink>
      <a:srgbClr val="467886"/>
    </a:hlink>
    <a:folHlink>
      <a:srgbClr val="96607D"/>
    </a:folHlink>
  </a:clrScheme>
  <a:fontScheme name="Benutzerdefiniert 1">
    <a:majorFont>
      <a:latin typeface="Montserrat Medium"/>
      <a:ea typeface=""/>
      <a:cs typeface=""/>
    </a:majorFont>
    <a:minorFont>
      <a:latin typeface="Montserrat Ligh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Datenpioniere_Set_Visualisierung">
    <a:dk1>
      <a:srgbClr val="000000"/>
    </a:dk1>
    <a:lt1>
      <a:sysClr val="window" lastClr="FFFFFF"/>
    </a:lt1>
    <a:dk2>
      <a:srgbClr val="000000"/>
    </a:dk2>
    <a:lt2>
      <a:srgbClr val="E8E8E8"/>
    </a:lt2>
    <a:accent1>
      <a:srgbClr val="37374F"/>
    </a:accent1>
    <a:accent2>
      <a:srgbClr val="9193A1"/>
    </a:accent2>
    <a:accent3>
      <a:srgbClr val="1CD783"/>
    </a:accent3>
    <a:accent4>
      <a:srgbClr val="F65164"/>
    </a:accent4>
    <a:accent5>
      <a:srgbClr val="6EC7D7"/>
    </a:accent5>
    <a:accent6>
      <a:srgbClr val="7699DE"/>
    </a:accent6>
    <a:hlink>
      <a:srgbClr val="467886"/>
    </a:hlink>
    <a:folHlink>
      <a:srgbClr val="96607D"/>
    </a:folHlink>
  </a:clrScheme>
  <a:fontScheme name="Benutzerdefiniert 1">
    <a:majorFont>
      <a:latin typeface="Montserrat Medium"/>
      <a:ea typeface=""/>
      <a:cs typeface=""/>
    </a:majorFont>
    <a:minorFont>
      <a:latin typeface="Montserrat Ligh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Datenpioniere_Set_Visualisierung">
    <a:dk1>
      <a:srgbClr val="000000"/>
    </a:dk1>
    <a:lt1>
      <a:sysClr val="window" lastClr="FFFFFF"/>
    </a:lt1>
    <a:dk2>
      <a:srgbClr val="000000"/>
    </a:dk2>
    <a:lt2>
      <a:srgbClr val="E8E8E8"/>
    </a:lt2>
    <a:accent1>
      <a:srgbClr val="37374F"/>
    </a:accent1>
    <a:accent2>
      <a:srgbClr val="9193A1"/>
    </a:accent2>
    <a:accent3>
      <a:srgbClr val="1CD783"/>
    </a:accent3>
    <a:accent4>
      <a:srgbClr val="F65164"/>
    </a:accent4>
    <a:accent5>
      <a:srgbClr val="6078BF"/>
    </a:accent5>
    <a:accent6>
      <a:srgbClr val="4EA72E"/>
    </a:accent6>
    <a:hlink>
      <a:srgbClr val="467886"/>
    </a:hlink>
    <a:folHlink>
      <a:srgbClr val="96607D"/>
    </a:folHlink>
  </a:clrScheme>
  <a:fontScheme name="Benutzerdefiniert 1">
    <a:majorFont>
      <a:latin typeface="Montserrat Medium"/>
      <a:ea typeface=""/>
      <a:cs typeface=""/>
    </a:majorFont>
    <a:minorFont>
      <a:latin typeface="Montserrat Ligh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Datenpioniere_Set_Visualisierung">
    <a:dk1>
      <a:srgbClr val="000000"/>
    </a:dk1>
    <a:lt1>
      <a:sysClr val="window" lastClr="FFFFFF"/>
    </a:lt1>
    <a:dk2>
      <a:srgbClr val="000000"/>
    </a:dk2>
    <a:lt2>
      <a:srgbClr val="E8E8E8"/>
    </a:lt2>
    <a:accent1>
      <a:srgbClr val="37374F"/>
    </a:accent1>
    <a:accent2>
      <a:srgbClr val="9193A1"/>
    </a:accent2>
    <a:accent3>
      <a:srgbClr val="1CD783"/>
    </a:accent3>
    <a:accent4>
      <a:srgbClr val="F65164"/>
    </a:accent4>
    <a:accent5>
      <a:srgbClr val="6078BF"/>
    </a:accent5>
    <a:accent6>
      <a:srgbClr val="4EA72E"/>
    </a:accent6>
    <a:hlink>
      <a:srgbClr val="467886"/>
    </a:hlink>
    <a:folHlink>
      <a:srgbClr val="96607D"/>
    </a:folHlink>
  </a:clrScheme>
  <a:fontScheme name="Benutzerdefiniert 1">
    <a:majorFont>
      <a:latin typeface="Montserrat Medium"/>
      <a:ea typeface=""/>
      <a:cs typeface=""/>
    </a:majorFont>
    <a:minorFont>
      <a:latin typeface="Montserrat Ligh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Datenpioniere_Set_Visualisierung">
    <a:dk1>
      <a:srgbClr val="000000"/>
    </a:dk1>
    <a:lt1>
      <a:sysClr val="window" lastClr="FFFFFF"/>
    </a:lt1>
    <a:dk2>
      <a:srgbClr val="000000"/>
    </a:dk2>
    <a:lt2>
      <a:srgbClr val="E8E8E8"/>
    </a:lt2>
    <a:accent1>
      <a:srgbClr val="37374F"/>
    </a:accent1>
    <a:accent2>
      <a:srgbClr val="9193A1"/>
    </a:accent2>
    <a:accent3>
      <a:srgbClr val="1CD783"/>
    </a:accent3>
    <a:accent4>
      <a:srgbClr val="F65164"/>
    </a:accent4>
    <a:accent5>
      <a:srgbClr val="6078BF"/>
    </a:accent5>
    <a:accent6>
      <a:srgbClr val="4EA72E"/>
    </a:accent6>
    <a:hlink>
      <a:srgbClr val="467886"/>
    </a:hlink>
    <a:folHlink>
      <a:srgbClr val="96607D"/>
    </a:folHlink>
  </a:clrScheme>
  <a:fontScheme name="Benutzerdefiniert 1">
    <a:majorFont>
      <a:latin typeface="Montserrat Medium"/>
      <a:ea typeface=""/>
      <a:cs typeface=""/>
    </a:majorFont>
    <a:minorFont>
      <a:latin typeface="Montserrat Ligh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e4dbc81-6c26-4c17-9130-5df36cbba13b" xsi:nil="true"/>
    <lcf76f155ced4ddcb4097134ff3c332f xmlns="fddf27b9-20e8-488c-89b4-13e8eeb1f20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3338F8B083DAE449A42527D6842EEF0" ma:contentTypeVersion="11" ma:contentTypeDescription="Ein neues Dokument erstellen." ma:contentTypeScope="" ma:versionID="07ecb9db306a0d66cf0ca9595d7e87a0">
  <xsd:schema xmlns:xsd="http://www.w3.org/2001/XMLSchema" xmlns:xs="http://www.w3.org/2001/XMLSchema" xmlns:p="http://schemas.microsoft.com/office/2006/metadata/properties" xmlns:ns2="fddf27b9-20e8-488c-89b4-13e8eeb1f200" xmlns:ns3="6e4dbc81-6c26-4c17-9130-5df36cbba13b" targetNamespace="http://schemas.microsoft.com/office/2006/metadata/properties" ma:root="true" ma:fieldsID="4465f9b689b69bc64b603972f7f49a67" ns2:_="" ns3:_="">
    <xsd:import namespace="fddf27b9-20e8-488c-89b4-13e8eeb1f200"/>
    <xsd:import namespace="6e4dbc81-6c26-4c17-9130-5df36cbba1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df27b9-20e8-488c-89b4-13e8eeb1f2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ildmarkierungen" ma:readOnly="false" ma:fieldId="{5cf76f15-5ced-4ddc-b409-7134ff3c332f}" ma:taxonomyMulti="true" ma:sspId="ea46000f-d22c-4cfc-975b-6e82f0eefd8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4dbc81-6c26-4c17-9130-5df36cbba13b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e675d090-98a3-4620-a910-367a01a30fe7}" ma:internalName="TaxCatchAll" ma:showField="CatchAllData" ma:web="6e4dbc81-6c26-4c17-9130-5df36cbba13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89550F9-60F3-48B1-894C-864142064CE0}">
  <ds:schemaRefs>
    <ds:schemaRef ds:uri="http://purl.org/dc/elements/1.1/"/>
    <ds:schemaRef ds:uri="fddf27b9-20e8-488c-89b4-13e8eeb1f200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6e4dbc81-6c26-4c17-9130-5df36cbba13b"/>
  </ds:schemaRefs>
</ds:datastoreItem>
</file>

<file path=customXml/itemProps2.xml><?xml version="1.0" encoding="utf-8"?>
<ds:datastoreItem xmlns:ds="http://schemas.openxmlformats.org/officeDocument/2006/customXml" ds:itemID="{0D6A4272-1AB7-436C-B2A1-4757C39942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df27b9-20e8-488c-89b4-13e8eeb1f200"/>
    <ds:schemaRef ds:uri="6e4dbc81-6c26-4c17-9130-5df36cbba1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A6FACF-0B0F-4985-9B65-2119AF820C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637</Words>
  <Application>Microsoft Office PowerPoint</Application>
  <PresentationFormat>Breitbild</PresentationFormat>
  <Paragraphs>156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4</vt:i4>
      </vt:variant>
      <vt:variant>
        <vt:lpstr>Folientitel</vt:lpstr>
      </vt:variant>
      <vt:variant>
        <vt:i4>12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Courier New</vt:lpstr>
      <vt:lpstr>Montserrat Light</vt:lpstr>
      <vt:lpstr>Montserrat Medium</vt:lpstr>
      <vt:lpstr>Segoe UI Historic</vt:lpstr>
      <vt:lpstr>Wingdings</vt:lpstr>
      <vt:lpstr>Office</vt:lpstr>
      <vt:lpstr>1_Office</vt:lpstr>
      <vt:lpstr>2_Office</vt:lpstr>
      <vt:lpstr>3_Office</vt:lpstr>
      <vt:lpstr>Dashboard – Prototyping</vt:lpstr>
      <vt:lpstr>Dashboard Fragebogen – QS (Vieles in Excel abgebildet)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One Pager Standard Diagramme</vt:lpstr>
      <vt:lpstr>Farben und Schrift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DataViz – Prototyping</dc:title>
  <dc:creator>Oliver Ulbrich | DatenPioniere</dc:creator>
  <cp:lastModifiedBy>Jasmin Kersten</cp:lastModifiedBy>
  <cp:revision>2</cp:revision>
  <dcterms:created xsi:type="dcterms:W3CDTF">2023-12-21T11:37:09Z</dcterms:created>
  <dcterms:modified xsi:type="dcterms:W3CDTF">2026-02-12T13:16:28Z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2023-12-21T14:16:30Z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0e74d983-f608-4e9e-98d7-7b3bea2d0d15</vt:lpwstr>
  </property>
  <property fmtid="{D5CDD505-2E9C-101B-9397-08002B2CF9AE}" pid="7" name="MSIP_Label_defa4170-0d19-0005-0004-bc88714345d2_ActionId">
    <vt:lpwstr>321d4a7f-92c1-450e-9ed6-e9a24f694df6</vt:lpwstr>
  </property>
  <property fmtid="{D5CDD505-2E9C-101B-9397-08002B2CF9AE}" pid="8" name="MSIP_Label_defa4170-0d19-0005-0004-bc88714345d2_ContentBits">
    <vt:lpwstr>0</vt:lpwstr>
  </property>
  <property fmtid="{D5CDD505-2E9C-101B-9397-08002B2CF9AE}" pid="9" name="ContentTypeId">
    <vt:lpwstr>0x01010053338F8B083DAE449A42527D6842EEF0</vt:lpwstr>
  </property>
  <property fmtid="{D5CDD505-2E9C-101B-9397-08002B2CF9AE}" pid="10" name="MediaServiceImageTags">
    <vt:lpwstr/>
  </property>
</Properties>
</file>